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82" r:id="rId5"/>
    <p:sldId id="259" r:id="rId6"/>
    <p:sldId id="283" r:id="rId7"/>
    <p:sldId id="260" r:id="rId8"/>
    <p:sldId id="266" r:id="rId9"/>
    <p:sldId id="276" r:id="rId10"/>
    <p:sldId id="284" r:id="rId11"/>
    <p:sldId id="298" r:id="rId12"/>
    <p:sldId id="285" r:id="rId13"/>
    <p:sldId id="287" r:id="rId14"/>
    <p:sldId id="275" r:id="rId15"/>
    <p:sldId id="288" r:id="rId16"/>
    <p:sldId id="289" r:id="rId17"/>
    <p:sldId id="269" r:id="rId18"/>
    <p:sldId id="262" r:id="rId19"/>
    <p:sldId id="291" r:id="rId20"/>
    <p:sldId id="290" r:id="rId21"/>
    <p:sldId id="294" r:id="rId22"/>
    <p:sldId id="292" r:id="rId23"/>
    <p:sldId id="280" r:id="rId24"/>
    <p:sldId id="295" r:id="rId25"/>
    <p:sldId id="281" r:id="rId26"/>
    <p:sldId id="296" r:id="rId27"/>
    <p:sldId id="297" r:id="rId28"/>
    <p:sldId id="299" r:id="rId29"/>
    <p:sldId id="300" r:id="rId30"/>
  </p:sldIdLst>
  <p:sldSz cx="18288000" cy="10287000"/>
  <p:notesSz cx="6858000" cy="9144000"/>
  <p:embeddedFontLst>
    <p:embeddedFont>
      <p:font typeface="TT Interphases"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3902" autoAdjust="0"/>
  </p:normalViewPr>
  <p:slideViewPr>
    <p:cSldViewPr>
      <p:cViewPr>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614CFD-DB3F-46FE-8E83-FF80D3EC9797}" type="datetimeFigureOut">
              <a:rPr lang="en-IN" smtClean="0"/>
              <a:t>07-10-2025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167AAD-62D0-478A-B58D-CC6655D0C6C5}" type="slidenum">
              <a:rPr lang="en-IN" smtClean="0"/>
              <a:t>‹#›</a:t>
            </a:fld>
            <a:endParaRPr lang="en-IN"/>
          </a:p>
        </p:txBody>
      </p:sp>
    </p:spTree>
    <p:extLst>
      <p:ext uri="{BB962C8B-B14F-4D97-AF65-F5344CB8AC3E}">
        <p14:creationId xmlns:p14="http://schemas.microsoft.com/office/powerpoint/2010/main" val="911891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167AAD-62D0-478A-B58D-CC6655D0C6C5}" type="slidenum">
              <a:rPr lang="en-IN" smtClean="0"/>
              <a:t>14</a:t>
            </a:fld>
            <a:endParaRPr lang="en-IN"/>
          </a:p>
        </p:txBody>
      </p:sp>
    </p:spTree>
    <p:extLst>
      <p:ext uri="{BB962C8B-B14F-4D97-AF65-F5344CB8AC3E}">
        <p14:creationId xmlns:p14="http://schemas.microsoft.com/office/powerpoint/2010/main" val="3320342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2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49.sv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51.sv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57.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57.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57.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1.sv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88068" y="1028700"/>
            <a:ext cx="7571232" cy="8229600"/>
          </a:xfrm>
          <a:custGeom>
            <a:avLst/>
            <a:gdLst/>
            <a:ahLst/>
            <a:cxnLst/>
            <a:rect l="l" t="t" r="r" b="b"/>
            <a:pathLst>
              <a:path w="7571232" h="8229600">
                <a:moveTo>
                  <a:pt x="0" y="0"/>
                </a:moveTo>
                <a:lnTo>
                  <a:pt x="7571232" y="0"/>
                </a:lnTo>
                <a:lnTo>
                  <a:pt x="7571232"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85800" y="2705100"/>
            <a:ext cx="8458200" cy="2647520"/>
          </a:xfrm>
          <a:prstGeom prst="rect">
            <a:avLst/>
          </a:prstGeom>
        </p:spPr>
        <p:txBody>
          <a:bodyPr wrap="square" lIns="0" tIns="0" rIns="0" bIns="0" rtlCol="0" anchor="t">
            <a:spAutoFit/>
          </a:bodyPr>
          <a:lstStyle/>
          <a:p>
            <a:pPr algn="l">
              <a:lnSpc>
                <a:spcPts val="10730"/>
              </a:lnSpc>
            </a:pPr>
            <a:r>
              <a:rPr lang="en-US" sz="8000" spc="-604" dirty="0">
                <a:solidFill>
                  <a:srgbClr val="000000"/>
                </a:solidFill>
                <a:latin typeface="TT Interphases"/>
                <a:ea typeface="TT Interphases"/>
                <a:cs typeface="TT Interphases"/>
                <a:sym typeface="TT Interphases"/>
              </a:rPr>
              <a:t>Customer Satisfaction Prediction</a:t>
            </a:r>
          </a:p>
        </p:txBody>
      </p:sp>
      <p:sp>
        <p:nvSpPr>
          <p:cNvPr id="5" name="Freeform 5"/>
          <p:cNvSpPr/>
          <p:nvPr/>
        </p:nvSpPr>
        <p:spPr>
          <a:xfrm>
            <a:off x="8599933" y="2247900"/>
            <a:ext cx="1543050" cy="1543050"/>
          </a:xfrm>
          <a:custGeom>
            <a:avLst/>
            <a:gdLst/>
            <a:ahLst/>
            <a:cxnLst/>
            <a:rect l="l" t="t" r="r" b="b"/>
            <a:pathLst>
              <a:path w="1543050" h="1543050">
                <a:moveTo>
                  <a:pt x="0" y="0"/>
                </a:moveTo>
                <a:lnTo>
                  <a:pt x="1543050" y="0"/>
                </a:lnTo>
                <a:lnTo>
                  <a:pt x="1543050" y="1543050"/>
                </a:lnTo>
                <a:lnTo>
                  <a:pt x="0" y="15430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8" name="TextBox 8"/>
          <p:cNvSpPr txBox="1"/>
          <p:nvPr/>
        </p:nvSpPr>
        <p:spPr>
          <a:xfrm>
            <a:off x="15642929" y="9063228"/>
            <a:ext cx="1616371" cy="195072"/>
          </a:xfrm>
          <a:prstGeom prst="rect">
            <a:avLst/>
          </a:prstGeom>
        </p:spPr>
        <p:txBody>
          <a:bodyPr lIns="0" tIns="0" rIns="0" bIns="0" rtlCol="0" anchor="t">
            <a:spAutoFit/>
          </a:bodyPr>
          <a:lstStyle/>
          <a:p>
            <a:pPr algn="r">
              <a:lnSpc>
                <a:spcPts val="1479"/>
              </a:lnSpc>
            </a:pPr>
            <a:r>
              <a:rPr lang="en-US" sz="1700" spc="-83" dirty="0">
                <a:solidFill>
                  <a:srgbClr val="000000"/>
                </a:solidFill>
                <a:latin typeface="TT Interphases"/>
                <a:ea typeface="TT Interphases"/>
                <a:cs typeface="TT Interphases"/>
                <a:sym typeface="TT Interphases"/>
              </a:rPr>
              <a:t>06 oct,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763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3162300"/>
            <a:ext cx="5219700" cy="6096000"/>
          </a:xfrm>
          <a:custGeom>
            <a:avLst/>
            <a:gdLst/>
            <a:ahLst/>
            <a:cxnLst/>
            <a:rect l="l" t="t" r="r" b="b"/>
            <a:pathLst>
              <a:path w="7548480" h="7013224">
                <a:moveTo>
                  <a:pt x="0" y="0"/>
                </a:moveTo>
                <a:lnTo>
                  <a:pt x="7548480" y="0"/>
                </a:lnTo>
                <a:lnTo>
                  <a:pt x="7548480" y="7013224"/>
                </a:lnTo>
                <a:lnTo>
                  <a:pt x="0" y="70132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6035449" y="1028700"/>
            <a:ext cx="1223851" cy="847795"/>
          </a:xfrm>
          <a:custGeom>
            <a:avLst/>
            <a:gdLst/>
            <a:ahLst/>
            <a:cxnLst/>
            <a:rect l="l" t="t" r="r" b="b"/>
            <a:pathLst>
              <a:path w="1223851" h="847795">
                <a:moveTo>
                  <a:pt x="1223851" y="0"/>
                </a:moveTo>
                <a:lnTo>
                  <a:pt x="0" y="0"/>
                </a:lnTo>
                <a:lnTo>
                  <a:pt x="0" y="847795"/>
                </a:lnTo>
                <a:lnTo>
                  <a:pt x="1223851" y="847795"/>
                </a:lnTo>
                <a:lnTo>
                  <a:pt x="1223851"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952500" y="1485900"/>
            <a:ext cx="10172700" cy="1032719"/>
          </a:xfrm>
          <a:prstGeom prst="rect">
            <a:avLst/>
          </a:prstGeom>
        </p:spPr>
        <p:txBody>
          <a:bodyPr wrap="square" lIns="0" tIns="0" rIns="0" bIns="0" rtlCol="0" anchor="t">
            <a:spAutoFit/>
          </a:bodyPr>
          <a:lstStyle/>
          <a:p>
            <a:pPr>
              <a:lnSpc>
                <a:spcPts val="7656"/>
              </a:lnSpc>
            </a:pPr>
            <a:r>
              <a:rPr lang="en-IN" sz="8800" dirty="0"/>
              <a:t>1.Problem Statement</a:t>
            </a:r>
            <a:endParaRPr lang="en-US" sz="8800" spc="-431" dirty="0">
              <a:solidFill>
                <a:srgbClr val="000000"/>
              </a:solidFill>
              <a:latin typeface="TT Interphases"/>
              <a:ea typeface="TT Interphases"/>
              <a:cs typeface="TT Interphases"/>
              <a:sym typeface="TT Interphases"/>
            </a:endParaRPr>
          </a:p>
        </p:txBody>
      </p:sp>
      <p:sp>
        <p:nvSpPr>
          <p:cNvPr id="7" name="TextBox 7"/>
          <p:cNvSpPr txBox="1"/>
          <p:nvPr/>
        </p:nvSpPr>
        <p:spPr>
          <a:xfrm>
            <a:off x="6705600" y="2866570"/>
            <a:ext cx="11277600" cy="7211205"/>
          </a:xfrm>
          <a:prstGeom prst="rect">
            <a:avLst/>
          </a:prstGeom>
        </p:spPr>
        <p:txBody>
          <a:bodyPr wrap="square" lIns="0" tIns="0" rIns="0" bIns="0" rtlCol="0" anchor="t">
            <a:spAutoFit/>
          </a:bodyPr>
          <a:lstStyle/>
          <a:p>
            <a:pPr>
              <a:buNone/>
            </a:pPr>
            <a:r>
              <a:rPr lang="en-US" sz="2800" dirty="0"/>
              <a:t>Customer satisfaction is a key factor that determines the success and growth of any business. With the rise of digital platforms and online services, companies receive large volumes of customer feedback and support tickets every day. Understanding customer behavior and predicting satisfaction levels has become essential for improving service quality, retaining customers, and enhancing brand reputation.</a:t>
            </a:r>
          </a:p>
          <a:p>
            <a:pPr>
              <a:buNone/>
            </a:pPr>
            <a:r>
              <a:rPr lang="en-US" sz="2800" dirty="0"/>
              <a:t>The goal of this project is to analyze customer support data, identify the main factors that influence customer satisfaction, and develop predictive models that can accurately estimate satisfaction levels.</a:t>
            </a:r>
          </a:p>
          <a:p>
            <a:pPr>
              <a:buNone/>
            </a:pPr>
            <a:endParaRPr lang="en-US" sz="2800" dirty="0"/>
          </a:p>
          <a:p>
            <a:pPr>
              <a:buNone/>
            </a:pPr>
            <a:r>
              <a:rPr lang="en-US" sz="2800" dirty="0"/>
              <a:t>Using data analysis and machine learning, the project aims to answer:</a:t>
            </a:r>
          </a:p>
          <a:p>
            <a:pPr>
              <a:buFont typeface="Arial" panose="020B0604020202020204" pitchFamily="34" charset="0"/>
              <a:buChar char="•"/>
            </a:pPr>
            <a:r>
              <a:rPr lang="en-US" sz="2800" dirty="0"/>
              <a:t>What factors in customer support interactions most influence satisfaction ratings?</a:t>
            </a:r>
          </a:p>
          <a:p>
            <a:pPr>
              <a:buFont typeface="Arial" panose="020B0604020202020204" pitchFamily="34" charset="0"/>
              <a:buChar char="•"/>
            </a:pPr>
            <a:r>
              <a:rPr lang="en-US" sz="2800" dirty="0"/>
              <a:t>How can predictive models help identify dissatisfied customers early?</a:t>
            </a:r>
          </a:p>
          <a:p>
            <a:pPr>
              <a:buFont typeface="Arial" panose="020B0604020202020204" pitchFamily="34" charset="0"/>
              <a:buChar char="•"/>
            </a:pPr>
            <a:r>
              <a:rPr lang="en-US" sz="2800" dirty="0"/>
              <a:t>How can these insights guide businesses to improve service performance and enhance customer experience?</a:t>
            </a:r>
          </a:p>
          <a:p>
            <a:pPr algn="l">
              <a:lnSpc>
                <a:spcPts val="2380"/>
              </a:lnSpc>
            </a:pPr>
            <a:endParaRPr lang="en-US" sz="2800" spc="-83" dirty="0">
              <a:solidFill>
                <a:srgbClr val="000000"/>
              </a:solidFill>
              <a:latin typeface="TT Interphases"/>
              <a:ea typeface="TT Interphases"/>
              <a:cs typeface="TT Interphases"/>
              <a:sym typeface="TT Interphase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01600" y="3390900"/>
            <a:ext cx="5181600" cy="5867400"/>
          </a:xfrm>
          <a:custGeom>
            <a:avLst/>
            <a:gdLst/>
            <a:ahLst/>
            <a:cxnLst/>
            <a:rect l="l" t="t" r="r" b="b"/>
            <a:pathLst>
              <a:path w="6629326" h="6111033">
                <a:moveTo>
                  <a:pt x="0" y="0"/>
                </a:moveTo>
                <a:lnTo>
                  <a:pt x="6629326" y="0"/>
                </a:lnTo>
                <a:lnTo>
                  <a:pt x="6629326" y="6111033"/>
                </a:lnTo>
                <a:lnTo>
                  <a:pt x="0" y="61110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3024536" y="-184836"/>
            <a:ext cx="969594" cy="3396666"/>
          </a:xfrm>
          <a:custGeom>
            <a:avLst/>
            <a:gdLst/>
            <a:ahLst/>
            <a:cxnLst/>
            <a:rect l="l" t="t" r="r" b="b"/>
            <a:pathLst>
              <a:path w="969594" h="3396666">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5" name="TextBox 5"/>
          <p:cNvSpPr txBox="1"/>
          <p:nvPr/>
        </p:nvSpPr>
        <p:spPr>
          <a:xfrm>
            <a:off x="762000" y="1790700"/>
            <a:ext cx="10325100" cy="1032719"/>
          </a:xfrm>
          <a:prstGeom prst="rect">
            <a:avLst/>
          </a:prstGeom>
        </p:spPr>
        <p:txBody>
          <a:bodyPr wrap="square" lIns="0" tIns="0" rIns="0" bIns="0" rtlCol="0" anchor="t">
            <a:spAutoFit/>
          </a:bodyPr>
          <a:lstStyle/>
          <a:p>
            <a:pPr>
              <a:lnSpc>
                <a:spcPts val="7656"/>
              </a:lnSpc>
            </a:pPr>
            <a:r>
              <a:rPr lang="en-IN" sz="8800" dirty="0"/>
              <a:t>2. Dataset Description</a:t>
            </a:r>
            <a:endParaRPr lang="en-US" sz="8800" spc="-431" dirty="0">
              <a:solidFill>
                <a:srgbClr val="000000"/>
              </a:solidFill>
              <a:latin typeface="TT Interphases"/>
              <a:ea typeface="TT Interphases"/>
              <a:cs typeface="TT Interphases"/>
              <a:sym typeface="TT Interphases"/>
            </a:endParaRPr>
          </a:p>
        </p:txBody>
      </p:sp>
      <p:sp>
        <p:nvSpPr>
          <p:cNvPr id="9" name="TextBox 7">
            <a:extLst>
              <a:ext uri="{FF2B5EF4-FFF2-40B4-BE49-F238E27FC236}">
                <a16:creationId xmlns:a16="http://schemas.microsoft.com/office/drawing/2014/main" id="{26CE0B35-B41B-1ADF-7872-25082AB5D3E7}"/>
              </a:ext>
            </a:extLst>
          </p:cNvPr>
          <p:cNvSpPr txBox="1"/>
          <p:nvPr/>
        </p:nvSpPr>
        <p:spPr>
          <a:xfrm>
            <a:off x="762000" y="3009900"/>
            <a:ext cx="12039600" cy="6955750"/>
          </a:xfrm>
          <a:prstGeom prst="rect">
            <a:avLst/>
          </a:prstGeom>
        </p:spPr>
        <p:txBody>
          <a:bodyPr wrap="square" lIns="0" tIns="0" rIns="0" bIns="0" rtlCol="0" anchor="t">
            <a:spAutoFit/>
          </a:bodyPr>
          <a:lstStyle/>
          <a:p>
            <a:pPr algn="l">
              <a:lnSpc>
                <a:spcPts val="2380"/>
              </a:lnSpc>
            </a:pPr>
            <a:r>
              <a:rPr lang="en-US" sz="2400" dirty="0"/>
              <a:t>The dataset used for this project contains </a:t>
            </a:r>
            <a:r>
              <a:rPr lang="en-US" sz="2400" b="1" dirty="0"/>
              <a:t>8,469 records</a:t>
            </a:r>
            <a:r>
              <a:rPr lang="en-US" sz="2400" dirty="0"/>
              <a:t> and </a:t>
            </a:r>
            <a:r>
              <a:rPr lang="en-US" sz="2400" b="1" dirty="0"/>
              <a:t>17 attributes</a:t>
            </a:r>
            <a:r>
              <a:rPr lang="en-US" sz="2400" dirty="0"/>
              <a:t> related to customer support tickets. It includes information about customer demographics, product details, ticket type, priority, communication channel, response times, and satisfaction ratings (on a scale of 1 to 5). This data is used to analyze factors influencing customer satisfaction and to build predictive models.</a:t>
            </a:r>
          </a:p>
          <a:p>
            <a:pPr algn="l">
              <a:lnSpc>
                <a:spcPts val="2380"/>
              </a:lnSpc>
            </a:pPr>
            <a:endParaRPr lang="en-US" sz="2400" dirty="0"/>
          </a:p>
          <a:p>
            <a:pPr>
              <a:buNone/>
            </a:pPr>
            <a:r>
              <a:rPr lang="en-US" sz="2400" dirty="0"/>
              <a:t>Key features include:</a:t>
            </a:r>
          </a:p>
          <a:p>
            <a:pPr>
              <a:buFont typeface="Arial" panose="020B0604020202020204" pitchFamily="34" charset="0"/>
              <a:buChar char="•"/>
            </a:pPr>
            <a:r>
              <a:rPr lang="en-US" sz="2400" b="1" dirty="0"/>
              <a:t>Ticket ID</a:t>
            </a:r>
            <a:r>
              <a:rPr lang="en-US" sz="2400" dirty="0"/>
              <a:t> – Unique identifier for each ticket.</a:t>
            </a:r>
          </a:p>
          <a:p>
            <a:pPr>
              <a:buFont typeface="Arial" panose="020B0604020202020204" pitchFamily="34" charset="0"/>
              <a:buChar char="•"/>
            </a:pPr>
            <a:r>
              <a:rPr lang="en-US" sz="2400" b="1" dirty="0"/>
              <a:t>Customer Name &amp; Email</a:t>
            </a:r>
            <a:r>
              <a:rPr lang="en-US" sz="2400" dirty="0"/>
              <a:t> – Basic customer information (email domains anonymized for privacy).</a:t>
            </a:r>
          </a:p>
          <a:p>
            <a:pPr>
              <a:buFont typeface="Arial" panose="020B0604020202020204" pitchFamily="34" charset="0"/>
              <a:buChar char="•"/>
            </a:pPr>
            <a:r>
              <a:rPr lang="en-US" sz="2400" b="1" dirty="0"/>
              <a:t>Customer Age &amp; Gender</a:t>
            </a:r>
            <a:r>
              <a:rPr lang="en-US" sz="2400" dirty="0"/>
              <a:t> – Demographic information of the customer.</a:t>
            </a:r>
          </a:p>
          <a:p>
            <a:pPr>
              <a:buFont typeface="Arial" panose="020B0604020202020204" pitchFamily="34" charset="0"/>
              <a:buChar char="•"/>
            </a:pPr>
            <a:r>
              <a:rPr lang="en-US" sz="2400" b="1" dirty="0"/>
              <a:t>Product Purchased &amp; Date of Purchase</a:t>
            </a:r>
            <a:r>
              <a:rPr lang="en-US" sz="2400" dirty="0"/>
              <a:t> – Details of the product and purchase date.</a:t>
            </a:r>
          </a:p>
          <a:p>
            <a:pPr>
              <a:buFont typeface="Arial" panose="020B0604020202020204" pitchFamily="34" charset="0"/>
              <a:buChar char="•"/>
            </a:pPr>
            <a:r>
              <a:rPr lang="en-US" sz="2400" b="1" dirty="0"/>
              <a:t>Ticket Type, Subject, and Description</a:t>
            </a:r>
            <a:r>
              <a:rPr lang="en-US" sz="2400" dirty="0"/>
              <a:t> – Type and content of the customer’s issue or inquiry.</a:t>
            </a:r>
          </a:p>
          <a:p>
            <a:pPr>
              <a:buFont typeface="Arial" panose="020B0604020202020204" pitchFamily="34" charset="0"/>
              <a:buChar char="•"/>
            </a:pPr>
            <a:r>
              <a:rPr lang="en-US" sz="2400" b="1" dirty="0"/>
              <a:t>Ticket Status &amp; Resolution</a:t>
            </a:r>
            <a:r>
              <a:rPr lang="en-US" sz="2400" dirty="0"/>
              <a:t> – Current status and the solution provided for closed tickets.</a:t>
            </a:r>
          </a:p>
          <a:p>
            <a:pPr>
              <a:buFont typeface="Arial" panose="020B0604020202020204" pitchFamily="34" charset="0"/>
              <a:buChar char="•"/>
            </a:pPr>
            <a:r>
              <a:rPr lang="en-US" sz="2400" b="1" dirty="0"/>
              <a:t>Ticket Priority &amp; Channel</a:t>
            </a:r>
            <a:r>
              <a:rPr lang="en-US" sz="2400" dirty="0"/>
              <a:t> – Indicates urgency level and platform used (e.g., email, chat, phone, or social media).</a:t>
            </a:r>
          </a:p>
          <a:p>
            <a:pPr>
              <a:buFont typeface="Arial" panose="020B0604020202020204" pitchFamily="34" charset="0"/>
              <a:buChar char="•"/>
            </a:pPr>
            <a:r>
              <a:rPr lang="en-US" sz="2400" b="1" dirty="0"/>
              <a:t>First Response Time &amp; Time to Resolution</a:t>
            </a:r>
            <a:r>
              <a:rPr lang="en-US" sz="2400" dirty="0"/>
              <a:t> – Service efficiency indicators showing how quickly tickets were handled.</a:t>
            </a:r>
          </a:p>
          <a:p>
            <a:pPr>
              <a:buFont typeface="Arial" panose="020B0604020202020204" pitchFamily="34" charset="0"/>
              <a:buChar char="•"/>
            </a:pPr>
            <a:r>
              <a:rPr lang="en-US" sz="2400" b="1" dirty="0"/>
              <a:t>Customer Satisfaction Rating</a:t>
            </a:r>
            <a:r>
              <a:rPr lang="en-US" sz="2400" dirty="0"/>
              <a:t> – Satisfaction score (1 to 5) provided by the customer after issue resolution.</a:t>
            </a:r>
          </a:p>
          <a:p>
            <a:pPr algn="l">
              <a:lnSpc>
                <a:spcPts val="2380"/>
              </a:lnSpc>
            </a:pPr>
            <a:endParaRPr lang="en-US" sz="2200" spc="-83" dirty="0">
              <a:solidFill>
                <a:srgbClr val="000000"/>
              </a:solidFill>
              <a:latin typeface="TT Interphases"/>
              <a:ea typeface="TT Interphases"/>
              <a:cs typeface="TT Interphases"/>
              <a:sym typeface="TT Interphase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61286-18F0-0F06-D8BB-EA7F9D3BE95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CF2F4C-39BB-AC55-2291-DDD2E96ED152}"/>
              </a:ext>
            </a:extLst>
          </p:cNvPr>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185B2ABB-A214-0AB9-624F-A4CD0786CF10}"/>
              </a:ext>
            </a:extLst>
          </p:cNvPr>
          <p:cNvSpPr/>
          <p:nvPr/>
        </p:nvSpPr>
        <p:spPr>
          <a:xfrm>
            <a:off x="762000" y="3314700"/>
            <a:ext cx="5257800" cy="5943600"/>
          </a:xfrm>
          <a:custGeom>
            <a:avLst/>
            <a:gdLst/>
            <a:ahLst/>
            <a:cxnLst/>
            <a:rect l="l" t="t" r="r" b="b"/>
            <a:pathLst>
              <a:path w="6730928" h="5751884">
                <a:moveTo>
                  <a:pt x="0" y="0"/>
                </a:moveTo>
                <a:lnTo>
                  <a:pt x="6730928" y="0"/>
                </a:lnTo>
                <a:lnTo>
                  <a:pt x="6730928" y="5751884"/>
                </a:lnTo>
                <a:lnTo>
                  <a:pt x="0" y="57518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FF2B5EF4-FFF2-40B4-BE49-F238E27FC236}">
                <a16:creationId xmlns:a16="http://schemas.microsoft.com/office/drawing/2014/main" id="{540BBF0A-27C4-3274-E7A5-CE149B28243C}"/>
              </a:ext>
            </a:extLst>
          </p:cNvPr>
          <p:cNvSpPr/>
          <p:nvPr/>
        </p:nvSpPr>
        <p:spPr>
          <a:xfrm>
            <a:off x="6324600" y="9593933"/>
            <a:ext cx="729305" cy="566206"/>
          </a:xfrm>
          <a:custGeom>
            <a:avLst/>
            <a:gdLst/>
            <a:ahLst/>
            <a:cxnLst/>
            <a:rect l="l" t="t" r="r" b="b"/>
            <a:pathLst>
              <a:path w="729305" h="566206">
                <a:moveTo>
                  <a:pt x="0" y="0"/>
                </a:moveTo>
                <a:lnTo>
                  <a:pt x="729305" y="0"/>
                </a:lnTo>
                <a:lnTo>
                  <a:pt x="729305" y="566207"/>
                </a:lnTo>
                <a:lnTo>
                  <a:pt x="0" y="5662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5" name="TextBox 5">
            <a:extLst>
              <a:ext uri="{FF2B5EF4-FFF2-40B4-BE49-F238E27FC236}">
                <a16:creationId xmlns:a16="http://schemas.microsoft.com/office/drawing/2014/main" id="{3561417B-569D-CBB5-4011-551802136627}"/>
              </a:ext>
            </a:extLst>
          </p:cNvPr>
          <p:cNvSpPr txBox="1"/>
          <p:nvPr/>
        </p:nvSpPr>
        <p:spPr>
          <a:xfrm>
            <a:off x="990600" y="1409700"/>
            <a:ext cx="10957733" cy="1032719"/>
          </a:xfrm>
          <a:prstGeom prst="rect">
            <a:avLst/>
          </a:prstGeom>
        </p:spPr>
        <p:txBody>
          <a:bodyPr wrap="square" lIns="0" tIns="0" rIns="0" bIns="0" rtlCol="0" anchor="t">
            <a:spAutoFit/>
          </a:bodyPr>
          <a:lstStyle/>
          <a:p>
            <a:pPr>
              <a:lnSpc>
                <a:spcPts val="7656"/>
              </a:lnSpc>
            </a:pPr>
            <a:r>
              <a:rPr lang="en-IN" sz="8800" dirty="0"/>
              <a:t>3. Data Preprocessing</a:t>
            </a:r>
            <a:endParaRPr lang="en-US" sz="8800" spc="-431" dirty="0">
              <a:solidFill>
                <a:srgbClr val="000000"/>
              </a:solidFill>
              <a:latin typeface="TT Interphases"/>
              <a:ea typeface="TT Interphases"/>
              <a:cs typeface="TT Interphases"/>
              <a:sym typeface="TT Interphases"/>
            </a:endParaRPr>
          </a:p>
        </p:txBody>
      </p:sp>
      <p:sp>
        <p:nvSpPr>
          <p:cNvPr id="11" name="Freeform 11">
            <a:extLst>
              <a:ext uri="{FF2B5EF4-FFF2-40B4-BE49-F238E27FC236}">
                <a16:creationId xmlns:a16="http://schemas.microsoft.com/office/drawing/2014/main" id="{857B9213-428C-C0BE-3AA6-740510F8DF14}"/>
              </a:ext>
            </a:extLst>
          </p:cNvPr>
          <p:cNvSpPr/>
          <p:nvPr/>
        </p:nvSpPr>
        <p:spPr>
          <a:xfrm flipH="1" flipV="1">
            <a:off x="16230600" y="1577614"/>
            <a:ext cx="762000" cy="670285"/>
          </a:xfrm>
          <a:custGeom>
            <a:avLst/>
            <a:gdLst/>
            <a:ahLst/>
            <a:cxnLst/>
            <a:rect l="l" t="t" r="r" b="b"/>
            <a:pathLst>
              <a:path w="436681" h="339023">
                <a:moveTo>
                  <a:pt x="436681" y="339023"/>
                </a:moveTo>
                <a:lnTo>
                  <a:pt x="0" y="339023"/>
                </a:lnTo>
                <a:lnTo>
                  <a:pt x="0" y="0"/>
                </a:lnTo>
                <a:lnTo>
                  <a:pt x="436681" y="0"/>
                </a:lnTo>
                <a:lnTo>
                  <a:pt x="436681" y="339023"/>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7">
            <a:extLst>
              <a:ext uri="{FF2B5EF4-FFF2-40B4-BE49-F238E27FC236}">
                <a16:creationId xmlns:a16="http://schemas.microsoft.com/office/drawing/2014/main" id="{DB7669CD-FE84-0496-25C1-0D4535F85C54}"/>
              </a:ext>
            </a:extLst>
          </p:cNvPr>
          <p:cNvSpPr txBox="1"/>
          <p:nvPr/>
        </p:nvSpPr>
        <p:spPr>
          <a:xfrm>
            <a:off x="6515102" y="2552700"/>
            <a:ext cx="11506200" cy="7694414"/>
          </a:xfrm>
          <a:prstGeom prst="rect">
            <a:avLst/>
          </a:prstGeom>
        </p:spPr>
        <p:txBody>
          <a:bodyPr wrap="square" lIns="0" tIns="0" rIns="0" bIns="0" rtlCol="0" anchor="t">
            <a:spAutoFit/>
          </a:bodyPr>
          <a:lstStyle/>
          <a:p>
            <a:pPr>
              <a:buFont typeface="Arial" panose="020B0604020202020204" pitchFamily="34" charset="0"/>
              <a:buChar char="•"/>
            </a:pPr>
            <a:r>
              <a:rPr lang="en-US" sz="2000" b="1" dirty="0"/>
              <a:t>Dataset Overview:</a:t>
            </a:r>
            <a:endParaRPr lang="en-US" sz="2000" dirty="0"/>
          </a:p>
          <a:p>
            <a:pPr marL="742950" lvl="1" indent="-285750">
              <a:buFont typeface="Arial" panose="020B0604020202020204" pitchFamily="34" charset="0"/>
              <a:buChar char="•"/>
            </a:pPr>
            <a:r>
              <a:rPr lang="en-US" sz="2000" dirty="0"/>
              <a:t>Total Records: </a:t>
            </a:r>
            <a:r>
              <a:rPr lang="en-US" sz="2000" b="1" dirty="0"/>
              <a:t>8,469</a:t>
            </a:r>
            <a:r>
              <a:rPr lang="en-US" sz="2000" dirty="0"/>
              <a:t> | Total Attributes: </a:t>
            </a:r>
            <a:r>
              <a:rPr lang="en-US" sz="2000" b="1" dirty="0"/>
              <a:t>17</a:t>
            </a:r>
            <a:endParaRPr lang="en-US" sz="2000" dirty="0"/>
          </a:p>
          <a:p>
            <a:pPr marL="742950" lvl="1" indent="-285750">
              <a:buFont typeface="Arial" panose="020B0604020202020204" pitchFamily="34" charset="0"/>
              <a:buChar char="•"/>
            </a:pPr>
            <a:r>
              <a:rPr lang="en-US" sz="2000" b="1" dirty="0"/>
              <a:t>No duplicates</a:t>
            </a:r>
            <a:r>
              <a:rPr lang="en-US" sz="2000" dirty="0"/>
              <a:t> found.</a:t>
            </a:r>
          </a:p>
          <a:p>
            <a:pPr marL="742950" lvl="1" indent="-285750">
              <a:buFont typeface="Arial" panose="020B0604020202020204" pitchFamily="34" charset="0"/>
              <a:buChar char="•"/>
            </a:pPr>
            <a:r>
              <a:rPr lang="en-US" sz="2000" dirty="0"/>
              <a:t>Missing values observed in:</a:t>
            </a:r>
          </a:p>
          <a:p>
            <a:pPr marL="1143000" lvl="2" indent="-228600">
              <a:buFont typeface="Arial" panose="020B0604020202020204" pitchFamily="34" charset="0"/>
              <a:buChar char="•"/>
            </a:pPr>
            <a:r>
              <a:rPr lang="en-US" sz="2000" dirty="0">
                <a:latin typeface="Courier New" panose="02070309020205020404" pitchFamily="49" charset="0"/>
              </a:rPr>
              <a:t>Resolution</a:t>
            </a:r>
            <a:r>
              <a:rPr lang="en-US" sz="2000" dirty="0"/>
              <a:t> → </a:t>
            </a:r>
            <a:r>
              <a:rPr lang="en-US" sz="2000" b="1" dirty="0"/>
              <a:t>67.3% null</a:t>
            </a:r>
            <a:endParaRPr lang="en-US" sz="2000" dirty="0"/>
          </a:p>
          <a:p>
            <a:pPr marL="1143000" lvl="2" indent="-228600">
              <a:buFont typeface="Arial" panose="020B0604020202020204" pitchFamily="34" charset="0"/>
              <a:buChar char="•"/>
            </a:pPr>
            <a:r>
              <a:rPr lang="en-US" sz="2000" dirty="0">
                <a:latin typeface="Courier New" panose="02070309020205020404" pitchFamily="49" charset="0"/>
              </a:rPr>
              <a:t>First Response Time</a:t>
            </a:r>
            <a:r>
              <a:rPr lang="en-US" sz="2000" dirty="0"/>
              <a:t> → </a:t>
            </a:r>
            <a:r>
              <a:rPr lang="en-US" sz="2000" b="1" dirty="0"/>
              <a:t>33.2% null</a:t>
            </a:r>
            <a:endParaRPr lang="en-US" sz="2000" dirty="0"/>
          </a:p>
          <a:p>
            <a:pPr marL="1143000" lvl="2" indent="-228600">
              <a:buFont typeface="Arial" panose="020B0604020202020204" pitchFamily="34" charset="0"/>
              <a:buChar char="•"/>
            </a:pPr>
            <a:r>
              <a:rPr lang="en-US" sz="2000" dirty="0">
                <a:latin typeface="Courier New" panose="02070309020205020404" pitchFamily="49" charset="0"/>
              </a:rPr>
              <a:t>Time to Resolution</a:t>
            </a:r>
            <a:r>
              <a:rPr lang="en-US" sz="2000" dirty="0"/>
              <a:t> → </a:t>
            </a:r>
            <a:r>
              <a:rPr lang="en-US" sz="2000" b="1" dirty="0"/>
              <a:t>67.3% null</a:t>
            </a:r>
            <a:endParaRPr lang="en-US" sz="2000" dirty="0"/>
          </a:p>
          <a:p>
            <a:pPr marL="1143000" lvl="2" indent="-228600">
              <a:buFont typeface="Arial" panose="020B0604020202020204" pitchFamily="34" charset="0"/>
              <a:buChar char="•"/>
            </a:pPr>
            <a:r>
              <a:rPr lang="en-US" sz="2000" dirty="0">
                <a:latin typeface="Courier New" panose="02070309020205020404" pitchFamily="49" charset="0"/>
              </a:rPr>
              <a:t>Customer Satisfaction Rating</a:t>
            </a:r>
            <a:r>
              <a:rPr lang="en-US" sz="2000" dirty="0"/>
              <a:t> → </a:t>
            </a:r>
            <a:r>
              <a:rPr lang="en-US" sz="2000" b="1" dirty="0"/>
              <a:t>67.3% null</a:t>
            </a:r>
            <a:endParaRPr lang="en-US" sz="2000" dirty="0"/>
          </a:p>
          <a:p>
            <a:pPr marL="742950" lvl="1" indent="-285750">
              <a:buFont typeface="Arial" panose="020B0604020202020204" pitchFamily="34" charset="0"/>
              <a:buChar char="•"/>
            </a:pPr>
            <a:r>
              <a:rPr lang="en-US" sz="2000" dirty="0"/>
              <a:t>Only records with valid satisfaction ratings were retained for modeling.</a:t>
            </a:r>
          </a:p>
          <a:p>
            <a:pPr>
              <a:buFont typeface="Arial" panose="020B0604020202020204" pitchFamily="34" charset="0"/>
              <a:buChar char="•"/>
            </a:pPr>
            <a:r>
              <a:rPr lang="en-US" sz="2000" b="1" dirty="0"/>
              <a:t>Column Cleaning:</a:t>
            </a:r>
            <a:endParaRPr lang="en-US" sz="2000" dirty="0"/>
          </a:p>
          <a:p>
            <a:pPr marL="742950" lvl="1" indent="-285750">
              <a:buFont typeface="Arial" panose="020B0604020202020204" pitchFamily="34" charset="0"/>
              <a:buChar char="•"/>
            </a:pPr>
            <a:r>
              <a:rPr lang="en-US" sz="2000" dirty="0"/>
              <a:t>Dropped: </a:t>
            </a:r>
            <a:r>
              <a:rPr lang="en-US" sz="2000" dirty="0">
                <a:latin typeface="Courier New" panose="02070309020205020404" pitchFamily="49" charset="0"/>
              </a:rPr>
              <a:t>Ticket ID</a:t>
            </a:r>
            <a:r>
              <a:rPr lang="en-US" sz="2000" dirty="0"/>
              <a:t>, </a:t>
            </a:r>
            <a:r>
              <a:rPr lang="en-US" sz="2000" dirty="0">
                <a:latin typeface="Courier New" panose="02070309020205020404" pitchFamily="49" charset="0"/>
              </a:rPr>
              <a:t>Customer Name</a:t>
            </a:r>
            <a:r>
              <a:rPr lang="en-US" sz="2000" dirty="0"/>
              <a:t>, </a:t>
            </a:r>
            <a:r>
              <a:rPr lang="en-US" sz="2000" dirty="0">
                <a:latin typeface="Courier New" panose="02070309020205020404" pitchFamily="49" charset="0"/>
              </a:rPr>
              <a:t>Customer Email</a:t>
            </a:r>
            <a:r>
              <a:rPr lang="en-US" sz="2000" dirty="0"/>
              <a:t>, and </a:t>
            </a:r>
            <a:r>
              <a:rPr lang="en-US" sz="2000" dirty="0">
                <a:latin typeface="Courier New" panose="02070309020205020404" pitchFamily="49" charset="0"/>
              </a:rPr>
              <a:t>Ticket Status</a:t>
            </a:r>
            <a:r>
              <a:rPr lang="en-US" sz="2000" dirty="0"/>
              <a:t> (non-informative).</a:t>
            </a:r>
          </a:p>
          <a:p>
            <a:pPr marL="742950" lvl="1" indent="-285750">
              <a:buFont typeface="Arial" panose="020B0604020202020204" pitchFamily="34" charset="0"/>
              <a:buChar char="•"/>
            </a:pPr>
            <a:r>
              <a:rPr lang="en-US" sz="2000" dirty="0"/>
              <a:t>Removed irrelevant columns to simplify modeling.</a:t>
            </a:r>
          </a:p>
          <a:p>
            <a:pPr>
              <a:buFont typeface="Arial" panose="020B0604020202020204" pitchFamily="34" charset="0"/>
              <a:buChar char="•"/>
            </a:pPr>
            <a:r>
              <a:rPr lang="en-US" sz="2000" b="1" dirty="0"/>
              <a:t>Datetime Feature Engineering:</a:t>
            </a:r>
            <a:endParaRPr lang="en-US" sz="2000" dirty="0"/>
          </a:p>
          <a:p>
            <a:pPr marL="742950" lvl="1" indent="-285750">
              <a:buFont typeface="Arial" panose="020B0604020202020204" pitchFamily="34" charset="0"/>
              <a:buChar char="•"/>
            </a:pPr>
            <a:r>
              <a:rPr lang="en-US" sz="2000" dirty="0"/>
              <a:t>Converted </a:t>
            </a:r>
            <a:r>
              <a:rPr lang="en-US" sz="2000" dirty="0">
                <a:latin typeface="Courier New" panose="02070309020205020404" pitchFamily="49" charset="0"/>
              </a:rPr>
              <a:t>Date of Purchase</a:t>
            </a:r>
            <a:r>
              <a:rPr lang="en-US" sz="2000" dirty="0"/>
              <a:t>, </a:t>
            </a:r>
            <a:r>
              <a:rPr lang="en-US" sz="2000" dirty="0">
                <a:latin typeface="Courier New" panose="02070309020205020404" pitchFamily="49" charset="0"/>
              </a:rPr>
              <a:t>First Response Time</a:t>
            </a:r>
            <a:r>
              <a:rPr lang="en-US" sz="2000" dirty="0"/>
              <a:t>, and </a:t>
            </a:r>
            <a:r>
              <a:rPr lang="en-US" sz="2000" dirty="0">
                <a:latin typeface="Courier New" panose="02070309020205020404" pitchFamily="49" charset="0"/>
              </a:rPr>
              <a:t>Time to Resolution</a:t>
            </a:r>
            <a:r>
              <a:rPr lang="en-US" sz="2000" dirty="0"/>
              <a:t> into </a:t>
            </a:r>
            <a:r>
              <a:rPr lang="en-US" sz="2000" b="1" dirty="0"/>
              <a:t>datetime</a:t>
            </a:r>
            <a:r>
              <a:rPr lang="en-US" sz="2000" dirty="0"/>
              <a:t> format.</a:t>
            </a:r>
          </a:p>
          <a:p>
            <a:pPr marL="742950" lvl="1" indent="-285750">
              <a:buFont typeface="Arial" panose="020B0604020202020204" pitchFamily="34" charset="0"/>
              <a:buChar char="•"/>
            </a:pPr>
            <a:r>
              <a:rPr lang="en-US" sz="2000" dirty="0"/>
              <a:t>Derived new time-based fields:</a:t>
            </a:r>
          </a:p>
          <a:p>
            <a:pPr marL="1143000" lvl="2" indent="-228600">
              <a:buFont typeface="Arial" panose="020B0604020202020204" pitchFamily="34" charset="0"/>
              <a:buChar char="•"/>
            </a:pPr>
            <a:r>
              <a:rPr lang="en-US" sz="2000" dirty="0">
                <a:latin typeface="Courier New" panose="02070309020205020404" pitchFamily="49" charset="0"/>
              </a:rPr>
              <a:t>purchase_month</a:t>
            </a:r>
            <a:r>
              <a:rPr lang="en-US" sz="2000" dirty="0"/>
              <a:t>, </a:t>
            </a:r>
            <a:r>
              <a:rPr lang="en-US" sz="2000" dirty="0" err="1">
                <a:latin typeface="Courier New" panose="02070309020205020404" pitchFamily="49" charset="0"/>
              </a:rPr>
              <a:t>purchase_year</a:t>
            </a:r>
            <a:r>
              <a:rPr lang="en-US" sz="2000" dirty="0"/>
              <a:t>, and </a:t>
            </a:r>
            <a:r>
              <a:rPr lang="en-US" sz="2000" dirty="0" err="1">
                <a:latin typeface="Courier New" panose="02070309020205020404" pitchFamily="49" charset="0"/>
              </a:rPr>
              <a:t>Is_Weekend_Purchase</a:t>
            </a:r>
            <a:r>
              <a:rPr lang="en-US" sz="2000" dirty="0"/>
              <a:t>.</a:t>
            </a:r>
          </a:p>
          <a:p>
            <a:pPr marL="1143000" lvl="2" indent="-228600">
              <a:buFont typeface="Arial" panose="020B0604020202020204" pitchFamily="34" charset="0"/>
              <a:buChar char="•"/>
            </a:pPr>
            <a:r>
              <a:rPr lang="en-US" sz="2000" dirty="0">
                <a:latin typeface="Courier New" panose="02070309020205020404" pitchFamily="49" charset="0"/>
              </a:rPr>
              <a:t>first_response_days</a:t>
            </a:r>
            <a:r>
              <a:rPr lang="en-US" sz="2000" dirty="0"/>
              <a:t>, </a:t>
            </a:r>
            <a:r>
              <a:rPr lang="en-US" sz="2000" dirty="0">
                <a:latin typeface="Courier New" panose="02070309020205020404" pitchFamily="49" charset="0"/>
              </a:rPr>
              <a:t>resolution_days</a:t>
            </a:r>
            <a:r>
              <a:rPr lang="en-US" sz="2000" dirty="0"/>
              <a:t>, </a:t>
            </a:r>
            <a:r>
              <a:rPr lang="en-US" sz="2000" dirty="0">
                <a:latin typeface="Courier New" panose="02070309020205020404" pitchFamily="49" charset="0"/>
              </a:rPr>
              <a:t>Response_Delay_Hours</a:t>
            </a:r>
            <a:r>
              <a:rPr lang="en-US" sz="2000" dirty="0"/>
              <a:t>, </a:t>
            </a:r>
            <a:r>
              <a:rPr lang="en-US" sz="2000" dirty="0">
                <a:latin typeface="Courier New" panose="02070309020205020404" pitchFamily="49" charset="0"/>
              </a:rPr>
              <a:t>Resolution_Time_Hours</a:t>
            </a:r>
            <a:r>
              <a:rPr lang="en-US" sz="2000" dirty="0"/>
              <a:t>, and </a:t>
            </a:r>
            <a:r>
              <a:rPr lang="en-US" sz="2000" dirty="0" err="1">
                <a:latin typeface="Courier New" panose="02070309020205020404" pitchFamily="49" charset="0"/>
              </a:rPr>
              <a:t>Total_Time_Hours</a:t>
            </a:r>
            <a:r>
              <a:rPr lang="en-US" sz="2000" dirty="0"/>
              <a:t>.</a:t>
            </a:r>
          </a:p>
          <a:p>
            <a:pPr marL="742950" lvl="1" indent="-285750">
              <a:buFont typeface="Arial" panose="020B0604020202020204" pitchFamily="34" charset="0"/>
              <a:buChar char="•"/>
            </a:pPr>
            <a:r>
              <a:rPr lang="en-US" sz="2000" dirty="0"/>
              <a:t>Computed </a:t>
            </a:r>
            <a:r>
              <a:rPr lang="en-US" sz="2000" b="1" dirty="0"/>
              <a:t>efficiency ratios:</a:t>
            </a:r>
            <a:endParaRPr lang="en-US" sz="2000" dirty="0"/>
          </a:p>
          <a:p>
            <a:pPr marL="1143000" lvl="2" indent="-228600">
              <a:buFont typeface="Arial" panose="020B0604020202020204" pitchFamily="34" charset="0"/>
              <a:buChar char="•"/>
            </a:pPr>
            <a:r>
              <a:rPr lang="en-US" sz="2000" dirty="0" err="1">
                <a:latin typeface="Courier New" panose="02070309020205020404" pitchFamily="49" charset="0"/>
              </a:rPr>
              <a:t>Resolution_vs_Response</a:t>
            </a:r>
            <a:r>
              <a:rPr lang="en-US" sz="2000" dirty="0"/>
              <a:t> = Resolution ÷ Response Delay</a:t>
            </a:r>
          </a:p>
          <a:p>
            <a:pPr marL="1143000" lvl="2" indent="-228600">
              <a:buFont typeface="Arial" panose="020B0604020202020204" pitchFamily="34" charset="0"/>
              <a:buChar char="•"/>
            </a:pPr>
            <a:r>
              <a:rPr lang="en-US" sz="2000" dirty="0" err="1">
                <a:latin typeface="Courier New" panose="02070309020205020404" pitchFamily="49" charset="0"/>
              </a:rPr>
              <a:t>Total_vs_Response</a:t>
            </a:r>
            <a:r>
              <a:rPr lang="en-US" sz="2000" dirty="0"/>
              <a:t> = Total Time ÷ Response Delay</a:t>
            </a:r>
          </a:p>
          <a:p>
            <a:pPr marL="1143000" lvl="2" indent="-228600">
              <a:buFont typeface="Arial" panose="020B0604020202020204" pitchFamily="34" charset="0"/>
              <a:buChar char="•"/>
            </a:pPr>
            <a:r>
              <a:rPr lang="en-US" sz="2000" dirty="0" err="1">
                <a:latin typeface="Courier New" panose="02070309020205020404" pitchFamily="49" charset="0"/>
              </a:rPr>
              <a:t>Total_vs_Resolution</a:t>
            </a:r>
            <a:r>
              <a:rPr lang="en-US" sz="2000" dirty="0"/>
              <a:t> = Total Time ÷ Resolution Time</a:t>
            </a:r>
          </a:p>
          <a:p>
            <a:pPr>
              <a:buNone/>
            </a:pPr>
            <a:endParaRPr lang="en-US" sz="2000" dirty="0"/>
          </a:p>
        </p:txBody>
      </p:sp>
    </p:spTree>
    <p:extLst>
      <p:ext uri="{BB962C8B-B14F-4D97-AF65-F5344CB8AC3E}">
        <p14:creationId xmlns:p14="http://schemas.microsoft.com/office/powerpoint/2010/main" val="162832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62000" y="3314700"/>
            <a:ext cx="5257800" cy="5943600"/>
          </a:xfrm>
          <a:custGeom>
            <a:avLst/>
            <a:gdLst/>
            <a:ahLst/>
            <a:cxnLst/>
            <a:rect l="l" t="t" r="r" b="b"/>
            <a:pathLst>
              <a:path w="6730928" h="5751884">
                <a:moveTo>
                  <a:pt x="0" y="0"/>
                </a:moveTo>
                <a:lnTo>
                  <a:pt x="6730928" y="0"/>
                </a:lnTo>
                <a:lnTo>
                  <a:pt x="6730928" y="5751884"/>
                </a:lnTo>
                <a:lnTo>
                  <a:pt x="0" y="57518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324600" y="9593933"/>
            <a:ext cx="729305" cy="566206"/>
          </a:xfrm>
          <a:custGeom>
            <a:avLst/>
            <a:gdLst/>
            <a:ahLst/>
            <a:cxnLst/>
            <a:rect l="l" t="t" r="r" b="b"/>
            <a:pathLst>
              <a:path w="729305" h="566206">
                <a:moveTo>
                  <a:pt x="0" y="0"/>
                </a:moveTo>
                <a:lnTo>
                  <a:pt x="729305" y="0"/>
                </a:lnTo>
                <a:lnTo>
                  <a:pt x="729305" y="566207"/>
                </a:lnTo>
                <a:lnTo>
                  <a:pt x="0" y="5662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5" name="TextBox 5"/>
          <p:cNvSpPr txBox="1"/>
          <p:nvPr/>
        </p:nvSpPr>
        <p:spPr>
          <a:xfrm>
            <a:off x="990600" y="1409700"/>
            <a:ext cx="10957733" cy="1032719"/>
          </a:xfrm>
          <a:prstGeom prst="rect">
            <a:avLst/>
          </a:prstGeom>
        </p:spPr>
        <p:txBody>
          <a:bodyPr wrap="square" lIns="0" tIns="0" rIns="0" bIns="0" rtlCol="0" anchor="t">
            <a:spAutoFit/>
          </a:bodyPr>
          <a:lstStyle/>
          <a:p>
            <a:pPr>
              <a:lnSpc>
                <a:spcPts val="7656"/>
              </a:lnSpc>
            </a:pPr>
            <a:r>
              <a:rPr lang="en-IN" sz="8800" dirty="0"/>
              <a:t>3. Data Preprocessing</a:t>
            </a:r>
            <a:endParaRPr lang="en-US" sz="8800" spc="-431" dirty="0">
              <a:solidFill>
                <a:srgbClr val="000000"/>
              </a:solidFill>
              <a:latin typeface="TT Interphases"/>
              <a:ea typeface="TT Interphases"/>
              <a:cs typeface="TT Interphases"/>
              <a:sym typeface="TT Interphases"/>
            </a:endParaRPr>
          </a:p>
        </p:txBody>
      </p:sp>
      <p:sp>
        <p:nvSpPr>
          <p:cNvPr id="11" name="Freeform 11"/>
          <p:cNvSpPr/>
          <p:nvPr/>
        </p:nvSpPr>
        <p:spPr>
          <a:xfrm flipH="1" flipV="1">
            <a:off x="16230600" y="1577614"/>
            <a:ext cx="762000" cy="670285"/>
          </a:xfrm>
          <a:custGeom>
            <a:avLst/>
            <a:gdLst/>
            <a:ahLst/>
            <a:cxnLst/>
            <a:rect l="l" t="t" r="r" b="b"/>
            <a:pathLst>
              <a:path w="436681" h="339023">
                <a:moveTo>
                  <a:pt x="436681" y="339023"/>
                </a:moveTo>
                <a:lnTo>
                  <a:pt x="0" y="339023"/>
                </a:lnTo>
                <a:lnTo>
                  <a:pt x="0" y="0"/>
                </a:lnTo>
                <a:lnTo>
                  <a:pt x="436681" y="0"/>
                </a:lnTo>
                <a:lnTo>
                  <a:pt x="436681" y="339023"/>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7">
            <a:extLst>
              <a:ext uri="{FF2B5EF4-FFF2-40B4-BE49-F238E27FC236}">
                <a16:creationId xmlns:a16="http://schemas.microsoft.com/office/drawing/2014/main" id="{D4F32932-9441-DBF3-61BC-223D9827F77A}"/>
              </a:ext>
            </a:extLst>
          </p:cNvPr>
          <p:cNvSpPr txBox="1"/>
          <p:nvPr/>
        </p:nvSpPr>
        <p:spPr>
          <a:xfrm>
            <a:off x="6781800" y="2684439"/>
            <a:ext cx="11506200" cy="7386638"/>
          </a:xfrm>
          <a:prstGeom prst="rect">
            <a:avLst/>
          </a:prstGeom>
        </p:spPr>
        <p:txBody>
          <a:bodyPr wrap="square" lIns="0" tIns="0" rIns="0" bIns="0" rtlCol="0" anchor="t">
            <a:spAutoFit/>
          </a:bodyPr>
          <a:lstStyle/>
          <a:p>
            <a:pPr>
              <a:buFont typeface="Arial" panose="020B0604020202020204" pitchFamily="34" charset="0"/>
              <a:buChar char="•"/>
            </a:pPr>
            <a:r>
              <a:rPr lang="en-US" sz="2000" b="1" dirty="0"/>
              <a:t>Feature Engineering:</a:t>
            </a:r>
            <a:endParaRPr lang="en-US" sz="2000" dirty="0"/>
          </a:p>
          <a:p>
            <a:pPr marL="742950" lvl="1" indent="-285750">
              <a:buFont typeface="Arial" panose="020B0604020202020204" pitchFamily="34" charset="0"/>
              <a:buChar char="•"/>
            </a:pPr>
            <a:r>
              <a:rPr lang="en-US" sz="2000" dirty="0"/>
              <a:t>Created </a:t>
            </a:r>
            <a:r>
              <a:rPr lang="en-US" sz="2000" dirty="0" err="1">
                <a:latin typeface="Courier New" panose="02070309020205020404" pitchFamily="49" charset="0"/>
              </a:rPr>
              <a:t>customer_age_group</a:t>
            </a:r>
            <a:r>
              <a:rPr lang="en-US" sz="2000" dirty="0"/>
              <a:t>:</a:t>
            </a:r>
          </a:p>
          <a:p>
            <a:pPr marL="1143000" lvl="2" indent="-228600">
              <a:buFont typeface="Arial" panose="020B0604020202020204" pitchFamily="34" charset="0"/>
              <a:buChar char="•"/>
            </a:pPr>
            <a:r>
              <a:rPr lang="en-US" sz="2000" b="1" dirty="0"/>
              <a:t>Youth (&lt;25)</a:t>
            </a:r>
            <a:r>
              <a:rPr lang="en-US" sz="2000" dirty="0"/>
              <a:t> | </a:t>
            </a:r>
            <a:r>
              <a:rPr lang="en-US" sz="2000" b="1" dirty="0"/>
              <a:t>Adult (25–59)</a:t>
            </a:r>
            <a:r>
              <a:rPr lang="en-US" sz="2000" dirty="0"/>
              <a:t> | </a:t>
            </a:r>
            <a:r>
              <a:rPr lang="en-US" sz="2000" b="1" dirty="0"/>
              <a:t>Senior (60+)</a:t>
            </a:r>
            <a:endParaRPr lang="en-US" sz="2000" dirty="0"/>
          </a:p>
          <a:p>
            <a:pPr marL="742950" lvl="1" indent="-285750">
              <a:buFont typeface="Arial" panose="020B0604020202020204" pitchFamily="34" charset="0"/>
              <a:buChar char="•"/>
            </a:pPr>
            <a:r>
              <a:rPr lang="en-US" sz="2000" dirty="0"/>
              <a:t>Added binary flag </a:t>
            </a:r>
            <a:r>
              <a:rPr lang="en-US" sz="2000" dirty="0" err="1">
                <a:latin typeface="Courier New" panose="02070309020205020404" pitchFamily="49" charset="0"/>
              </a:rPr>
              <a:t>is_critical</a:t>
            </a:r>
            <a:r>
              <a:rPr lang="en-US" sz="2000" dirty="0"/>
              <a:t> → 1 if ticket priority = </a:t>
            </a:r>
            <a:r>
              <a:rPr lang="en-US" sz="2000" i="1" dirty="0"/>
              <a:t>Critical</a:t>
            </a:r>
            <a:r>
              <a:rPr lang="en-US" sz="2000" dirty="0"/>
              <a:t>.</a:t>
            </a:r>
          </a:p>
          <a:p>
            <a:pPr marL="742950" lvl="1" indent="-285750">
              <a:buFont typeface="Arial" panose="020B0604020202020204" pitchFamily="34" charset="0"/>
              <a:buChar char="•"/>
            </a:pPr>
            <a:r>
              <a:rPr lang="en-US" sz="2000" dirty="0"/>
              <a:t>Generated </a:t>
            </a:r>
            <a:r>
              <a:rPr lang="en-US" sz="2000" b="1" dirty="0"/>
              <a:t>interaction features</a:t>
            </a:r>
            <a:r>
              <a:rPr lang="en-US" sz="2000" dirty="0"/>
              <a:t>:</a:t>
            </a:r>
          </a:p>
          <a:p>
            <a:pPr marL="1143000" lvl="2" indent="-228600">
              <a:buFont typeface="Arial" panose="020B0604020202020204" pitchFamily="34" charset="0"/>
              <a:buChar char="•"/>
            </a:pPr>
            <a:r>
              <a:rPr lang="en-US" sz="2000" dirty="0" err="1">
                <a:latin typeface="Courier New" panose="02070309020205020404" pitchFamily="49" charset="0"/>
              </a:rPr>
              <a:t>age_ticket_length</a:t>
            </a:r>
            <a:r>
              <a:rPr lang="en-US" sz="2000" dirty="0">
                <a:latin typeface="Courier New" panose="02070309020205020404" pitchFamily="49" charset="0"/>
              </a:rPr>
              <a:t> = Age × Ticket Length</a:t>
            </a:r>
            <a:endParaRPr lang="en-US" sz="2000" dirty="0"/>
          </a:p>
          <a:p>
            <a:pPr marL="1143000" lvl="2" indent="-228600">
              <a:buFont typeface="Arial" panose="020B0604020202020204" pitchFamily="34" charset="0"/>
              <a:buChar char="•"/>
            </a:pPr>
            <a:r>
              <a:rPr lang="en-US" sz="2000" dirty="0" err="1">
                <a:latin typeface="Courier New" panose="02070309020205020404" pitchFamily="49" charset="0"/>
              </a:rPr>
              <a:t>sentiment_priority</a:t>
            </a:r>
            <a:r>
              <a:rPr lang="en-US" sz="2000" dirty="0">
                <a:latin typeface="Courier New" panose="02070309020205020404" pitchFamily="49" charset="0"/>
              </a:rPr>
              <a:t> = Sentiment × Priority</a:t>
            </a:r>
            <a:endParaRPr lang="en-US" sz="2000" dirty="0"/>
          </a:p>
          <a:p>
            <a:pPr marL="1143000" lvl="2" indent="-228600">
              <a:buFont typeface="Arial" panose="020B0604020202020204" pitchFamily="34" charset="0"/>
              <a:buChar char="•"/>
            </a:pPr>
            <a:r>
              <a:rPr lang="en-US" sz="2000" dirty="0" err="1">
                <a:latin typeface="Courier New" panose="02070309020205020404" pitchFamily="49" charset="0"/>
              </a:rPr>
              <a:t>sentiment_age</a:t>
            </a:r>
            <a:r>
              <a:rPr lang="en-US" sz="2000" dirty="0">
                <a:latin typeface="Courier New" panose="02070309020205020404" pitchFamily="49" charset="0"/>
              </a:rPr>
              <a:t> = Sentiment × Age</a:t>
            </a:r>
            <a:endParaRPr lang="en-US" sz="2000" dirty="0"/>
          </a:p>
          <a:p>
            <a:pPr marL="1143000" lvl="2" indent="-228600">
              <a:buFont typeface="Arial" panose="020B0604020202020204" pitchFamily="34" charset="0"/>
              <a:buChar char="•"/>
            </a:pPr>
            <a:r>
              <a:rPr lang="en-US" sz="2000" dirty="0" err="1">
                <a:latin typeface="Courier New" panose="02070309020205020404" pitchFamily="49" charset="0"/>
              </a:rPr>
              <a:t>sentiment_length</a:t>
            </a:r>
            <a:r>
              <a:rPr lang="en-US" sz="2000" dirty="0">
                <a:latin typeface="Courier New" panose="02070309020205020404" pitchFamily="49" charset="0"/>
              </a:rPr>
              <a:t> = Sentiment × Text Length</a:t>
            </a:r>
            <a:endParaRPr lang="en-US" sz="2000" dirty="0"/>
          </a:p>
          <a:p>
            <a:endParaRPr lang="en-US" sz="2000" dirty="0"/>
          </a:p>
          <a:p>
            <a:pPr>
              <a:buFont typeface="Arial" panose="020B0604020202020204" pitchFamily="34" charset="0"/>
              <a:buChar char="•"/>
            </a:pPr>
            <a:r>
              <a:rPr lang="en-US" sz="2000" b="1" dirty="0"/>
              <a:t>Text Cleaning &amp; NLP Features:</a:t>
            </a:r>
            <a:endParaRPr lang="en-US" sz="2000" dirty="0"/>
          </a:p>
          <a:p>
            <a:pPr marL="742950" lvl="1" indent="-285750">
              <a:buFont typeface="Arial" panose="020B0604020202020204" pitchFamily="34" charset="0"/>
              <a:buChar char="•"/>
            </a:pPr>
            <a:r>
              <a:rPr lang="en-US" sz="2000" dirty="0"/>
              <a:t>Cleaned text fields (</a:t>
            </a:r>
            <a:r>
              <a:rPr lang="en-US" sz="2000" i="1" dirty="0"/>
              <a:t>Subject</a:t>
            </a:r>
            <a:r>
              <a:rPr lang="en-US" sz="2000" dirty="0"/>
              <a:t>, </a:t>
            </a:r>
            <a:r>
              <a:rPr lang="en-US" sz="2000" i="1" dirty="0"/>
              <a:t>Description</a:t>
            </a:r>
            <a:r>
              <a:rPr lang="en-US" sz="2000" dirty="0"/>
              <a:t>) using lowercase conversion, punctuation removal, and lemmatization.</a:t>
            </a:r>
          </a:p>
          <a:p>
            <a:pPr marL="742950" lvl="1" indent="-285750">
              <a:buFont typeface="Arial" panose="020B0604020202020204" pitchFamily="34" charset="0"/>
              <a:buChar char="•"/>
            </a:pPr>
            <a:r>
              <a:rPr lang="en-US" sz="2000" dirty="0"/>
              <a:t>Extracted </a:t>
            </a:r>
            <a:r>
              <a:rPr lang="en-US" sz="2000" b="1" dirty="0"/>
              <a:t>TF-IDF features (150 each)</a:t>
            </a:r>
            <a:r>
              <a:rPr lang="en-US" sz="2000" dirty="0"/>
              <a:t> from </a:t>
            </a:r>
            <a:r>
              <a:rPr lang="en-US" sz="2000" i="1" dirty="0"/>
              <a:t>Description</a:t>
            </a:r>
            <a:r>
              <a:rPr lang="en-US" sz="2000" dirty="0"/>
              <a:t> and </a:t>
            </a:r>
            <a:r>
              <a:rPr lang="en-US" sz="2000" i="1" dirty="0"/>
              <a:t>Resolution</a:t>
            </a:r>
            <a:r>
              <a:rPr lang="en-US" sz="2000" dirty="0"/>
              <a:t> to capture key words.</a:t>
            </a:r>
          </a:p>
          <a:p>
            <a:pPr marL="742950" lvl="1" indent="-285750">
              <a:buFont typeface="Arial" panose="020B0604020202020204" pitchFamily="34" charset="0"/>
              <a:buChar char="•"/>
            </a:pPr>
            <a:r>
              <a:rPr lang="en-US" sz="2000" dirty="0"/>
              <a:t>Applied </a:t>
            </a:r>
            <a:r>
              <a:rPr lang="en-US" sz="2000" b="1" dirty="0" err="1"/>
              <a:t>TextBlob</a:t>
            </a:r>
            <a:r>
              <a:rPr lang="en-US" sz="2000" dirty="0"/>
              <a:t> and </a:t>
            </a:r>
            <a:r>
              <a:rPr lang="en-US" sz="2000" b="1" dirty="0"/>
              <a:t>VADER</a:t>
            </a:r>
            <a:r>
              <a:rPr lang="en-US" sz="2000" dirty="0"/>
              <a:t> for sentiment scoring:</a:t>
            </a:r>
          </a:p>
          <a:p>
            <a:pPr marL="1143000" lvl="2" indent="-228600">
              <a:buFont typeface="Arial" panose="020B0604020202020204" pitchFamily="34" charset="0"/>
              <a:buChar char="•"/>
            </a:pPr>
            <a:r>
              <a:rPr lang="en-US" sz="2000" dirty="0" err="1">
                <a:latin typeface="Courier New" panose="02070309020205020404" pitchFamily="49" charset="0"/>
              </a:rPr>
              <a:t>sentiment_score</a:t>
            </a:r>
            <a:r>
              <a:rPr lang="en-US" sz="2000" dirty="0"/>
              <a:t> (from descriptions)</a:t>
            </a:r>
          </a:p>
          <a:p>
            <a:pPr marL="1143000" lvl="2" indent="-228600">
              <a:buFont typeface="Arial" panose="020B0604020202020204" pitchFamily="34" charset="0"/>
              <a:buChar char="•"/>
            </a:pPr>
            <a:r>
              <a:rPr lang="en-US" sz="2000" dirty="0" err="1">
                <a:latin typeface="Courier New" panose="02070309020205020404" pitchFamily="49" charset="0"/>
              </a:rPr>
              <a:t>desc_sentiment</a:t>
            </a:r>
            <a:r>
              <a:rPr lang="en-US" sz="2000" dirty="0"/>
              <a:t>, </a:t>
            </a:r>
            <a:r>
              <a:rPr lang="en-US" sz="2000" dirty="0" err="1">
                <a:latin typeface="Courier New" panose="02070309020205020404" pitchFamily="49" charset="0"/>
              </a:rPr>
              <a:t>res_sentiment</a:t>
            </a:r>
            <a:r>
              <a:rPr lang="en-US" sz="2000" dirty="0"/>
              <a:t>, and </a:t>
            </a:r>
            <a:r>
              <a:rPr lang="en-US" sz="2000" dirty="0" err="1">
                <a:latin typeface="Courier New" panose="02070309020205020404" pitchFamily="49" charset="0"/>
              </a:rPr>
              <a:t>Net_Sentiment</a:t>
            </a:r>
            <a:r>
              <a:rPr lang="en-US" sz="2000" dirty="0">
                <a:latin typeface="Courier New" panose="02070309020205020404" pitchFamily="49" charset="0"/>
              </a:rPr>
              <a:t> = </a:t>
            </a:r>
            <a:r>
              <a:rPr lang="en-US" sz="2000" dirty="0" err="1">
                <a:latin typeface="Courier New" panose="02070309020205020404" pitchFamily="49" charset="0"/>
              </a:rPr>
              <a:t>res_sentiment</a:t>
            </a:r>
            <a:r>
              <a:rPr lang="en-US" sz="2000" dirty="0">
                <a:latin typeface="Courier New" panose="02070309020205020404" pitchFamily="49" charset="0"/>
              </a:rPr>
              <a:t> − </a:t>
            </a:r>
            <a:r>
              <a:rPr lang="en-US" sz="2000" dirty="0" err="1">
                <a:latin typeface="Courier New" panose="02070309020205020404" pitchFamily="49" charset="0"/>
              </a:rPr>
              <a:t>desc_sentiment</a:t>
            </a:r>
            <a:endParaRPr lang="en-US" sz="2000" dirty="0"/>
          </a:p>
          <a:p>
            <a:pPr marL="742950" lvl="1" indent="-285750">
              <a:buFont typeface="Arial" panose="020B0604020202020204" pitchFamily="34" charset="0"/>
              <a:buChar char="•"/>
            </a:pPr>
            <a:r>
              <a:rPr lang="en-US" sz="2000" dirty="0"/>
              <a:t>Computed </a:t>
            </a:r>
            <a:r>
              <a:rPr lang="en-US" sz="2000" dirty="0" err="1">
                <a:latin typeface="Courier New" panose="02070309020205020404" pitchFamily="49" charset="0"/>
              </a:rPr>
              <a:t>resolution_quality</a:t>
            </a:r>
            <a:r>
              <a:rPr lang="en-US" sz="2000" dirty="0">
                <a:latin typeface="Courier New" panose="02070309020205020404" pitchFamily="49" charset="0"/>
              </a:rPr>
              <a:t> = </a:t>
            </a:r>
            <a:r>
              <a:rPr lang="en-US" sz="2000" dirty="0" err="1">
                <a:latin typeface="Courier New" panose="02070309020205020404" pitchFamily="49" charset="0"/>
              </a:rPr>
              <a:t>res_sentiment</a:t>
            </a:r>
            <a:r>
              <a:rPr lang="en-US" sz="2000" dirty="0">
                <a:latin typeface="Courier New" panose="02070309020205020404" pitchFamily="49" charset="0"/>
              </a:rPr>
              <a:t> × </a:t>
            </a:r>
            <a:r>
              <a:rPr lang="en-US" sz="2000" dirty="0" err="1">
                <a:latin typeface="Courier New" panose="02070309020205020404" pitchFamily="49" charset="0"/>
              </a:rPr>
              <a:t>Resolution_Length</a:t>
            </a:r>
            <a:r>
              <a:rPr lang="en-US" sz="2000" dirty="0"/>
              <a:t>.</a:t>
            </a:r>
          </a:p>
          <a:p>
            <a:pPr lvl="1"/>
            <a:endParaRPr lang="en-US" sz="2000" dirty="0"/>
          </a:p>
          <a:p>
            <a:pPr>
              <a:buFont typeface="Arial" panose="020B0604020202020204" pitchFamily="34" charset="0"/>
              <a:buChar char="•"/>
            </a:pPr>
            <a:r>
              <a:rPr lang="en-US" sz="2000" b="1" dirty="0"/>
              <a:t>Keyword Indicators (≈50 keywords):</a:t>
            </a:r>
            <a:endParaRPr lang="en-US" sz="2000" dirty="0"/>
          </a:p>
          <a:p>
            <a:pPr marL="742950" lvl="1" indent="-285750">
              <a:buFont typeface="Arial" panose="020B0604020202020204" pitchFamily="34" charset="0"/>
              <a:buChar char="•"/>
            </a:pPr>
            <a:r>
              <a:rPr lang="en-US" sz="2000" dirty="0"/>
              <a:t>Flags created for terms like: </a:t>
            </a:r>
            <a:r>
              <a:rPr lang="en-US" sz="2000" i="1" dirty="0"/>
              <a:t>error</a:t>
            </a:r>
            <a:r>
              <a:rPr lang="en-US" sz="2000" dirty="0"/>
              <a:t>, </a:t>
            </a:r>
            <a:r>
              <a:rPr lang="en-US" sz="2000" i="1" dirty="0"/>
              <a:t>refund</a:t>
            </a:r>
            <a:r>
              <a:rPr lang="en-US" sz="2000" dirty="0"/>
              <a:t>, </a:t>
            </a:r>
            <a:r>
              <a:rPr lang="en-US" sz="2000" i="1" dirty="0"/>
              <a:t>urgent</a:t>
            </a:r>
            <a:r>
              <a:rPr lang="en-US" sz="2000" dirty="0"/>
              <a:t>, </a:t>
            </a:r>
            <a:r>
              <a:rPr lang="en-US" sz="2000" i="1" dirty="0"/>
              <a:t>broken</a:t>
            </a:r>
            <a:r>
              <a:rPr lang="en-US" sz="2000" dirty="0"/>
              <a:t>, </a:t>
            </a:r>
            <a:r>
              <a:rPr lang="en-US" sz="2000" i="1" dirty="0"/>
              <a:t>payment</a:t>
            </a:r>
            <a:r>
              <a:rPr lang="en-US" sz="2000" dirty="0"/>
              <a:t>, </a:t>
            </a:r>
            <a:r>
              <a:rPr lang="en-US" sz="2000" i="1" dirty="0"/>
              <a:t>delay</a:t>
            </a:r>
            <a:r>
              <a:rPr lang="en-US" sz="2000" dirty="0"/>
              <a:t>, </a:t>
            </a:r>
            <a:r>
              <a:rPr lang="en-US" sz="2000" i="1" dirty="0"/>
              <a:t>login</a:t>
            </a:r>
            <a:r>
              <a:rPr lang="en-US" sz="2000" dirty="0"/>
              <a:t>, etc.</a:t>
            </a:r>
          </a:p>
          <a:p>
            <a:pPr marL="742950" lvl="1" indent="-285750">
              <a:buFont typeface="Arial" panose="020B0604020202020204" pitchFamily="34" charset="0"/>
              <a:buChar char="•"/>
            </a:pPr>
            <a:r>
              <a:rPr lang="en-US" sz="2000" dirty="0"/>
              <a:t>Example: </a:t>
            </a:r>
            <a:r>
              <a:rPr lang="en-US" sz="2000" dirty="0" err="1">
                <a:latin typeface="Courier New" panose="02070309020205020404" pitchFamily="49" charset="0"/>
              </a:rPr>
              <a:t>has_error</a:t>
            </a:r>
            <a:r>
              <a:rPr lang="en-US" sz="2000" dirty="0"/>
              <a:t>, </a:t>
            </a:r>
            <a:r>
              <a:rPr lang="en-US" sz="2000" dirty="0" err="1">
                <a:latin typeface="Courier New" panose="02070309020205020404" pitchFamily="49" charset="0"/>
              </a:rPr>
              <a:t>has_refund</a:t>
            </a:r>
            <a:r>
              <a:rPr lang="en-US" sz="2000" dirty="0"/>
              <a:t>, </a:t>
            </a:r>
            <a:r>
              <a:rPr lang="en-US" sz="2000" dirty="0" err="1">
                <a:latin typeface="Courier New" panose="02070309020205020404" pitchFamily="49" charset="0"/>
              </a:rPr>
              <a:t>has_urgent</a:t>
            </a:r>
            <a:r>
              <a:rPr lang="en-US" sz="2000" dirty="0"/>
              <a:t>, etc.</a:t>
            </a:r>
          </a:p>
          <a:p>
            <a:pPr marL="742950" lvl="1" indent="-285750">
              <a:buFont typeface="Arial" panose="020B0604020202020204" pitchFamily="34" charset="0"/>
              <a:buChar char="•"/>
            </a:pPr>
            <a:r>
              <a:rPr lang="en-US" sz="2000" dirty="0"/>
              <a:t>These binary features quantify complaint and urgency patterns.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2C0F8-C43F-46C6-955E-238487E82F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C7BD0B-C6E6-2899-2ADC-D0D191A3EBB0}"/>
              </a:ext>
            </a:extLst>
          </p:cNvPr>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2ED8A728-8F0B-DC06-A755-5D3771208E5A}"/>
              </a:ext>
            </a:extLst>
          </p:cNvPr>
          <p:cNvSpPr/>
          <p:nvPr/>
        </p:nvSpPr>
        <p:spPr>
          <a:xfrm>
            <a:off x="762000" y="3314700"/>
            <a:ext cx="5257800" cy="5943600"/>
          </a:xfrm>
          <a:custGeom>
            <a:avLst/>
            <a:gdLst/>
            <a:ahLst/>
            <a:cxnLst/>
            <a:rect l="l" t="t" r="r" b="b"/>
            <a:pathLst>
              <a:path w="6730928" h="5751884">
                <a:moveTo>
                  <a:pt x="0" y="0"/>
                </a:moveTo>
                <a:lnTo>
                  <a:pt x="6730928" y="0"/>
                </a:lnTo>
                <a:lnTo>
                  <a:pt x="6730928" y="5751884"/>
                </a:lnTo>
                <a:lnTo>
                  <a:pt x="0" y="57518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FF2B5EF4-FFF2-40B4-BE49-F238E27FC236}">
                <a16:creationId xmlns:a16="http://schemas.microsoft.com/office/drawing/2014/main" id="{1CAF28A2-4D5A-3DC0-BE28-FA01F4133FD9}"/>
              </a:ext>
            </a:extLst>
          </p:cNvPr>
          <p:cNvSpPr/>
          <p:nvPr/>
        </p:nvSpPr>
        <p:spPr>
          <a:xfrm>
            <a:off x="6324600" y="9593933"/>
            <a:ext cx="729305" cy="566206"/>
          </a:xfrm>
          <a:custGeom>
            <a:avLst/>
            <a:gdLst/>
            <a:ahLst/>
            <a:cxnLst/>
            <a:rect l="l" t="t" r="r" b="b"/>
            <a:pathLst>
              <a:path w="729305" h="566206">
                <a:moveTo>
                  <a:pt x="0" y="0"/>
                </a:moveTo>
                <a:lnTo>
                  <a:pt x="729305" y="0"/>
                </a:lnTo>
                <a:lnTo>
                  <a:pt x="729305" y="566207"/>
                </a:lnTo>
                <a:lnTo>
                  <a:pt x="0" y="5662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5" name="TextBox 5">
            <a:extLst>
              <a:ext uri="{FF2B5EF4-FFF2-40B4-BE49-F238E27FC236}">
                <a16:creationId xmlns:a16="http://schemas.microsoft.com/office/drawing/2014/main" id="{3709E98B-06DF-56EE-B0AA-F7FF85F7F856}"/>
              </a:ext>
            </a:extLst>
          </p:cNvPr>
          <p:cNvSpPr txBox="1"/>
          <p:nvPr/>
        </p:nvSpPr>
        <p:spPr>
          <a:xfrm>
            <a:off x="990600" y="1409700"/>
            <a:ext cx="10957733" cy="1032719"/>
          </a:xfrm>
          <a:prstGeom prst="rect">
            <a:avLst/>
          </a:prstGeom>
        </p:spPr>
        <p:txBody>
          <a:bodyPr wrap="square" lIns="0" tIns="0" rIns="0" bIns="0" rtlCol="0" anchor="t">
            <a:spAutoFit/>
          </a:bodyPr>
          <a:lstStyle/>
          <a:p>
            <a:pPr>
              <a:lnSpc>
                <a:spcPts val="7656"/>
              </a:lnSpc>
            </a:pPr>
            <a:r>
              <a:rPr lang="en-IN" sz="8800" dirty="0"/>
              <a:t>3. Data Preprocessing</a:t>
            </a:r>
            <a:endParaRPr lang="en-US" sz="8800" spc="-431" dirty="0">
              <a:solidFill>
                <a:srgbClr val="000000"/>
              </a:solidFill>
              <a:latin typeface="TT Interphases"/>
              <a:ea typeface="TT Interphases"/>
              <a:cs typeface="TT Interphases"/>
              <a:sym typeface="TT Interphases"/>
            </a:endParaRPr>
          </a:p>
        </p:txBody>
      </p:sp>
      <p:sp>
        <p:nvSpPr>
          <p:cNvPr id="11" name="Freeform 11">
            <a:extLst>
              <a:ext uri="{FF2B5EF4-FFF2-40B4-BE49-F238E27FC236}">
                <a16:creationId xmlns:a16="http://schemas.microsoft.com/office/drawing/2014/main" id="{D64D7BE2-CBD1-D0B0-C7A5-99ED3C0907B1}"/>
              </a:ext>
            </a:extLst>
          </p:cNvPr>
          <p:cNvSpPr/>
          <p:nvPr/>
        </p:nvSpPr>
        <p:spPr>
          <a:xfrm flipH="1" flipV="1">
            <a:off x="16230600" y="1577614"/>
            <a:ext cx="762000" cy="670285"/>
          </a:xfrm>
          <a:custGeom>
            <a:avLst/>
            <a:gdLst/>
            <a:ahLst/>
            <a:cxnLst/>
            <a:rect l="l" t="t" r="r" b="b"/>
            <a:pathLst>
              <a:path w="436681" h="339023">
                <a:moveTo>
                  <a:pt x="436681" y="339023"/>
                </a:moveTo>
                <a:lnTo>
                  <a:pt x="0" y="339023"/>
                </a:lnTo>
                <a:lnTo>
                  <a:pt x="0" y="0"/>
                </a:lnTo>
                <a:lnTo>
                  <a:pt x="436681" y="0"/>
                </a:lnTo>
                <a:lnTo>
                  <a:pt x="436681" y="339023"/>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7">
            <a:extLst>
              <a:ext uri="{FF2B5EF4-FFF2-40B4-BE49-F238E27FC236}">
                <a16:creationId xmlns:a16="http://schemas.microsoft.com/office/drawing/2014/main" id="{93CD0F4A-0D0F-1822-C45D-0F0F2E5DEC81}"/>
              </a:ext>
            </a:extLst>
          </p:cNvPr>
          <p:cNvSpPr txBox="1"/>
          <p:nvPr/>
        </p:nvSpPr>
        <p:spPr>
          <a:xfrm>
            <a:off x="6689252" y="2900958"/>
            <a:ext cx="11125200" cy="6771084"/>
          </a:xfrm>
          <a:prstGeom prst="rect">
            <a:avLst/>
          </a:prstGeom>
        </p:spPr>
        <p:txBody>
          <a:bodyPr wrap="square" lIns="0" tIns="0" rIns="0" bIns="0" rtlCol="0" anchor="t">
            <a:spAutoFit/>
          </a:bodyPr>
          <a:lstStyle/>
          <a:p>
            <a:pPr>
              <a:buFont typeface="Arial" panose="020B0604020202020204" pitchFamily="34" charset="0"/>
              <a:buChar char="•"/>
            </a:pPr>
            <a:r>
              <a:rPr lang="en-US" sz="2200" b="1" dirty="0"/>
              <a:t>Numeric Transformations:</a:t>
            </a:r>
            <a:endParaRPr lang="en-US" sz="2200" dirty="0"/>
          </a:p>
          <a:p>
            <a:pPr marL="742950" lvl="1" indent="-285750">
              <a:buFont typeface="Arial" panose="020B0604020202020204" pitchFamily="34" charset="0"/>
              <a:buChar char="•"/>
            </a:pPr>
            <a:r>
              <a:rPr lang="en-US" sz="2200" dirty="0"/>
              <a:t>Priority mapped numerically → </a:t>
            </a:r>
            <a:r>
              <a:rPr lang="en-US" sz="2200" dirty="0">
                <a:latin typeface="Courier New" panose="02070309020205020404" pitchFamily="49" charset="0"/>
              </a:rPr>
              <a:t>Low</a:t>
            </a:r>
            <a:r>
              <a:rPr lang="en-US" sz="2200" dirty="0"/>
              <a:t>=1, </a:t>
            </a:r>
            <a:r>
              <a:rPr lang="en-US" sz="2200" dirty="0">
                <a:latin typeface="Courier New" panose="02070309020205020404" pitchFamily="49" charset="0"/>
              </a:rPr>
              <a:t>Medium</a:t>
            </a:r>
            <a:r>
              <a:rPr lang="en-US" sz="2200" dirty="0"/>
              <a:t>=2, </a:t>
            </a:r>
            <a:r>
              <a:rPr lang="en-US" sz="2200" dirty="0">
                <a:latin typeface="Courier New" panose="02070309020205020404" pitchFamily="49" charset="0"/>
              </a:rPr>
              <a:t>High</a:t>
            </a:r>
            <a:r>
              <a:rPr lang="en-US" sz="2200" dirty="0"/>
              <a:t>=3, </a:t>
            </a:r>
            <a:r>
              <a:rPr lang="en-US" sz="2200" dirty="0">
                <a:latin typeface="Courier New" panose="02070309020205020404" pitchFamily="49" charset="0"/>
              </a:rPr>
              <a:t>Critical</a:t>
            </a:r>
            <a:r>
              <a:rPr lang="en-US" sz="2200" dirty="0"/>
              <a:t>=4.</a:t>
            </a:r>
          </a:p>
          <a:p>
            <a:pPr marL="742950" lvl="1" indent="-285750">
              <a:buFont typeface="Arial" panose="020B0604020202020204" pitchFamily="34" charset="0"/>
              <a:buChar char="•"/>
            </a:pPr>
            <a:r>
              <a:rPr lang="en-US" sz="2200" dirty="0"/>
              <a:t>Calculated </a:t>
            </a:r>
            <a:r>
              <a:rPr lang="en-US" sz="2200" dirty="0" err="1">
                <a:latin typeface="Courier New" panose="02070309020205020404" pitchFamily="49" charset="0"/>
              </a:rPr>
              <a:t>Urgency_Mismatch</a:t>
            </a:r>
            <a:r>
              <a:rPr lang="en-US" sz="2200" dirty="0">
                <a:latin typeface="Courier New" panose="02070309020205020404" pitchFamily="49" charset="0"/>
              </a:rPr>
              <a:t> = Response_Delay_Hours / </a:t>
            </a:r>
            <a:r>
              <a:rPr lang="en-US" sz="2200" dirty="0" err="1">
                <a:latin typeface="Courier New" panose="02070309020205020404" pitchFamily="49" charset="0"/>
              </a:rPr>
              <a:t>Priority_Num</a:t>
            </a:r>
            <a:r>
              <a:rPr lang="en-US" sz="2200" dirty="0"/>
              <a:t>.</a:t>
            </a:r>
          </a:p>
          <a:p>
            <a:pPr marL="742950" lvl="1" indent="-285750">
              <a:buFont typeface="Arial" panose="020B0604020202020204" pitchFamily="34" charset="0"/>
              <a:buChar char="•"/>
            </a:pPr>
            <a:r>
              <a:rPr lang="en-US" sz="2200" dirty="0"/>
              <a:t>Derived ratios and interaction metrics for deeper insights.</a:t>
            </a:r>
          </a:p>
          <a:p>
            <a:br>
              <a:rPr lang="en-US" sz="2200" dirty="0"/>
            </a:br>
            <a:endParaRPr lang="en-US" sz="2200" dirty="0"/>
          </a:p>
          <a:p>
            <a:pPr>
              <a:buFont typeface="Arial" panose="020B0604020202020204" pitchFamily="34" charset="0"/>
              <a:buChar char="•"/>
            </a:pPr>
            <a:r>
              <a:rPr lang="en-US" sz="2200" b="1" dirty="0"/>
              <a:t>Final Data Preparation:</a:t>
            </a:r>
            <a:endParaRPr lang="en-US" sz="2200" dirty="0"/>
          </a:p>
          <a:p>
            <a:pPr marL="742950" lvl="1" indent="-285750">
              <a:buFont typeface="Arial" panose="020B0604020202020204" pitchFamily="34" charset="0"/>
              <a:buChar char="•"/>
            </a:pPr>
            <a:r>
              <a:rPr lang="en-US" sz="2200" dirty="0"/>
              <a:t>Handled missing values by replacing them with </a:t>
            </a:r>
            <a:r>
              <a:rPr lang="en-US" sz="2200" b="1" dirty="0"/>
              <a:t>0</a:t>
            </a:r>
            <a:r>
              <a:rPr lang="en-US" sz="2200" dirty="0"/>
              <a:t>.</a:t>
            </a:r>
          </a:p>
          <a:p>
            <a:pPr marL="742950" lvl="1" indent="-285750">
              <a:buFont typeface="Arial" panose="020B0604020202020204" pitchFamily="34" charset="0"/>
              <a:buChar char="•"/>
            </a:pPr>
            <a:r>
              <a:rPr lang="en-US" sz="2200" dirty="0"/>
              <a:t>Applied </a:t>
            </a:r>
            <a:r>
              <a:rPr lang="en-US" sz="2200" b="1" dirty="0"/>
              <a:t>one-hot encoding</a:t>
            </a:r>
            <a:r>
              <a:rPr lang="en-US" sz="2200" dirty="0"/>
              <a:t> to categorical columns.</a:t>
            </a:r>
          </a:p>
          <a:p>
            <a:pPr marL="742950" lvl="1" indent="-285750">
              <a:buFont typeface="Arial" panose="020B0604020202020204" pitchFamily="34" charset="0"/>
              <a:buChar char="•"/>
            </a:pPr>
            <a:r>
              <a:rPr lang="en-US" sz="2200" dirty="0"/>
              <a:t>Created binary target variable:</a:t>
            </a:r>
          </a:p>
          <a:p>
            <a:pPr marL="1143000" lvl="2" indent="-228600">
              <a:buFont typeface="Arial" panose="020B0604020202020204" pitchFamily="34" charset="0"/>
              <a:buChar char="•"/>
            </a:pPr>
            <a:r>
              <a:rPr lang="en-US" sz="2200" b="1" dirty="0"/>
              <a:t>1 → Satisfied (rating &gt; 3)</a:t>
            </a:r>
            <a:endParaRPr lang="en-US" sz="2200" dirty="0"/>
          </a:p>
          <a:p>
            <a:pPr marL="1143000" lvl="2" indent="-228600">
              <a:buFont typeface="Arial" panose="020B0604020202020204" pitchFamily="34" charset="0"/>
              <a:buChar char="•"/>
            </a:pPr>
            <a:r>
              <a:rPr lang="en-US" sz="2200" b="1" dirty="0"/>
              <a:t>0 → Unsatisfied (rating ≤ 3)</a:t>
            </a:r>
            <a:endParaRPr lang="en-US" sz="2200" dirty="0"/>
          </a:p>
          <a:p>
            <a:br>
              <a:rPr lang="en-US" sz="2200" dirty="0"/>
            </a:br>
            <a:endParaRPr lang="en-US" sz="2200" dirty="0"/>
          </a:p>
          <a:p>
            <a:pPr>
              <a:buFont typeface="Arial" panose="020B0604020202020204" pitchFamily="34" charset="0"/>
              <a:buChar char="•"/>
            </a:pPr>
            <a:r>
              <a:rPr lang="en-US" sz="2200" b="1" dirty="0"/>
              <a:t>Final Output:</a:t>
            </a:r>
            <a:endParaRPr lang="en-US" sz="2200" dirty="0"/>
          </a:p>
          <a:p>
            <a:pPr marL="742950" lvl="1" indent="-285750">
              <a:buFont typeface="Arial" panose="020B0604020202020204" pitchFamily="34" charset="0"/>
              <a:buChar char="•"/>
            </a:pPr>
            <a:r>
              <a:rPr lang="en-US" sz="2200" dirty="0"/>
              <a:t>Clean, enriched dataset ready for modeling.</a:t>
            </a:r>
          </a:p>
          <a:p>
            <a:pPr marL="742950" lvl="1" indent="-285750">
              <a:buFont typeface="Arial" panose="020B0604020202020204" pitchFamily="34" charset="0"/>
              <a:buChar char="•"/>
            </a:pPr>
            <a:r>
              <a:rPr lang="en-US" sz="2200" dirty="0"/>
              <a:t>Contained </a:t>
            </a:r>
            <a:r>
              <a:rPr lang="en-US" sz="2200" b="1" dirty="0"/>
              <a:t>hundreds of engineered features</a:t>
            </a:r>
            <a:r>
              <a:rPr lang="en-US" sz="2200" dirty="0"/>
              <a:t> — combining numeric, categorical, sentiment, and text-derived insights to improve prediction accuracy.</a:t>
            </a:r>
          </a:p>
          <a:p>
            <a:pPr>
              <a:buFont typeface="Arial" panose="020B0604020202020204" pitchFamily="34" charset="0"/>
              <a:buChar char="•"/>
            </a:pPr>
            <a:endParaRPr lang="en-US" sz="2200" dirty="0"/>
          </a:p>
        </p:txBody>
      </p:sp>
    </p:spTree>
    <p:extLst>
      <p:ext uri="{BB962C8B-B14F-4D97-AF65-F5344CB8AC3E}">
        <p14:creationId xmlns:p14="http://schemas.microsoft.com/office/powerpoint/2010/main" val="637846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47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4738751"/>
            <a:ext cx="6515100" cy="4684332"/>
          </a:xfrm>
          <a:custGeom>
            <a:avLst/>
            <a:gdLst/>
            <a:ahLst/>
            <a:cxnLst/>
            <a:rect l="l" t="t" r="r" b="b"/>
            <a:pathLst>
              <a:path w="7434401" h="4636363">
                <a:moveTo>
                  <a:pt x="0" y="0"/>
                </a:moveTo>
                <a:lnTo>
                  <a:pt x="7434401" y="0"/>
                </a:lnTo>
                <a:lnTo>
                  <a:pt x="7434401" y="4636363"/>
                </a:lnTo>
                <a:lnTo>
                  <a:pt x="0" y="46363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4" name="Freeform 4"/>
          <p:cNvSpPr/>
          <p:nvPr/>
        </p:nvSpPr>
        <p:spPr>
          <a:xfrm>
            <a:off x="4446146" y="9204452"/>
            <a:ext cx="735454" cy="437261"/>
          </a:xfrm>
          <a:custGeom>
            <a:avLst/>
            <a:gdLst/>
            <a:ahLst/>
            <a:cxnLst/>
            <a:rect l="l" t="t" r="r" b="b"/>
            <a:pathLst>
              <a:path w="735454" h="437261">
                <a:moveTo>
                  <a:pt x="0" y="0"/>
                </a:moveTo>
                <a:lnTo>
                  <a:pt x="735454" y="0"/>
                </a:lnTo>
                <a:lnTo>
                  <a:pt x="735454" y="437261"/>
                </a:lnTo>
                <a:lnTo>
                  <a:pt x="0" y="4372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876300" y="1218332"/>
            <a:ext cx="15963900" cy="1032719"/>
          </a:xfrm>
          <a:prstGeom prst="rect">
            <a:avLst/>
          </a:prstGeom>
        </p:spPr>
        <p:txBody>
          <a:bodyPr wrap="square" lIns="0" tIns="0" rIns="0" bIns="0" rtlCol="0" anchor="t">
            <a:spAutoFit/>
          </a:bodyPr>
          <a:lstStyle/>
          <a:p>
            <a:pPr>
              <a:lnSpc>
                <a:spcPts val="7656"/>
              </a:lnSpc>
            </a:pPr>
            <a:r>
              <a:rPr lang="en-US" sz="8800" dirty="0"/>
              <a:t>4. Exploratory Data Analysis (EDA)</a:t>
            </a:r>
            <a:endParaRPr lang="en-US" sz="8800" spc="-431" dirty="0">
              <a:solidFill>
                <a:srgbClr val="000000"/>
              </a:solidFill>
              <a:latin typeface="TT Interphases"/>
              <a:ea typeface="TT Interphases"/>
              <a:cs typeface="TT Interphases"/>
              <a:sym typeface="TT Interphases"/>
            </a:endParaRPr>
          </a:p>
        </p:txBody>
      </p:sp>
      <p:sp>
        <p:nvSpPr>
          <p:cNvPr id="12" name="TextBox 11">
            <a:extLst>
              <a:ext uri="{FF2B5EF4-FFF2-40B4-BE49-F238E27FC236}">
                <a16:creationId xmlns:a16="http://schemas.microsoft.com/office/drawing/2014/main" id="{1A3054B7-11AA-EF22-A15A-5C7A7DFAF70B}"/>
              </a:ext>
            </a:extLst>
          </p:cNvPr>
          <p:cNvSpPr txBox="1"/>
          <p:nvPr/>
        </p:nvSpPr>
        <p:spPr>
          <a:xfrm>
            <a:off x="914400" y="2756237"/>
            <a:ext cx="6934200" cy="1554272"/>
          </a:xfrm>
          <a:prstGeom prst="rect">
            <a:avLst/>
          </a:prstGeom>
          <a:noFill/>
        </p:spPr>
        <p:txBody>
          <a:bodyPr wrap="square">
            <a:spAutoFit/>
          </a:bodyPr>
          <a:lstStyle/>
          <a:p>
            <a:r>
              <a:rPr kumimoji="0" lang="en-US" sz="1900" b="0" i="0" u="none" strike="noStrike" kern="1200" cap="none" spc="0" normalizeH="0" baseline="0" noProof="0" dirty="0">
                <a:ln>
                  <a:noFill/>
                </a:ln>
                <a:solidFill>
                  <a:prstClr val="black"/>
                </a:solidFill>
                <a:effectLst/>
                <a:uLnTx/>
                <a:uFillTx/>
                <a:latin typeface="Calibri"/>
                <a:ea typeface="+mn-ea"/>
                <a:cs typeface="+mn-cs"/>
              </a:rPr>
              <a:t>✨ </a:t>
            </a:r>
            <a:r>
              <a:rPr kumimoji="0" lang="en-US" sz="1900" b="1" i="0" u="none" strike="noStrike" kern="1200" cap="none" spc="0" normalizeH="0" baseline="0" noProof="0" dirty="0">
                <a:ln>
                  <a:noFill/>
                </a:ln>
                <a:solidFill>
                  <a:prstClr val="black"/>
                </a:solidFill>
                <a:effectLst/>
                <a:uLnTx/>
                <a:uFillTx/>
                <a:latin typeface="Calibri"/>
                <a:ea typeface="+mn-ea"/>
                <a:cs typeface="+mn-cs"/>
              </a:rPr>
              <a:t>Key Insight:</a:t>
            </a:r>
            <a:br>
              <a:rPr kumimoji="0" lang="en-US" sz="1900" b="0" i="0" u="none" strike="noStrike" kern="1200" cap="none" spc="0" normalizeH="0" baseline="0" noProof="0" dirty="0">
                <a:ln>
                  <a:noFill/>
                </a:ln>
                <a:solidFill>
                  <a:prstClr val="black"/>
                </a:solidFill>
                <a:effectLst/>
                <a:uLnTx/>
                <a:uFillTx/>
                <a:latin typeface="Calibri"/>
                <a:ea typeface="+mn-ea"/>
                <a:cs typeface="+mn-cs"/>
              </a:rPr>
            </a:br>
            <a:r>
              <a:rPr kumimoji="0" lang="en-US" sz="1900" b="0" i="0" u="none" strike="noStrike" kern="1200" cap="none" spc="0" normalizeH="0" baseline="0" noProof="0" dirty="0">
                <a:ln>
                  <a:noFill/>
                </a:ln>
                <a:solidFill>
                  <a:prstClr val="black"/>
                </a:solidFill>
                <a:effectLst/>
                <a:uLnTx/>
                <a:uFillTx/>
                <a:latin typeface="Calibri"/>
                <a:ea typeface="+mn-ea"/>
                <a:cs typeface="+mn-cs"/>
              </a:rPr>
              <a:t>Most customer tickets come from working-age adults with balanced priority distribution across all channels. Satisfaction levels are spread evenly, suggesting improvement opportunities exist across all customer segments rather than a single problem area</a:t>
            </a:r>
            <a:endParaRPr lang="en-IN" sz="1900" dirty="0"/>
          </a:p>
        </p:txBody>
      </p:sp>
      <p:sp>
        <p:nvSpPr>
          <p:cNvPr id="16" name="TextBox 15">
            <a:extLst>
              <a:ext uri="{FF2B5EF4-FFF2-40B4-BE49-F238E27FC236}">
                <a16:creationId xmlns:a16="http://schemas.microsoft.com/office/drawing/2014/main" id="{ACA0DFF4-8E67-8A17-3A4A-27B0E90CB331}"/>
              </a:ext>
            </a:extLst>
          </p:cNvPr>
          <p:cNvSpPr txBox="1"/>
          <p:nvPr/>
        </p:nvSpPr>
        <p:spPr>
          <a:xfrm>
            <a:off x="8534402" y="2675364"/>
            <a:ext cx="9144000" cy="7478970"/>
          </a:xfrm>
          <a:prstGeom prst="rect">
            <a:avLst/>
          </a:prstGeom>
          <a:noFill/>
        </p:spPr>
        <p:txBody>
          <a:bodyPr wrap="square">
            <a:spAutoFit/>
          </a:bodyPr>
          <a:lstStyle/>
          <a:p>
            <a:pPr>
              <a:buFont typeface="Arial" panose="020B0604020202020204" pitchFamily="34" charset="0"/>
              <a:buChar char="•"/>
            </a:pPr>
            <a:r>
              <a:rPr lang="en-US" sz="2000" b="1" dirty="0"/>
              <a:t>Customer Satisfaction Ratings:</a:t>
            </a:r>
            <a:endParaRPr lang="en-US" sz="2000" dirty="0"/>
          </a:p>
          <a:p>
            <a:pPr marL="742950" lvl="1" indent="-285750">
              <a:buFont typeface="Arial" panose="020B0604020202020204" pitchFamily="34" charset="0"/>
              <a:buChar char="•"/>
            </a:pPr>
            <a:r>
              <a:rPr lang="en-US" sz="2000" dirty="0"/>
              <a:t>Ratings are </a:t>
            </a:r>
            <a:r>
              <a:rPr lang="en-US" sz="2000" b="1" dirty="0"/>
              <a:t>evenly distributed</a:t>
            </a:r>
            <a:r>
              <a:rPr lang="en-US" sz="2000" dirty="0"/>
              <a:t> across all levels (1 to 5).</a:t>
            </a:r>
          </a:p>
          <a:p>
            <a:pPr marL="742950" lvl="1" indent="-285750">
              <a:buFont typeface="Arial" panose="020B0604020202020204" pitchFamily="34" charset="0"/>
              <a:buChar char="•"/>
            </a:pPr>
            <a:r>
              <a:rPr lang="en-US" sz="2000" dirty="0"/>
              <a:t>Each satisfaction category holds around </a:t>
            </a:r>
            <a:r>
              <a:rPr lang="en-US" sz="2000" b="1" dirty="0"/>
              <a:t>19–21%</a:t>
            </a:r>
            <a:r>
              <a:rPr lang="en-US" sz="2000" dirty="0"/>
              <a:t> of total responses.</a:t>
            </a:r>
          </a:p>
          <a:p>
            <a:pPr marL="742950" lvl="1" indent="-285750">
              <a:buFont typeface="Arial" panose="020B0604020202020204" pitchFamily="34" charset="0"/>
              <a:buChar char="•"/>
            </a:pPr>
            <a:r>
              <a:rPr lang="en-US" sz="2000" dirty="0"/>
              <a:t>Slightly higher proportion of customers rated </a:t>
            </a:r>
            <a:r>
              <a:rPr lang="en-US" sz="2000" b="1" dirty="0"/>
              <a:t>3 (20.95%)</a:t>
            </a:r>
            <a:r>
              <a:rPr lang="en-US" sz="2000" dirty="0"/>
              <a:t>, indicating moderate satisfaction is most common.</a:t>
            </a:r>
          </a:p>
          <a:p>
            <a:pPr>
              <a:buFont typeface="Arial" panose="020B0604020202020204" pitchFamily="34" charset="0"/>
              <a:buChar char="•"/>
            </a:pPr>
            <a:r>
              <a:rPr lang="en-US" sz="2000" b="1" dirty="0"/>
              <a:t>Customer Age Distribution:</a:t>
            </a:r>
            <a:endParaRPr lang="en-US" sz="2000" dirty="0"/>
          </a:p>
          <a:p>
            <a:pPr marL="742950" lvl="1" indent="-285750">
              <a:buFont typeface="Arial" panose="020B0604020202020204" pitchFamily="34" charset="0"/>
              <a:buChar char="•"/>
            </a:pPr>
            <a:r>
              <a:rPr lang="en-US" sz="2000" dirty="0"/>
              <a:t>Customer ages range from </a:t>
            </a:r>
            <a:r>
              <a:rPr lang="en-US" sz="2000" b="1" dirty="0"/>
              <a:t>18 to 70 years</a:t>
            </a:r>
            <a:r>
              <a:rPr lang="en-US" sz="2000" dirty="0"/>
              <a:t>.</a:t>
            </a:r>
          </a:p>
          <a:p>
            <a:pPr marL="742950" lvl="1" indent="-285750">
              <a:buFont typeface="Arial" panose="020B0604020202020204" pitchFamily="34" charset="0"/>
              <a:buChar char="•"/>
            </a:pPr>
            <a:r>
              <a:rPr lang="en-US" sz="2000" dirty="0"/>
              <a:t>Most customers fall in the </a:t>
            </a:r>
            <a:r>
              <a:rPr lang="en-US" sz="2000" b="1" dirty="0"/>
              <a:t>30–60 age range</a:t>
            </a:r>
            <a:r>
              <a:rPr lang="en-US" sz="2000" dirty="0"/>
              <a:t>, showing active working-age users dominate support interactions.</a:t>
            </a:r>
          </a:p>
          <a:p>
            <a:pPr marL="742950" lvl="1" indent="-285750">
              <a:buFont typeface="Arial" panose="020B0604020202020204" pitchFamily="34" charset="0"/>
              <a:buChar char="•"/>
            </a:pPr>
            <a:r>
              <a:rPr lang="en-US" sz="2000" dirty="0"/>
              <a:t>Age-group segmentation shows:</a:t>
            </a:r>
          </a:p>
          <a:p>
            <a:pPr marL="1143000" lvl="2" indent="-228600">
              <a:buFont typeface="Arial" panose="020B0604020202020204" pitchFamily="34" charset="0"/>
              <a:buChar char="•"/>
            </a:pPr>
            <a:r>
              <a:rPr lang="en-US" sz="2000" b="1" dirty="0"/>
              <a:t>Working Age:</a:t>
            </a:r>
            <a:r>
              <a:rPr lang="en-US" sz="2000" dirty="0"/>
              <a:t> 47.24%</a:t>
            </a:r>
          </a:p>
          <a:p>
            <a:pPr marL="1143000" lvl="2" indent="-228600">
              <a:buFont typeface="Arial" panose="020B0604020202020204" pitchFamily="34" charset="0"/>
              <a:buChar char="•"/>
            </a:pPr>
            <a:r>
              <a:rPr lang="en-US" sz="2000" b="1" dirty="0"/>
              <a:t>Older Adult:</a:t>
            </a:r>
            <a:r>
              <a:rPr lang="en-US" sz="2000" dirty="0"/>
              <a:t> 38.68%</a:t>
            </a:r>
          </a:p>
          <a:p>
            <a:pPr marL="1143000" lvl="2" indent="-228600">
              <a:buFont typeface="Arial" panose="020B0604020202020204" pitchFamily="34" charset="0"/>
              <a:buChar char="•"/>
            </a:pPr>
            <a:r>
              <a:rPr lang="en-US" sz="2000" b="1" dirty="0"/>
              <a:t>Youth:</a:t>
            </a:r>
            <a:r>
              <a:rPr lang="en-US" sz="2000" dirty="0"/>
              <a:t> 12.10%</a:t>
            </a:r>
          </a:p>
          <a:p>
            <a:pPr marL="1143000" lvl="2" indent="-228600">
              <a:buFont typeface="Arial" panose="020B0604020202020204" pitchFamily="34" charset="0"/>
              <a:buChar char="•"/>
            </a:pPr>
            <a:r>
              <a:rPr lang="en-US" sz="2000" b="1" dirty="0"/>
              <a:t>Child:</a:t>
            </a:r>
            <a:r>
              <a:rPr lang="en-US" sz="2000" dirty="0"/>
              <a:t> 1.99%</a:t>
            </a:r>
          </a:p>
          <a:p>
            <a:pPr>
              <a:buFont typeface="Arial" panose="020B0604020202020204" pitchFamily="34" charset="0"/>
              <a:buChar char="•"/>
            </a:pPr>
            <a:r>
              <a:rPr lang="en-US" sz="2000" b="1" dirty="0"/>
              <a:t>Ticket Channel Analysis:</a:t>
            </a:r>
            <a:endParaRPr lang="en-US" sz="2000" dirty="0"/>
          </a:p>
          <a:p>
            <a:pPr marL="742950" lvl="1" indent="-285750">
              <a:buFont typeface="Arial" panose="020B0604020202020204" pitchFamily="34" charset="0"/>
              <a:buChar char="•"/>
            </a:pPr>
            <a:r>
              <a:rPr lang="en-US" sz="2000" dirty="0"/>
              <a:t>Major communication channels: </a:t>
            </a:r>
            <a:r>
              <a:rPr lang="en-US" sz="2000" b="1" dirty="0"/>
              <a:t>Social Media, Email, Phone, and Chat</a:t>
            </a:r>
            <a:r>
              <a:rPr lang="en-US" sz="2000" dirty="0"/>
              <a:t>.</a:t>
            </a:r>
          </a:p>
          <a:p>
            <a:pPr marL="742950" lvl="1" indent="-285750">
              <a:buFont typeface="Arial" panose="020B0604020202020204" pitchFamily="34" charset="0"/>
              <a:buChar char="•"/>
            </a:pPr>
            <a:r>
              <a:rPr lang="en-US" sz="2000" dirty="0"/>
              <a:t>All channels show nearly equal usage, with Email slightly leading.</a:t>
            </a:r>
          </a:p>
          <a:p>
            <a:pPr marL="742950" lvl="1" indent="-285750">
              <a:buFont typeface="Arial" panose="020B0604020202020204" pitchFamily="34" charset="0"/>
              <a:buChar char="•"/>
            </a:pPr>
            <a:r>
              <a:rPr lang="en-US" sz="2000" dirty="0"/>
              <a:t>Distribution by priority level:</a:t>
            </a:r>
          </a:p>
          <a:p>
            <a:pPr marL="1143000" lvl="2" indent="-228600">
              <a:buFont typeface="Arial" panose="020B0604020202020204" pitchFamily="34" charset="0"/>
              <a:buChar char="•"/>
            </a:pPr>
            <a:r>
              <a:rPr lang="en-US" sz="2000" b="1" dirty="0"/>
              <a:t>Low:</a:t>
            </a:r>
            <a:r>
              <a:rPr lang="en-US" sz="2000" dirty="0"/>
              <a:t> 23.26%</a:t>
            </a:r>
          </a:p>
          <a:p>
            <a:pPr marL="1143000" lvl="2" indent="-228600">
              <a:buFont typeface="Arial" panose="020B0604020202020204" pitchFamily="34" charset="0"/>
              <a:buChar char="•"/>
            </a:pPr>
            <a:r>
              <a:rPr lang="en-US" sz="2000" b="1" dirty="0"/>
              <a:t>Medium:</a:t>
            </a:r>
            <a:r>
              <a:rPr lang="en-US" sz="2000" dirty="0"/>
              <a:t> 25.06%</a:t>
            </a:r>
          </a:p>
          <a:p>
            <a:pPr marL="1143000" lvl="2" indent="-228600">
              <a:buFont typeface="Arial" panose="020B0604020202020204" pitchFamily="34" charset="0"/>
              <a:buChar char="•"/>
            </a:pPr>
            <a:r>
              <a:rPr lang="en-US" sz="2000" b="1" dirty="0"/>
              <a:t>High:</a:t>
            </a:r>
            <a:r>
              <a:rPr lang="en-US" sz="2000" dirty="0"/>
              <a:t> 25.46%</a:t>
            </a:r>
          </a:p>
          <a:p>
            <a:pPr marL="1143000" lvl="2" indent="-228600">
              <a:buFont typeface="Arial" panose="020B0604020202020204" pitchFamily="34" charset="0"/>
              <a:buChar char="•"/>
            </a:pPr>
            <a:r>
              <a:rPr lang="en-US" sz="2000" b="1" dirty="0"/>
              <a:t>Critical:</a:t>
            </a:r>
            <a:r>
              <a:rPr lang="en-US" sz="2000" dirty="0"/>
              <a:t> 26.22%</a:t>
            </a:r>
          </a:p>
          <a:p>
            <a:pPr marL="742950" lvl="1" indent="-285750">
              <a:buFont typeface="Arial" panose="020B0604020202020204" pitchFamily="34" charset="0"/>
              <a:buChar char="•"/>
            </a:pPr>
            <a:r>
              <a:rPr lang="en-US" sz="2000" dirty="0"/>
              <a:t>Indicates balanced handling of tickets across different priority levels.</a:t>
            </a:r>
          </a:p>
          <a:p>
            <a:pPr>
              <a:buNone/>
            </a:pP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DE84116-68FC-042C-FB03-D42F772B1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89769"/>
            <a:ext cx="921067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064F87F-A68E-0CDB-071F-196330C91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2150" y="266700"/>
            <a:ext cx="8096250" cy="44767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3C65D51-F6E0-D290-FB04-638835A94E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432" y="5437853"/>
            <a:ext cx="926782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C9F43E5-27A7-E508-5426-D165FB78FE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9547" y="5157019"/>
            <a:ext cx="8007453"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701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F3E9-DEC4-8266-D7F7-002535C8EA0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787D35-F1F7-B310-2B2F-0E96A5424185}"/>
              </a:ext>
            </a:extLst>
          </p:cNvPr>
          <p:cNvSpPr/>
          <p:nvPr/>
        </p:nvSpPr>
        <p:spPr>
          <a:xfrm>
            <a:off x="1028700" y="647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4">
            <a:extLst>
              <a:ext uri="{FF2B5EF4-FFF2-40B4-BE49-F238E27FC236}">
                <a16:creationId xmlns:a16="http://schemas.microsoft.com/office/drawing/2014/main" id="{B725C2A2-9F19-551C-3F67-B8C63EE8D86D}"/>
              </a:ext>
            </a:extLst>
          </p:cNvPr>
          <p:cNvSpPr txBox="1"/>
          <p:nvPr/>
        </p:nvSpPr>
        <p:spPr>
          <a:xfrm>
            <a:off x="762000" y="2095500"/>
            <a:ext cx="7696200" cy="7540526"/>
          </a:xfrm>
          <a:prstGeom prst="rect">
            <a:avLst/>
          </a:prstGeom>
          <a:noFill/>
        </p:spPr>
        <p:txBody>
          <a:bodyPr wrap="square">
            <a:spAutoFit/>
          </a:bodyPr>
          <a:lstStyle/>
          <a:p>
            <a:pPr>
              <a:buNone/>
            </a:pPr>
            <a:r>
              <a:rPr lang="en-US" sz="2200" b="1" dirty="0"/>
              <a:t>🎯 Ticket Priority Distribution</a:t>
            </a:r>
          </a:p>
          <a:p>
            <a:pPr>
              <a:buFont typeface="Arial" panose="020B0604020202020204" pitchFamily="34" charset="0"/>
              <a:buChar char="•"/>
            </a:pPr>
            <a:r>
              <a:rPr lang="en-US" sz="2200" dirty="0"/>
              <a:t>Ticket priorities are well-balanced across all levels:</a:t>
            </a:r>
          </a:p>
          <a:p>
            <a:pPr marL="742950" lvl="1" indent="-285750">
              <a:buFont typeface="Arial" panose="020B0604020202020204" pitchFamily="34" charset="0"/>
              <a:buChar char="•"/>
            </a:pPr>
            <a:r>
              <a:rPr lang="en-US" sz="2200" b="1" dirty="0"/>
              <a:t>Low:</a:t>
            </a:r>
            <a:r>
              <a:rPr lang="en-US" sz="2200" dirty="0"/>
              <a:t> 23.26%</a:t>
            </a:r>
          </a:p>
          <a:p>
            <a:pPr marL="742950" lvl="1" indent="-285750">
              <a:buFont typeface="Arial" panose="020B0604020202020204" pitchFamily="34" charset="0"/>
              <a:buChar char="•"/>
            </a:pPr>
            <a:r>
              <a:rPr lang="en-US" sz="2200" b="1" dirty="0"/>
              <a:t>Medium:</a:t>
            </a:r>
            <a:r>
              <a:rPr lang="en-US" sz="2200" dirty="0"/>
              <a:t> 25.06%</a:t>
            </a:r>
          </a:p>
          <a:p>
            <a:pPr marL="742950" lvl="1" indent="-285750">
              <a:buFont typeface="Arial" panose="020B0604020202020204" pitchFamily="34" charset="0"/>
              <a:buChar char="•"/>
            </a:pPr>
            <a:r>
              <a:rPr lang="en-US" sz="2200" b="1" dirty="0"/>
              <a:t>High:</a:t>
            </a:r>
            <a:r>
              <a:rPr lang="en-US" sz="2200" dirty="0"/>
              <a:t> 25.46%</a:t>
            </a:r>
          </a:p>
          <a:p>
            <a:pPr marL="742950" lvl="1" indent="-285750">
              <a:buFont typeface="Arial" panose="020B0604020202020204" pitchFamily="34" charset="0"/>
              <a:buChar char="•"/>
            </a:pPr>
            <a:r>
              <a:rPr lang="en-US" sz="2200" b="1" dirty="0"/>
              <a:t>Critical:</a:t>
            </a:r>
            <a:r>
              <a:rPr lang="en-US" sz="2200" dirty="0"/>
              <a:t> 26.22%</a:t>
            </a:r>
          </a:p>
          <a:p>
            <a:pPr>
              <a:buFont typeface="Arial" panose="020B0604020202020204" pitchFamily="34" charset="0"/>
              <a:buChar char="•"/>
            </a:pPr>
            <a:r>
              <a:rPr lang="en-US" sz="2200" dirty="0"/>
              <a:t>Slightly more tickets fall into the </a:t>
            </a:r>
            <a:r>
              <a:rPr lang="en-US" sz="2200" i="1" dirty="0"/>
              <a:t>Critical</a:t>
            </a:r>
            <a:r>
              <a:rPr lang="en-US" sz="2200" dirty="0"/>
              <a:t> category, implying many cases demand urgent attention.</a:t>
            </a:r>
          </a:p>
          <a:p>
            <a:pPr>
              <a:buFont typeface="Arial" panose="020B0604020202020204" pitchFamily="34" charset="0"/>
              <a:buChar char="•"/>
            </a:pPr>
            <a:r>
              <a:rPr lang="en-US" sz="2200" dirty="0"/>
              <a:t>This balance indicates that the support team manages a variety of ticket severities evenly.</a:t>
            </a:r>
          </a:p>
          <a:p>
            <a:endParaRPr lang="en-US" sz="2200" dirty="0"/>
          </a:p>
          <a:p>
            <a:pPr>
              <a:buNone/>
            </a:pPr>
            <a:r>
              <a:rPr lang="en-US" sz="2200" b="1" dirty="0"/>
              <a:t>💬 Ticket Subject Analysis</a:t>
            </a:r>
          </a:p>
          <a:p>
            <a:pPr>
              <a:buFont typeface="Arial" panose="020B0604020202020204" pitchFamily="34" charset="0"/>
              <a:buChar char="•"/>
            </a:pPr>
            <a:r>
              <a:rPr lang="en-US" sz="2200" dirty="0"/>
              <a:t>Top subjects include:</a:t>
            </a:r>
            <a:br>
              <a:rPr lang="en-US" sz="2200" dirty="0"/>
            </a:br>
            <a:r>
              <a:rPr lang="en-US" sz="2200" b="1" dirty="0"/>
              <a:t>Network problem</a:t>
            </a:r>
            <a:r>
              <a:rPr lang="en-US" sz="2200" dirty="0"/>
              <a:t>, </a:t>
            </a:r>
            <a:r>
              <a:rPr lang="en-US" sz="2200" b="1" dirty="0"/>
              <a:t>Software bug</a:t>
            </a:r>
            <a:r>
              <a:rPr lang="en-US" sz="2200" dirty="0"/>
              <a:t>, </a:t>
            </a:r>
            <a:r>
              <a:rPr lang="en-US" sz="2200" b="1" dirty="0"/>
              <a:t>Product compatibility</a:t>
            </a:r>
            <a:r>
              <a:rPr lang="en-US" sz="2200" dirty="0"/>
              <a:t>, and </a:t>
            </a:r>
            <a:r>
              <a:rPr lang="en-US" sz="2200" b="1" dirty="0"/>
              <a:t>Product recommendation</a:t>
            </a:r>
            <a:r>
              <a:rPr lang="en-US" sz="2200" dirty="0"/>
              <a:t>.</a:t>
            </a:r>
          </a:p>
          <a:p>
            <a:pPr>
              <a:buFont typeface="Arial" panose="020B0604020202020204" pitchFamily="34" charset="0"/>
              <a:buChar char="•"/>
            </a:pPr>
            <a:r>
              <a:rPr lang="en-US" sz="2200" dirty="0"/>
              <a:t>These reflect common technical and product-related issues faced by customers.</a:t>
            </a:r>
          </a:p>
          <a:p>
            <a:pPr>
              <a:buFont typeface="Arial" panose="020B0604020202020204" pitchFamily="34" charset="0"/>
              <a:buChar char="•"/>
            </a:pPr>
            <a:r>
              <a:rPr lang="en-US" sz="2200" dirty="0"/>
              <a:t>Subjects like </a:t>
            </a:r>
            <a:r>
              <a:rPr lang="en-US" sz="2200" b="1" dirty="0"/>
              <a:t>Data loss</a:t>
            </a:r>
            <a:r>
              <a:rPr lang="en-US" sz="2200" dirty="0"/>
              <a:t>, </a:t>
            </a:r>
            <a:r>
              <a:rPr lang="en-US" sz="2200" b="1" dirty="0"/>
              <a:t>Cancellation request</a:t>
            </a:r>
            <a:r>
              <a:rPr lang="en-US" sz="2200" dirty="0"/>
              <a:t>, and </a:t>
            </a:r>
            <a:r>
              <a:rPr lang="en-US" sz="2200" b="1" dirty="0"/>
              <a:t>Display issue</a:t>
            </a:r>
            <a:r>
              <a:rPr lang="en-US" sz="2200" dirty="0"/>
              <a:t> are comparatively less frequent.</a:t>
            </a:r>
          </a:p>
          <a:p>
            <a:pPr>
              <a:buNone/>
            </a:pPr>
            <a:r>
              <a:rPr lang="en-US" sz="2200" dirty="0"/>
              <a:t>✨ </a:t>
            </a:r>
            <a:r>
              <a:rPr lang="en-US" sz="2200" i="1" dirty="0"/>
              <a:t>Key takeaway:</a:t>
            </a:r>
            <a:r>
              <a:rPr lang="en-US" sz="2200" dirty="0"/>
              <a:t> Network and software-related issues dominate, suggesting frequent technical challenges.</a:t>
            </a:r>
          </a:p>
          <a:p>
            <a:pPr>
              <a:buNone/>
            </a:pPr>
            <a:endParaRPr lang="en-US" sz="2200" dirty="0"/>
          </a:p>
        </p:txBody>
      </p:sp>
      <p:sp>
        <p:nvSpPr>
          <p:cNvPr id="17" name="TextBox 16">
            <a:extLst>
              <a:ext uri="{FF2B5EF4-FFF2-40B4-BE49-F238E27FC236}">
                <a16:creationId xmlns:a16="http://schemas.microsoft.com/office/drawing/2014/main" id="{2CCD2653-C750-2A0A-9F70-5D55CD6D0BCC}"/>
              </a:ext>
            </a:extLst>
          </p:cNvPr>
          <p:cNvSpPr txBox="1"/>
          <p:nvPr/>
        </p:nvSpPr>
        <p:spPr>
          <a:xfrm>
            <a:off x="914400" y="952500"/>
            <a:ext cx="16962120" cy="830997"/>
          </a:xfrm>
          <a:prstGeom prst="rect">
            <a:avLst/>
          </a:prstGeom>
          <a:noFill/>
        </p:spPr>
        <p:txBody>
          <a:bodyPr wrap="square">
            <a:spAutoFit/>
          </a:bodyPr>
          <a:lstStyle/>
          <a:p>
            <a:r>
              <a:rPr lang="en-US" sz="4800" dirty="0"/>
              <a:t>5.Insights from EDA</a:t>
            </a:r>
            <a:endParaRPr lang="en-IN" sz="4800" dirty="0"/>
          </a:p>
        </p:txBody>
      </p:sp>
      <p:sp>
        <p:nvSpPr>
          <p:cNvPr id="4" name="TextBox 3">
            <a:extLst>
              <a:ext uri="{FF2B5EF4-FFF2-40B4-BE49-F238E27FC236}">
                <a16:creationId xmlns:a16="http://schemas.microsoft.com/office/drawing/2014/main" id="{251502BA-8BE7-DE3A-D4D9-9EBC18DFFA07}"/>
              </a:ext>
            </a:extLst>
          </p:cNvPr>
          <p:cNvSpPr txBox="1"/>
          <p:nvPr/>
        </p:nvSpPr>
        <p:spPr>
          <a:xfrm>
            <a:off x="9144000" y="1966623"/>
            <a:ext cx="9144000" cy="7879080"/>
          </a:xfrm>
          <a:prstGeom prst="rect">
            <a:avLst/>
          </a:prstGeom>
          <a:noFill/>
        </p:spPr>
        <p:txBody>
          <a:bodyPr wrap="square">
            <a:spAutoFit/>
          </a:bodyPr>
          <a:lstStyle/>
          <a:p>
            <a:pPr>
              <a:buNone/>
            </a:pPr>
            <a:r>
              <a:rPr lang="en-US" sz="2200" b="1" dirty="0"/>
              <a:t>🧾 Ticket Type Distribution</a:t>
            </a:r>
          </a:p>
          <a:p>
            <a:pPr>
              <a:buFont typeface="Arial" panose="020B0604020202020204" pitchFamily="34" charset="0"/>
              <a:buChar char="•"/>
            </a:pPr>
            <a:r>
              <a:rPr lang="en-US" sz="2200" dirty="0"/>
              <a:t>Major ticket types are:</a:t>
            </a:r>
          </a:p>
          <a:p>
            <a:pPr marL="742950" lvl="1" indent="-285750">
              <a:buFont typeface="Arial" panose="020B0604020202020204" pitchFamily="34" charset="0"/>
              <a:buChar char="•"/>
            </a:pPr>
            <a:r>
              <a:rPr lang="en-US" sz="2200" b="1" dirty="0"/>
              <a:t>Technical issue</a:t>
            </a:r>
            <a:endParaRPr lang="en-US" sz="2200" dirty="0"/>
          </a:p>
          <a:p>
            <a:pPr marL="742950" lvl="1" indent="-285750">
              <a:buFont typeface="Arial" panose="020B0604020202020204" pitchFamily="34" charset="0"/>
              <a:buChar char="•"/>
            </a:pPr>
            <a:r>
              <a:rPr lang="en-US" sz="2200" b="1" dirty="0"/>
              <a:t>Refund request</a:t>
            </a:r>
            <a:endParaRPr lang="en-US" sz="2200" dirty="0"/>
          </a:p>
          <a:p>
            <a:pPr marL="742950" lvl="1" indent="-285750">
              <a:buFont typeface="Arial" panose="020B0604020202020204" pitchFamily="34" charset="0"/>
              <a:buChar char="•"/>
            </a:pPr>
            <a:r>
              <a:rPr lang="en-US" sz="2200" b="1" dirty="0"/>
              <a:t>Billing inquiry</a:t>
            </a:r>
            <a:endParaRPr lang="en-US" sz="2200" dirty="0"/>
          </a:p>
          <a:p>
            <a:pPr marL="742950" lvl="1" indent="-285750">
              <a:buFont typeface="Arial" panose="020B0604020202020204" pitchFamily="34" charset="0"/>
              <a:buChar char="•"/>
            </a:pPr>
            <a:r>
              <a:rPr lang="en-US" sz="2200" b="1" dirty="0"/>
              <a:t>Product inquiry</a:t>
            </a:r>
            <a:endParaRPr lang="en-US" sz="2200" dirty="0"/>
          </a:p>
          <a:p>
            <a:pPr marL="742950" lvl="1" indent="-285750">
              <a:buFont typeface="Arial" panose="020B0604020202020204" pitchFamily="34" charset="0"/>
              <a:buChar char="•"/>
            </a:pPr>
            <a:r>
              <a:rPr lang="en-US" sz="2200" b="1" dirty="0"/>
              <a:t>Cancellation request</a:t>
            </a:r>
            <a:endParaRPr lang="en-US" sz="2200" dirty="0"/>
          </a:p>
          <a:p>
            <a:pPr>
              <a:buFont typeface="Arial" panose="020B0604020202020204" pitchFamily="34" charset="0"/>
              <a:buChar char="•"/>
            </a:pPr>
            <a:r>
              <a:rPr lang="en-US" sz="2200" dirty="0"/>
              <a:t>Counts are fairly uniform, with </a:t>
            </a:r>
            <a:r>
              <a:rPr lang="en-US" sz="2200" i="1" dirty="0"/>
              <a:t>Refund requests</a:t>
            </a:r>
            <a:r>
              <a:rPr lang="en-US" sz="2200" dirty="0"/>
              <a:t> being slightly higher.</a:t>
            </a:r>
          </a:p>
          <a:p>
            <a:pPr>
              <a:buFont typeface="Arial" panose="020B0604020202020204" pitchFamily="34" charset="0"/>
              <a:buChar char="•"/>
            </a:pPr>
            <a:r>
              <a:rPr lang="en-US" sz="2200" dirty="0"/>
              <a:t>Percentage-wise:</a:t>
            </a:r>
          </a:p>
          <a:p>
            <a:pPr marL="742950" lvl="1" indent="-285750">
              <a:buFont typeface="Arial" panose="020B0604020202020204" pitchFamily="34" charset="0"/>
              <a:buChar char="•"/>
            </a:pPr>
            <a:r>
              <a:rPr lang="en-US" sz="2200" dirty="0"/>
              <a:t>Refund Request: </a:t>
            </a:r>
            <a:r>
              <a:rPr lang="en-US" sz="2200" b="1" dirty="0"/>
              <a:t>21.52%</a:t>
            </a:r>
            <a:endParaRPr lang="en-US" sz="2200" dirty="0"/>
          </a:p>
          <a:p>
            <a:pPr marL="742950" lvl="1" indent="-285750">
              <a:buFont typeface="Arial" panose="020B0604020202020204" pitchFamily="34" charset="0"/>
              <a:buChar char="•"/>
            </a:pPr>
            <a:r>
              <a:rPr lang="en-US" sz="2200" dirty="0"/>
              <a:t>Technical Issue: </a:t>
            </a:r>
            <a:r>
              <a:rPr lang="en-US" sz="2200" b="1" dirty="0"/>
              <a:t>20.95%</a:t>
            </a:r>
            <a:endParaRPr lang="en-US" sz="2200" dirty="0"/>
          </a:p>
          <a:p>
            <a:pPr marL="742950" lvl="1" indent="-285750">
              <a:buFont typeface="Arial" panose="020B0604020202020204" pitchFamily="34" charset="0"/>
              <a:buChar char="•"/>
            </a:pPr>
            <a:r>
              <a:rPr lang="en-US" sz="2200" dirty="0"/>
              <a:t>Billing Inquiry: </a:t>
            </a:r>
            <a:r>
              <a:rPr lang="en-US" sz="2200" b="1" dirty="0"/>
              <a:t>19.65%</a:t>
            </a:r>
            <a:endParaRPr lang="en-US" sz="2200" dirty="0"/>
          </a:p>
          <a:p>
            <a:pPr marL="742950" lvl="1" indent="-285750">
              <a:buFont typeface="Arial" panose="020B0604020202020204" pitchFamily="34" charset="0"/>
              <a:buChar char="•"/>
            </a:pPr>
            <a:r>
              <a:rPr lang="en-US" sz="2200" dirty="0"/>
              <a:t>Product Inquiry: </a:t>
            </a:r>
            <a:r>
              <a:rPr lang="en-US" sz="2200" b="1" dirty="0"/>
              <a:t>19.25%</a:t>
            </a:r>
            <a:endParaRPr lang="en-US" sz="2200" dirty="0"/>
          </a:p>
          <a:p>
            <a:pPr marL="742950" lvl="1" indent="-285750">
              <a:buFont typeface="Arial" panose="020B0604020202020204" pitchFamily="34" charset="0"/>
              <a:buChar char="•"/>
            </a:pPr>
            <a:r>
              <a:rPr lang="en-US" sz="2200" dirty="0"/>
              <a:t>Cancellation Request: </a:t>
            </a:r>
            <a:r>
              <a:rPr lang="en-US" sz="2200" b="1" dirty="0"/>
              <a:t>18.63%</a:t>
            </a:r>
            <a:endParaRPr lang="en-US" sz="2200" dirty="0"/>
          </a:p>
          <a:p>
            <a:pPr>
              <a:buNone/>
            </a:pPr>
            <a:r>
              <a:rPr lang="en-US" sz="2200" dirty="0"/>
              <a:t>📌 </a:t>
            </a:r>
            <a:r>
              <a:rPr lang="en-US" sz="2200" i="1" dirty="0"/>
              <a:t>Insight:</a:t>
            </a:r>
            <a:r>
              <a:rPr lang="en-US" sz="2200" dirty="0"/>
              <a:t> Most interactions are transaction- or product-related, implying the need for clearer purchase/refund processes.</a:t>
            </a:r>
          </a:p>
          <a:p>
            <a:pPr>
              <a:buNone/>
            </a:pPr>
            <a:endParaRPr lang="en-US" sz="2200" dirty="0"/>
          </a:p>
          <a:p>
            <a:pPr>
              <a:buNone/>
            </a:pPr>
            <a:r>
              <a:rPr lang="en-US" sz="2200" b="1" dirty="0"/>
              <a:t>🧍‍♂️ Customer Gender Distribution</a:t>
            </a:r>
          </a:p>
          <a:p>
            <a:pPr>
              <a:buFont typeface="Arial" panose="020B0604020202020204" pitchFamily="34" charset="0"/>
              <a:buChar char="•"/>
            </a:pPr>
            <a:r>
              <a:rPr lang="en-US" sz="2200" dirty="0"/>
              <a:t>Customer base is evenly spread:</a:t>
            </a:r>
          </a:p>
          <a:p>
            <a:pPr marL="742950" lvl="1" indent="-285750">
              <a:buFont typeface="Arial" panose="020B0604020202020204" pitchFamily="34" charset="0"/>
              <a:buChar char="•"/>
            </a:pPr>
            <a:r>
              <a:rPr lang="en-US" sz="2200" b="1" dirty="0"/>
              <a:t>Female:</a:t>
            </a:r>
            <a:r>
              <a:rPr lang="en-US" sz="2200" dirty="0"/>
              <a:t> Slightly higher participation.</a:t>
            </a:r>
          </a:p>
          <a:p>
            <a:pPr marL="742950" lvl="1" indent="-285750">
              <a:buFont typeface="Arial" panose="020B0604020202020204" pitchFamily="34" charset="0"/>
              <a:buChar char="•"/>
            </a:pPr>
            <a:r>
              <a:rPr lang="en-US" sz="2200" b="1" dirty="0"/>
              <a:t>Male</a:t>
            </a:r>
            <a:r>
              <a:rPr lang="en-US" sz="2200" dirty="0"/>
              <a:t> and </a:t>
            </a:r>
            <a:r>
              <a:rPr lang="en-US" sz="2200" b="1" dirty="0"/>
              <a:t>Other</a:t>
            </a:r>
            <a:r>
              <a:rPr lang="en-US" sz="2200" dirty="0"/>
              <a:t> categories follow closely.</a:t>
            </a:r>
          </a:p>
          <a:p>
            <a:pPr>
              <a:buFont typeface="Arial" panose="020B0604020202020204" pitchFamily="34" charset="0"/>
              <a:buChar char="•"/>
            </a:pPr>
            <a:r>
              <a:rPr lang="en-US" sz="2200" dirty="0"/>
              <a:t>No major gender bias observed — customer service engagement is balanced.</a:t>
            </a:r>
          </a:p>
          <a:p>
            <a:pPr>
              <a:buNone/>
            </a:pPr>
            <a:endParaRPr lang="en-US" sz="2200" dirty="0"/>
          </a:p>
        </p:txBody>
      </p:sp>
    </p:spTree>
    <p:extLst>
      <p:ext uri="{BB962C8B-B14F-4D97-AF65-F5344CB8AC3E}">
        <p14:creationId xmlns:p14="http://schemas.microsoft.com/office/powerpoint/2010/main" val="1136504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23BB3BA-5B26-F7C2-0EAD-15FBCCF10B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76250"/>
            <a:ext cx="8153400" cy="4667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97A1DB7-75D4-C0B3-E61C-F4E2D4B21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114300"/>
            <a:ext cx="9420225" cy="5619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314BD79-DF47-16B1-2162-FD517D9E39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5687067"/>
            <a:ext cx="9420225" cy="446228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a:extLst>
              <a:ext uri="{FF2B5EF4-FFF2-40B4-BE49-F238E27FC236}">
                <a16:creationId xmlns:a16="http://schemas.microsoft.com/office/drawing/2014/main" id="{9898A01F-B610-47B1-F71A-29D5930337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01225" y="5796731"/>
            <a:ext cx="8181975"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584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A658D-053E-6344-034E-5AC265D4C6F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9765A9-2C7D-14FF-1D5C-4F1B01691B07}"/>
              </a:ext>
            </a:extLst>
          </p:cNvPr>
          <p:cNvSpPr/>
          <p:nvPr/>
        </p:nvSpPr>
        <p:spPr>
          <a:xfrm>
            <a:off x="1028700" y="647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4">
            <a:extLst>
              <a:ext uri="{FF2B5EF4-FFF2-40B4-BE49-F238E27FC236}">
                <a16:creationId xmlns:a16="http://schemas.microsoft.com/office/drawing/2014/main" id="{CE0550B5-8525-AEEB-8D84-D82AFD48E3E2}"/>
              </a:ext>
            </a:extLst>
          </p:cNvPr>
          <p:cNvSpPr txBox="1"/>
          <p:nvPr/>
        </p:nvSpPr>
        <p:spPr>
          <a:xfrm>
            <a:off x="762000" y="2095500"/>
            <a:ext cx="8382000" cy="8894743"/>
          </a:xfrm>
          <a:prstGeom prst="rect">
            <a:avLst/>
          </a:prstGeom>
          <a:noFill/>
        </p:spPr>
        <p:txBody>
          <a:bodyPr wrap="square">
            <a:spAutoFit/>
          </a:bodyPr>
          <a:lstStyle/>
          <a:p>
            <a:pPr>
              <a:buNone/>
            </a:pPr>
            <a:r>
              <a:rPr lang="en-US" sz="2200" b="1" dirty="0"/>
              <a:t>📆 Monthly Ticket Trends (2020–2021)</a:t>
            </a:r>
          </a:p>
          <a:p>
            <a:pPr>
              <a:buFont typeface="Arial" panose="020B0604020202020204" pitchFamily="34" charset="0"/>
              <a:buChar char="•"/>
            </a:pPr>
            <a:r>
              <a:rPr lang="en-US" sz="2200" dirty="0"/>
              <a:t>Ticket volumes remain consistent across months, ranging around 100–150 per month.</a:t>
            </a:r>
          </a:p>
          <a:p>
            <a:pPr>
              <a:buFont typeface="Arial" panose="020B0604020202020204" pitchFamily="34" charset="0"/>
              <a:buChar char="•"/>
            </a:pPr>
            <a:r>
              <a:rPr lang="en-US" sz="2200" dirty="0"/>
              <a:t>2021 follows a similar pattern to 2020, showing </a:t>
            </a:r>
            <a:r>
              <a:rPr lang="en-US" sz="2200" b="1" dirty="0"/>
              <a:t>steady customer engagement</a:t>
            </a:r>
            <a:r>
              <a:rPr lang="en-US" sz="2200" dirty="0"/>
              <a:t>.</a:t>
            </a:r>
          </a:p>
          <a:p>
            <a:pPr>
              <a:buFont typeface="Arial" panose="020B0604020202020204" pitchFamily="34" charset="0"/>
              <a:buChar char="•"/>
            </a:pPr>
            <a:r>
              <a:rPr lang="en-US" sz="2200" dirty="0"/>
              <a:t>No strong seasonal trend observed — tickets are evenly distributed throughout the year.</a:t>
            </a:r>
          </a:p>
          <a:p>
            <a:pPr>
              <a:buNone/>
            </a:pPr>
            <a:endParaRPr lang="en-US" sz="2200" dirty="0"/>
          </a:p>
          <a:p>
            <a:pPr>
              <a:buNone/>
            </a:pPr>
            <a:r>
              <a:rPr lang="en-US" sz="2200" b="1" dirty="0"/>
              <a:t>🌐 Ticket Channel Insights</a:t>
            </a:r>
          </a:p>
          <a:p>
            <a:pPr>
              <a:buFont typeface="Arial" panose="020B0604020202020204" pitchFamily="34" charset="0"/>
              <a:buChar char="•"/>
            </a:pPr>
            <a:r>
              <a:rPr lang="en-US" sz="2200" dirty="0"/>
              <a:t>Four primary support channels: </a:t>
            </a:r>
            <a:r>
              <a:rPr lang="en-US" sz="2200" b="1" dirty="0"/>
              <a:t>Chat</a:t>
            </a:r>
            <a:r>
              <a:rPr lang="en-US" sz="2200" dirty="0"/>
              <a:t>, </a:t>
            </a:r>
            <a:r>
              <a:rPr lang="en-US" sz="2200" b="1" dirty="0"/>
              <a:t>Social Media</a:t>
            </a:r>
            <a:r>
              <a:rPr lang="en-US" sz="2200" dirty="0"/>
              <a:t>, </a:t>
            </a:r>
            <a:r>
              <a:rPr lang="en-US" sz="2200" b="1" dirty="0"/>
              <a:t>Email</a:t>
            </a:r>
            <a:r>
              <a:rPr lang="en-US" sz="2200" dirty="0"/>
              <a:t>, and </a:t>
            </a:r>
            <a:r>
              <a:rPr lang="en-US" sz="2200" b="1" dirty="0"/>
              <a:t>Phone</a:t>
            </a:r>
            <a:r>
              <a:rPr lang="en-US" sz="2200" dirty="0"/>
              <a:t>.</a:t>
            </a:r>
          </a:p>
          <a:p>
            <a:pPr>
              <a:buFont typeface="Arial" panose="020B0604020202020204" pitchFamily="34" charset="0"/>
              <a:buChar char="•"/>
            </a:pPr>
            <a:r>
              <a:rPr lang="en-US" sz="2200" dirty="0"/>
              <a:t>All channels have nearly equal usage; </a:t>
            </a:r>
            <a:r>
              <a:rPr lang="en-US" sz="2200" b="1" dirty="0"/>
              <a:t>Chat</a:t>
            </a:r>
            <a:r>
              <a:rPr lang="en-US" sz="2200" dirty="0"/>
              <a:t> and </a:t>
            </a:r>
            <a:r>
              <a:rPr lang="en-US" sz="2200" b="1" dirty="0"/>
              <a:t>Email</a:t>
            </a:r>
            <a:r>
              <a:rPr lang="en-US" sz="2200" dirty="0"/>
              <a:t> show slightly higher satisfaction.</a:t>
            </a:r>
          </a:p>
          <a:p>
            <a:pPr>
              <a:buFont typeface="Arial" panose="020B0604020202020204" pitchFamily="34" charset="0"/>
              <a:buChar char="•"/>
            </a:pPr>
            <a:r>
              <a:rPr lang="en-US" sz="2200" dirty="0"/>
              <a:t>Average satisfaction rating across channels hovers around </a:t>
            </a:r>
            <a:r>
              <a:rPr lang="en-US" sz="2200" b="1" dirty="0"/>
              <a:t>3.0</a:t>
            </a:r>
            <a:r>
              <a:rPr lang="en-US" sz="2200" dirty="0"/>
              <a:t>, indicating moderate satisfaction overall.</a:t>
            </a:r>
          </a:p>
          <a:p>
            <a:pPr>
              <a:buNone/>
            </a:pPr>
            <a:r>
              <a:rPr lang="en-US" sz="2200" dirty="0"/>
              <a:t>📊 </a:t>
            </a:r>
            <a:r>
              <a:rPr lang="en-US" sz="2200" i="1" dirty="0"/>
              <a:t>Observation:</a:t>
            </a:r>
            <a:r>
              <a:rPr lang="en-US" sz="2200" dirty="0"/>
              <a:t> Social media and chat platforms perform well for quick resolutions.</a:t>
            </a:r>
          </a:p>
          <a:p>
            <a:pPr>
              <a:buNone/>
            </a:pPr>
            <a:endParaRPr lang="en-US" sz="2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 Top 10 Purchased Products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Leading products include: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Canon EOS</a:t>
            </a: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1" i="0" u="none" strike="noStrike" kern="1200" cap="none" spc="0" normalizeH="0" baseline="0" noProof="0" dirty="0">
                <a:ln>
                  <a:noFill/>
                </a:ln>
                <a:solidFill>
                  <a:prstClr val="black"/>
                </a:solidFill>
                <a:effectLst/>
                <a:uLnTx/>
                <a:uFillTx/>
                <a:latin typeface="Calibri"/>
                <a:ea typeface="+mn-ea"/>
                <a:cs typeface="+mn-cs"/>
              </a:rPr>
              <a:t>iPhone</a:t>
            </a: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1" i="0" u="none" strike="noStrike" kern="1200" cap="none" spc="0" normalizeH="0" baseline="0" noProof="0" dirty="0">
                <a:ln>
                  <a:noFill/>
                </a:ln>
                <a:solidFill>
                  <a:prstClr val="black"/>
                </a:solidFill>
                <a:effectLst/>
                <a:uLnTx/>
                <a:uFillTx/>
                <a:latin typeface="Calibri"/>
                <a:ea typeface="+mn-ea"/>
                <a:cs typeface="+mn-cs"/>
              </a:rPr>
              <a:t>Canon DSLR Camera</a:t>
            </a: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1" i="0" u="none" strike="noStrike" kern="1200" cap="none" spc="0" normalizeH="0" baseline="0" noProof="0" dirty="0">
                <a:ln>
                  <a:noFill/>
                </a:ln>
                <a:solidFill>
                  <a:prstClr val="black"/>
                </a:solidFill>
                <a:effectLst/>
                <a:uLnTx/>
                <a:uFillTx/>
                <a:latin typeface="Calibri"/>
                <a:ea typeface="+mn-ea"/>
                <a:cs typeface="+mn-cs"/>
              </a:rPr>
              <a:t>GoPro Hero</a:t>
            </a:r>
            <a:r>
              <a:rPr kumimoji="0" lang="en-US" sz="2200" b="0" i="0" u="none" strike="noStrike" kern="1200" cap="none" spc="0" normalizeH="0" baseline="0" noProof="0" dirty="0">
                <a:ln>
                  <a:noFill/>
                </a:ln>
                <a:solidFill>
                  <a:prstClr val="black"/>
                </a:solidFill>
                <a:effectLst/>
                <a:uLnTx/>
                <a:uFillTx/>
                <a:latin typeface="Calibri"/>
                <a:ea typeface="+mn-ea"/>
                <a:cs typeface="+mn-cs"/>
              </a:rPr>
              <a:t>, and </a:t>
            </a:r>
            <a:r>
              <a:rPr kumimoji="0" lang="en-US" sz="2200" b="1" i="0" u="none" strike="noStrike" kern="1200" cap="none" spc="0" normalizeH="0" baseline="0" noProof="0" dirty="0">
                <a:ln>
                  <a:noFill/>
                </a:ln>
                <a:solidFill>
                  <a:prstClr val="black"/>
                </a:solidFill>
                <a:effectLst/>
                <a:uLnTx/>
                <a:uFillTx/>
                <a:latin typeface="Calibri"/>
                <a:ea typeface="+mn-ea"/>
                <a:cs typeface="+mn-cs"/>
              </a:rPr>
              <a:t>Microsoft Office</a:t>
            </a:r>
            <a:r>
              <a:rPr kumimoji="0" lang="en-US" sz="22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These represent a mix of hardware and software purchases — highlighting diverse customer interests.</a:t>
            </a:r>
          </a:p>
          <a:p>
            <a:pPr>
              <a:buNone/>
            </a:pPr>
            <a:br>
              <a:rPr lang="en-US" sz="2200" dirty="0"/>
            </a:br>
            <a:endParaRPr lang="en-US" sz="2200" dirty="0"/>
          </a:p>
          <a:p>
            <a:pPr>
              <a:buNone/>
            </a:pPr>
            <a:endParaRPr lang="en-US" sz="2200" dirty="0"/>
          </a:p>
        </p:txBody>
      </p:sp>
      <p:sp>
        <p:nvSpPr>
          <p:cNvPr id="17" name="TextBox 16">
            <a:extLst>
              <a:ext uri="{FF2B5EF4-FFF2-40B4-BE49-F238E27FC236}">
                <a16:creationId xmlns:a16="http://schemas.microsoft.com/office/drawing/2014/main" id="{F058EC3F-3B1F-EA4E-0EA9-1FF52C8F893A}"/>
              </a:ext>
            </a:extLst>
          </p:cNvPr>
          <p:cNvSpPr txBox="1"/>
          <p:nvPr/>
        </p:nvSpPr>
        <p:spPr>
          <a:xfrm>
            <a:off x="914400" y="952500"/>
            <a:ext cx="16962120" cy="830997"/>
          </a:xfrm>
          <a:prstGeom prst="rect">
            <a:avLst/>
          </a:prstGeom>
          <a:noFill/>
        </p:spPr>
        <p:txBody>
          <a:bodyPr wrap="square">
            <a:spAutoFit/>
          </a:bodyPr>
          <a:lstStyle/>
          <a:p>
            <a:r>
              <a:rPr lang="en-US" sz="4800" dirty="0"/>
              <a:t>5.Insights from EDA</a:t>
            </a:r>
            <a:endParaRPr lang="en-IN" sz="4800" dirty="0"/>
          </a:p>
        </p:txBody>
      </p:sp>
      <p:sp>
        <p:nvSpPr>
          <p:cNvPr id="4" name="TextBox 3">
            <a:extLst>
              <a:ext uri="{FF2B5EF4-FFF2-40B4-BE49-F238E27FC236}">
                <a16:creationId xmlns:a16="http://schemas.microsoft.com/office/drawing/2014/main" id="{6069B07F-05FE-2B1E-3B87-F2FEC35CD472}"/>
              </a:ext>
            </a:extLst>
          </p:cNvPr>
          <p:cNvSpPr txBox="1"/>
          <p:nvPr/>
        </p:nvSpPr>
        <p:spPr>
          <a:xfrm>
            <a:off x="9385628" y="2095500"/>
            <a:ext cx="8673772" cy="64325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 Customer Satisfaction by Ticket Subject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Highest satisfaction observed for: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Installation Support</a:t>
            </a:r>
            <a:r>
              <a:rPr kumimoji="0" lang="en-US" sz="2200" b="0" i="0" u="none" strike="noStrike" kern="1200" cap="none" spc="0" normalizeH="0" baseline="0" noProof="0" dirty="0">
                <a:ln>
                  <a:noFill/>
                </a:ln>
                <a:solidFill>
                  <a:prstClr val="black"/>
                </a:solidFill>
                <a:effectLst/>
                <a:uLnTx/>
                <a:uFillTx/>
                <a:latin typeface="Calibri"/>
                <a:ea typeface="+mn-ea"/>
                <a:cs typeface="+mn-cs"/>
              </a:rPr>
              <a:t> and </a:t>
            </a:r>
            <a:r>
              <a:rPr kumimoji="0" lang="en-US" sz="2200" b="1" i="0" u="none" strike="noStrike" kern="1200" cap="none" spc="0" normalizeH="0" baseline="0" noProof="0" dirty="0">
                <a:ln>
                  <a:noFill/>
                </a:ln>
                <a:solidFill>
                  <a:prstClr val="black"/>
                </a:solidFill>
                <a:effectLst/>
                <a:uLnTx/>
                <a:uFillTx/>
                <a:latin typeface="Calibri"/>
                <a:ea typeface="+mn-ea"/>
                <a:cs typeface="+mn-cs"/>
              </a:rPr>
              <a:t>Display Issue</a:t>
            </a:r>
            <a:r>
              <a:rPr kumimoji="0" lang="en-US" sz="2200" b="0" i="0" u="none" strike="noStrike" kern="1200" cap="none" spc="0" normalizeH="0" baseline="0" noProof="0" dirty="0">
                <a:ln>
                  <a:noFill/>
                </a:ln>
                <a:solidFill>
                  <a:prstClr val="black"/>
                </a:solidFill>
                <a:effectLst/>
                <a:uLnTx/>
                <a:uFillTx/>
                <a:latin typeface="Calibri"/>
                <a:ea typeface="+mn-ea"/>
                <a:cs typeface="+mn-cs"/>
              </a:rPr>
              <a:t> (≈3.0+ average rating).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Lower satisfaction seen for: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Delivery Problem</a:t>
            </a: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1" i="0" u="none" strike="noStrike" kern="1200" cap="none" spc="0" normalizeH="0" baseline="0" noProof="0" dirty="0">
                <a:ln>
                  <a:noFill/>
                </a:ln>
                <a:solidFill>
                  <a:prstClr val="black"/>
                </a:solidFill>
                <a:effectLst/>
                <a:uLnTx/>
                <a:uFillTx/>
                <a:latin typeface="Calibri"/>
                <a:ea typeface="+mn-ea"/>
                <a:cs typeface="+mn-cs"/>
              </a:rPr>
              <a:t>Network Problem</a:t>
            </a: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1" i="0" u="none" strike="noStrike" kern="1200" cap="none" spc="0" normalizeH="0" baseline="0" noProof="0" dirty="0">
                <a:ln>
                  <a:noFill/>
                </a:ln>
                <a:solidFill>
                  <a:prstClr val="black"/>
                </a:solidFill>
                <a:effectLst/>
                <a:uLnTx/>
                <a:uFillTx/>
                <a:latin typeface="Calibri"/>
                <a:ea typeface="+mn-ea"/>
                <a:cs typeface="+mn-cs"/>
              </a:rPr>
              <a:t>Account Access</a:t>
            </a:r>
            <a:r>
              <a:rPr kumimoji="0" lang="en-US" sz="22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 </a:t>
            </a:r>
            <a:r>
              <a:rPr kumimoji="0" lang="en-US" sz="2200" b="0" i="1" u="none" strike="noStrike" kern="1200" cap="none" spc="0" normalizeH="0" baseline="0" noProof="0" dirty="0">
                <a:ln>
                  <a:noFill/>
                </a:ln>
                <a:solidFill>
                  <a:prstClr val="black"/>
                </a:solidFill>
                <a:effectLst/>
                <a:uLnTx/>
                <a:uFillTx/>
                <a:latin typeface="Calibri"/>
                <a:ea typeface="+mn-ea"/>
                <a:cs typeface="+mn-cs"/>
              </a:rPr>
              <a:t>Insight:</a:t>
            </a:r>
            <a:r>
              <a:rPr kumimoji="0" lang="en-US" sz="2200" b="0" i="0" u="none" strike="noStrike" kern="1200" cap="none" spc="0" normalizeH="0" baseline="0" noProof="0" dirty="0">
                <a:ln>
                  <a:noFill/>
                </a:ln>
                <a:solidFill>
                  <a:prstClr val="black"/>
                </a:solidFill>
                <a:effectLst/>
                <a:uLnTx/>
                <a:uFillTx/>
                <a:latin typeface="Calibri"/>
                <a:ea typeface="+mn-ea"/>
                <a:cs typeface="+mn-cs"/>
              </a:rPr>
              <a:t> Logistic and connectivity issues reduce satisfaction — areas to prioritize for improvement.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solidFill>
                <a:prstClr val="black"/>
              </a:solidFill>
              <a:latin typeface="Calibri"/>
            </a:endParaRPr>
          </a:p>
          <a:p>
            <a:pPr>
              <a:buNone/>
            </a:pPr>
            <a:r>
              <a:rPr lang="en-US" sz="2400" b="1" dirty="0"/>
              <a:t>✨ Overall Key Insights</a:t>
            </a:r>
          </a:p>
          <a:p>
            <a:pPr>
              <a:buFont typeface="Arial" panose="020B0604020202020204" pitchFamily="34" charset="0"/>
              <a:buChar char="•"/>
            </a:pPr>
            <a:r>
              <a:rPr lang="en-US" sz="2400" dirty="0"/>
              <a:t>Ticket priority and type distributions are balanced — the support system faces a consistent workload across severity levels.</a:t>
            </a:r>
          </a:p>
          <a:p>
            <a:pPr>
              <a:buFont typeface="Arial" panose="020B0604020202020204" pitchFamily="34" charset="0"/>
              <a:buChar char="•"/>
            </a:pPr>
            <a:r>
              <a:rPr lang="en-US" sz="2400" dirty="0"/>
              <a:t>Most issues revolve around </a:t>
            </a:r>
            <a:r>
              <a:rPr lang="en-US" sz="2400" b="1" dirty="0"/>
              <a:t>technical or refund-related</a:t>
            </a:r>
            <a:r>
              <a:rPr lang="en-US" sz="2400" dirty="0"/>
              <a:t> concerns.</a:t>
            </a:r>
          </a:p>
          <a:p>
            <a:pPr>
              <a:buFont typeface="Arial" panose="020B0604020202020204" pitchFamily="34" charset="0"/>
              <a:buChar char="•"/>
            </a:pPr>
            <a:r>
              <a:rPr lang="en-US" sz="2400" b="1" dirty="0"/>
              <a:t>Customer satisfaction is moderate (avg ≈ 3/5)</a:t>
            </a:r>
            <a:r>
              <a:rPr lang="en-US" sz="2400" dirty="0"/>
              <a:t> across all channels, with </a:t>
            </a:r>
            <a:r>
              <a:rPr lang="en-US" sz="2400" b="1" dirty="0"/>
              <a:t>network and delivery issues</a:t>
            </a:r>
            <a:r>
              <a:rPr lang="en-US" sz="2400" dirty="0"/>
              <a:t> driving lower ratings.</a:t>
            </a:r>
          </a:p>
          <a:p>
            <a:pPr>
              <a:buFont typeface="Arial" panose="020B0604020202020204" pitchFamily="34" charset="0"/>
              <a:buChar char="•"/>
            </a:pPr>
            <a:r>
              <a:rPr lang="en-US" sz="2400" b="1" dirty="0"/>
              <a:t>Product diversity</a:t>
            </a:r>
            <a:r>
              <a:rPr lang="en-US" sz="2400" dirty="0"/>
              <a:t> in tickets implies a wide customer base, requiring varied technical expertise.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a:buNone/>
            </a:pPr>
            <a:endParaRPr lang="en-US" sz="2200" dirty="0"/>
          </a:p>
        </p:txBody>
      </p:sp>
    </p:spTree>
    <p:extLst>
      <p:ext uri="{BB962C8B-B14F-4D97-AF65-F5344CB8AC3E}">
        <p14:creationId xmlns:p14="http://schemas.microsoft.com/office/powerpoint/2010/main" val="389344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4487ABF-9D75-D867-89B4-B5D584CD2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342900"/>
            <a:ext cx="8458200" cy="46672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7283C647-B4AF-E1FD-9D85-A3DF789F4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2" y="5276850"/>
            <a:ext cx="8601074" cy="46672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DB6FB2DE-FDF5-4DD2-7B31-CAE153455E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58275" y="190500"/>
            <a:ext cx="922972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a:extLst>
              <a:ext uri="{FF2B5EF4-FFF2-40B4-BE49-F238E27FC236}">
                <a16:creationId xmlns:a16="http://schemas.microsoft.com/office/drawing/2014/main" id="{27D66955-FDE2-0EC5-4A32-5B353B8240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72602" y="4981882"/>
            <a:ext cx="8915398" cy="465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970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EA3D05F5-BD5F-95A6-365C-6DD552ADBF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14300"/>
            <a:ext cx="17421224" cy="46672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1A201DCA-3410-EFF2-D433-9391A7B0A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469808"/>
            <a:ext cx="7391400" cy="46672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E439CCE1-61EF-AEC3-B7B7-4BFD94273F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5238443"/>
            <a:ext cx="9420225"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87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4D15D-481F-FB2D-130C-07F49EA0FE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EEA0313-0705-4D0E-E533-768E91F29B04}"/>
              </a:ext>
            </a:extLst>
          </p:cNvPr>
          <p:cNvSpPr/>
          <p:nvPr/>
        </p:nvSpPr>
        <p:spPr>
          <a:xfrm>
            <a:off x="1028700" y="7239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4">
            <a:extLst>
              <a:ext uri="{FF2B5EF4-FFF2-40B4-BE49-F238E27FC236}">
                <a16:creationId xmlns:a16="http://schemas.microsoft.com/office/drawing/2014/main" id="{BC78BB70-D5EF-B126-65F1-A4CD79130677}"/>
              </a:ext>
            </a:extLst>
          </p:cNvPr>
          <p:cNvSpPr txBox="1"/>
          <p:nvPr/>
        </p:nvSpPr>
        <p:spPr>
          <a:xfrm>
            <a:off x="533400" y="2391906"/>
            <a:ext cx="9144000" cy="7786747"/>
          </a:xfrm>
          <a:prstGeom prst="rect">
            <a:avLst/>
          </a:prstGeom>
          <a:noFill/>
        </p:spPr>
        <p:txBody>
          <a:bodyPr wrap="square">
            <a:spAutoFit/>
          </a:bodyPr>
          <a:lstStyle/>
          <a:p>
            <a:pPr>
              <a:buNone/>
            </a:pPr>
            <a:r>
              <a:rPr lang="en-US" sz="2000" b="1" dirty="0"/>
              <a:t>⭐ Rating Distribution (2020 vs 2021)</a:t>
            </a:r>
          </a:p>
          <a:p>
            <a:pPr>
              <a:buFont typeface="Arial" panose="020B0604020202020204" pitchFamily="34" charset="0"/>
              <a:buChar char="•"/>
            </a:pPr>
            <a:r>
              <a:rPr lang="en-US" sz="2000" dirty="0"/>
              <a:t>Customer satisfaction ratings are consistently distributed across both years.</a:t>
            </a:r>
          </a:p>
          <a:p>
            <a:pPr>
              <a:buFont typeface="Arial" panose="020B0604020202020204" pitchFamily="34" charset="0"/>
              <a:buChar char="•"/>
            </a:pPr>
            <a:r>
              <a:rPr lang="en-US" sz="2000" dirty="0"/>
              <a:t>Most ratings fall between </a:t>
            </a:r>
            <a:r>
              <a:rPr lang="en-US" sz="2000" b="1" dirty="0"/>
              <a:t>3 and 5</a:t>
            </a:r>
            <a:r>
              <a:rPr lang="en-US" sz="2000" dirty="0"/>
              <a:t>, showing generally positive experiences.</a:t>
            </a:r>
          </a:p>
          <a:p>
            <a:pPr>
              <a:buFont typeface="Arial" panose="020B0604020202020204" pitchFamily="34" charset="0"/>
              <a:buChar char="•"/>
            </a:pPr>
            <a:r>
              <a:rPr lang="en-US" sz="2000" dirty="0"/>
              <a:t>Counts per rating are fairly balanced, with only slight variation across years.</a:t>
            </a:r>
          </a:p>
          <a:p>
            <a:pPr>
              <a:buFont typeface="Arial" panose="020B0604020202020204" pitchFamily="34" charset="0"/>
              <a:buChar char="•"/>
            </a:pPr>
            <a:r>
              <a:rPr lang="en-US" sz="2000" b="1" dirty="0"/>
              <a:t>Average rating per year</a:t>
            </a:r>
            <a:r>
              <a:rPr lang="en-US" sz="2000" dirty="0"/>
              <a:t> is nearly identical — around </a:t>
            </a:r>
            <a:r>
              <a:rPr lang="en-US" sz="2000" b="1" dirty="0"/>
              <a:t>3.0</a:t>
            </a:r>
            <a:r>
              <a:rPr lang="en-US" sz="2000" dirty="0"/>
              <a:t>, implying overall satisfaction remained stable.</a:t>
            </a:r>
          </a:p>
          <a:p>
            <a:pPr>
              <a:buNone/>
            </a:pPr>
            <a:r>
              <a:rPr lang="en-US" sz="2000" dirty="0"/>
              <a:t>📌 </a:t>
            </a:r>
            <a:r>
              <a:rPr lang="en-US" sz="2000" i="1" dirty="0"/>
              <a:t>Insight:</a:t>
            </a:r>
            <a:r>
              <a:rPr lang="en-US" sz="2000" dirty="0"/>
              <a:t> No significant improvement or decline in satisfaction year-over-year.</a:t>
            </a:r>
          </a:p>
          <a:p>
            <a:pPr>
              <a:buNone/>
            </a:pPr>
            <a:endParaRPr lang="en-US" sz="2000" dirty="0"/>
          </a:p>
          <a:p>
            <a:pPr>
              <a:buNone/>
            </a:pPr>
            <a:r>
              <a:rPr lang="en-US" sz="2000" b="1" dirty="0"/>
              <a:t>⏱️ Response Delay vs Customer Satisfaction</a:t>
            </a:r>
          </a:p>
          <a:p>
            <a:pPr>
              <a:buFont typeface="Arial" panose="020B0604020202020204" pitchFamily="34" charset="0"/>
              <a:buChar char="•"/>
            </a:pPr>
            <a:r>
              <a:rPr lang="en-US" sz="2000" dirty="0"/>
              <a:t>Response delay (in hours) varies widely across satisfaction levels.</a:t>
            </a:r>
          </a:p>
          <a:p>
            <a:pPr>
              <a:buFont typeface="Arial" panose="020B0604020202020204" pitchFamily="34" charset="0"/>
              <a:buChar char="•"/>
            </a:pPr>
            <a:r>
              <a:rPr lang="en-US" sz="2000" dirty="0"/>
              <a:t>Median response times are slightly </a:t>
            </a:r>
            <a:r>
              <a:rPr lang="en-US" sz="2000" b="1" dirty="0"/>
              <a:t>lower for higher satisfaction ratings</a:t>
            </a:r>
            <a:r>
              <a:rPr lang="en-US" sz="2000" dirty="0"/>
              <a:t>, indicating faster responses improve perception.</a:t>
            </a:r>
          </a:p>
          <a:p>
            <a:pPr>
              <a:buFont typeface="Arial" panose="020B0604020202020204" pitchFamily="34" charset="0"/>
              <a:buChar char="•"/>
            </a:pPr>
            <a:r>
              <a:rPr lang="en-US" sz="2000" dirty="0"/>
              <a:t>However, overlap across boxplots shows that response time alone doesn’t fully explain satisfaction differences.</a:t>
            </a:r>
          </a:p>
          <a:p>
            <a:pPr>
              <a:buNone/>
            </a:pPr>
            <a:r>
              <a:rPr lang="en-US" sz="2000" dirty="0"/>
              <a:t>💡 </a:t>
            </a:r>
            <a:r>
              <a:rPr lang="en-US" sz="2000" i="1" dirty="0"/>
              <a:t>Observation:</a:t>
            </a:r>
            <a:r>
              <a:rPr lang="en-US" sz="2000" dirty="0"/>
              <a:t> Quick responses contribute positively, but other factors (tone, resolution quality) likely influence satisfaction too.</a:t>
            </a:r>
          </a:p>
          <a:p>
            <a:pPr>
              <a:buNone/>
            </a:pPr>
            <a:endParaRPr lang="en-US" sz="2000" dirty="0"/>
          </a:p>
          <a:p>
            <a:pPr>
              <a:buNone/>
            </a:pPr>
            <a:r>
              <a:rPr lang="en-US" sz="2000" b="1" dirty="0"/>
              <a:t>🕒 Resolution Time vs Customer Satisfaction</a:t>
            </a:r>
          </a:p>
          <a:p>
            <a:pPr>
              <a:buFont typeface="Arial" panose="020B0604020202020204" pitchFamily="34" charset="0"/>
              <a:buChar char="•"/>
            </a:pPr>
            <a:r>
              <a:rPr lang="en-US" sz="2000" dirty="0"/>
              <a:t>Resolution time follows a similar pattern to response delay.</a:t>
            </a:r>
          </a:p>
          <a:p>
            <a:pPr>
              <a:buFont typeface="Arial" panose="020B0604020202020204" pitchFamily="34" charset="0"/>
              <a:buChar char="•"/>
            </a:pPr>
            <a:r>
              <a:rPr lang="en-US" sz="2000" dirty="0"/>
              <a:t>Customers giving higher ratings (4–5) typically had </a:t>
            </a:r>
            <a:r>
              <a:rPr lang="en-US" sz="2000" b="1" dirty="0"/>
              <a:t>shorter resolution times</a:t>
            </a:r>
            <a:r>
              <a:rPr lang="en-US" sz="2000" dirty="0"/>
              <a:t> on average.</a:t>
            </a:r>
          </a:p>
          <a:p>
            <a:pPr>
              <a:buFont typeface="Arial" panose="020B0604020202020204" pitchFamily="34" charset="0"/>
              <a:buChar char="•"/>
            </a:pPr>
            <a:r>
              <a:rPr lang="en-US" sz="2000" dirty="0"/>
              <a:t>Wider interquartile range (IQR) for low ratings (1–2) suggests inconsistent handling of complex tickets.</a:t>
            </a:r>
          </a:p>
          <a:p>
            <a:pPr>
              <a:buNone/>
            </a:pPr>
            <a:r>
              <a:rPr lang="en-US" sz="2000" dirty="0"/>
              <a:t>✨ </a:t>
            </a:r>
            <a:r>
              <a:rPr lang="en-US" sz="2000" i="1" dirty="0"/>
              <a:t>Key takeaway:</a:t>
            </a:r>
            <a:r>
              <a:rPr lang="en-US" sz="2000" dirty="0"/>
              <a:t> Efficient issue resolution directly correlates with higher satisfaction.</a:t>
            </a:r>
          </a:p>
        </p:txBody>
      </p:sp>
      <p:sp>
        <p:nvSpPr>
          <p:cNvPr id="17" name="TextBox 16">
            <a:extLst>
              <a:ext uri="{FF2B5EF4-FFF2-40B4-BE49-F238E27FC236}">
                <a16:creationId xmlns:a16="http://schemas.microsoft.com/office/drawing/2014/main" id="{DB15A39F-8264-E154-7149-BB6BA5D4F726}"/>
              </a:ext>
            </a:extLst>
          </p:cNvPr>
          <p:cNvSpPr txBox="1"/>
          <p:nvPr/>
        </p:nvSpPr>
        <p:spPr>
          <a:xfrm>
            <a:off x="1021080" y="1104900"/>
            <a:ext cx="16962120" cy="830997"/>
          </a:xfrm>
          <a:prstGeom prst="rect">
            <a:avLst/>
          </a:prstGeom>
          <a:noFill/>
        </p:spPr>
        <p:txBody>
          <a:bodyPr wrap="square">
            <a:spAutoFit/>
          </a:bodyPr>
          <a:lstStyle/>
          <a:p>
            <a:r>
              <a:rPr lang="en-US" sz="4800" dirty="0"/>
              <a:t>5.Insights from EDA</a:t>
            </a:r>
            <a:endParaRPr lang="en-IN" sz="4800" dirty="0"/>
          </a:p>
        </p:txBody>
      </p:sp>
      <p:sp>
        <p:nvSpPr>
          <p:cNvPr id="4" name="TextBox 3">
            <a:extLst>
              <a:ext uri="{FF2B5EF4-FFF2-40B4-BE49-F238E27FC236}">
                <a16:creationId xmlns:a16="http://schemas.microsoft.com/office/drawing/2014/main" id="{85861CE2-71D3-4432-4201-CA35E4DD215B}"/>
              </a:ext>
            </a:extLst>
          </p:cNvPr>
          <p:cNvSpPr txBox="1"/>
          <p:nvPr/>
        </p:nvSpPr>
        <p:spPr>
          <a:xfrm>
            <a:off x="9672484" y="2302788"/>
            <a:ext cx="8310716" cy="5355312"/>
          </a:xfrm>
          <a:prstGeom prst="rect">
            <a:avLst/>
          </a:prstGeom>
          <a:noFill/>
        </p:spPr>
        <p:txBody>
          <a:bodyPr wrap="square">
            <a:spAutoFit/>
          </a:bodyPr>
          <a:lstStyle/>
          <a:p>
            <a:pPr>
              <a:buNone/>
            </a:pPr>
            <a:endParaRPr lang="en-US" sz="1800" dirty="0"/>
          </a:p>
          <a:p>
            <a:pPr>
              <a:buNone/>
            </a:pPr>
            <a:r>
              <a:rPr lang="en-US" sz="1800" b="1" dirty="0"/>
              <a:t>📅 Monthly Average Satisfaction Trends (2020–2021)</a:t>
            </a:r>
          </a:p>
          <a:p>
            <a:pPr>
              <a:buFont typeface="Arial" panose="020B0604020202020204" pitchFamily="34" charset="0"/>
              <a:buChar char="•"/>
            </a:pPr>
            <a:r>
              <a:rPr lang="en-US" sz="1800" dirty="0"/>
              <a:t>Average monthly ratings remained steady between </a:t>
            </a:r>
            <a:r>
              <a:rPr lang="en-US" sz="1800" b="1" dirty="0"/>
              <a:t>3.0–3.5</a:t>
            </a:r>
            <a:r>
              <a:rPr lang="en-US" sz="1800" dirty="0"/>
              <a:t> throughout both years.</a:t>
            </a:r>
          </a:p>
          <a:p>
            <a:pPr>
              <a:buFont typeface="Arial" panose="020B0604020202020204" pitchFamily="34" charset="0"/>
              <a:buChar char="•"/>
            </a:pPr>
            <a:r>
              <a:rPr lang="en-US" sz="1800" dirty="0"/>
              <a:t>2020 shows slightly higher variation, while 2021 maintains a smoother trend.</a:t>
            </a:r>
          </a:p>
          <a:p>
            <a:pPr>
              <a:buFont typeface="Arial" panose="020B0604020202020204" pitchFamily="34" charset="0"/>
              <a:buChar char="•"/>
            </a:pPr>
            <a:r>
              <a:rPr lang="en-US" sz="1800" dirty="0"/>
              <a:t>No visible long-term upward or downward trajectory — stability suggests consistent service quality.</a:t>
            </a:r>
          </a:p>
          <a:p>
            <a:pPr>
              <a:buNone/>
            </a:pPr>
            <a:r>
              <a:rPr lang="en-US" sz="1800" dirty="0"/>
              <a:t>📈 </a:t>
            </a:r>
            <a:r>
              <a:rPr lang="en-US" sz="1800" i="1" dirty="0"/>
              <a:t>Insight:</a:t>
            </a:r>
            <a:r>
              <a:rPr lang="en-US" sz="1800" dirty="0"/>
              <a:t> The support team achieved year-round stability, though room remains for raising the baseline satisfaction above 3.5.</a:t>
            </a:r>
          </a:p>
          <a:p>
            <a:pPr>
              <a:buNone/>
            </a:pPr>
            <a:br>
              <a:rPr lang="en-US" sz="1800" dirty="0"/>
            </a:br>
            <a:endParaRPr lang="en-US" sz="1800" dirty="0"/>
          </a:p>
          <a:p>
            <a:pPr>
              <a:buNone/>
            </a:pPr>
            <a:r>
              <a:rPr lang="en-US" sz="1800" b="1" dirty="0"/>
              <a:t>🧩 Summary Insights</a:t>
            </a:r>
          </a:p>
          <a:p>
            <a:pPr>
              <a:buFont typeface="Arial" panose="020B0604020202020204" pitchFamily="34" charset="0"/>
              <a:buChar char="•"/>
            </a:pPr>
            <a:r>
              <a:rPr lang="en-US" sz="1800" b="1" dirty="0"/>
              <a:t>Customer satisfaction levels are stable</a:t>
            </a:r>
            <a:r>
              <a:rPr lang="en-US" sz="1800" dirty="0"/>
              <a:t> across time — neither major improvement nor decline.</a:t>
            </a:r>
          </a:p>
          <a:p>
            <a:pPr>
              <a:buFont typeface="Arial" panose="020B0604020202020204" pitchFamily="34" charset="0"/>
              <a:buChar char="•"/>
            </a:pPr>
            <a:r>
              <a:rPr lang="en-US" sz="1800" b="1" dirty="0"/>
              <a:t>Faster response and resolution times</a:t>
            </a:r>
            <a:r>
              <a:rPr lang="en-US" sz="1800" dirty="0"/>
              <a:t> correspond with higher satisfaction, highlighting the importance of operational efficiency.</a:t>
            </a:r>
          </a:p>
          <a:p>
            <a:pPr>
              <a:buFont typeface="Arial" panose="020B0604020202020204" pitchFamily="34" charset="0"/>
              <a:buChar char="•"/>
            </a:pPr>
            <a:r>
              <a:rPr lang="en-US" sz="1800" b="1" dirty="0"/>
              <a:t>Slight performance consistency in 2021</a:t>
            </a:r>
            <a:r>
              <a:rPr lang="en-US" sz="1800" dirty="0"/>
              <a:t> suggests improved workflow or ticket automation effects.</a:t>
            </a:r>
          </a:p>
          <a:p>
            <a:pPr>
              <a:buFont typeface="Arial" panose="020B0604020202020204" pitchFamily="34" charset="0"/>
              <a:buChar char="•"/>
            </a:pPr>
            <a:r>
              <a:rPr lang="en-US" sz="1800" dirty="0"/>
              <a:t>There’s potential to boost satisfaction further through </a:t>
            </a:r>
            <a:r>
              <a:rPr lang="en-US" sz="1800" b="1" dirty="0"/>
              <a:t>reducing long-tail delays</a:t>
            </a:r>
            <a:r>
              <a:rPr lang="en-US" sz="1800" dirty="0"/>
              <a:t> and </a:t>
            </a:r>
            <a:r>
              <a:rPr lang="en-US" sz="1800" b="1" dirty="0"/>
              <a:t>enhancing first-contact resolution</a:t>
            </a:r>
            <a:r>
              <a:rPr lang="en-US" sz="1800" dirty="0"/>
              <a:t> quality.</a:t>
            </a:r>
          </a:p>
        </p:txBody>
      </p:sp>
    </p:spTree>
    <p:extLst>
      <p:ext uri="{BB962C8B-B14F-4D97-AF65-F5344CB8AC3E}">
        <p14:creationId xmlns:p14="http://schemas.microsoft.com/office/powerpoint/2010/main" val="2967979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F928FEEC-52EB-51D4-E385-D2BC5AA59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42900"/>
            <a:ext cx="942022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66CC2B78-FB5B-168D-6CBC-8F948E94F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243666"/>
            <a:ext cx="942022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69E47610-2AF7-5068-F770-DD3F95C58B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15600" y="104775"/>
            <a:ext cx="6799115" cy="46672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5E797CFC-C248-AAD5-6647-07F34905B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5600" y="5264560"/>
            <a:ext cx="7224713"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180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057A-6943-D4AF-C505-A9B29AEE287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083296D-6CC5-0510-6E3C-025195648FFC}"/>
              </a:ext>
            </a:extLst>
          </p:cNvPr>
          <p:cNvSpPr/>
          <p:nvPr/>
        </p:nvSpPr>
        <p:spPr>
          <a:xfrm>
            <a:off x="1028700" y="5715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6A1CC80D-07C2-0CD2-BC1A-83A456193838}"/>
              </a:ext>
            </a:extLst>
          </p:cNvPr>
          <p:cNvSpPr/>
          <p:nvPr/>
        </p:nvSpPr>
        <p:spPr>
          <a:xfrm>
            <a:off x="533400" y="4076699"/>
            <a:ext cx="4952999" cy="5495003"/>
          </a:xfrm>
          <a:custGeom>
            <a:avLst/>
            <a:gdLst/>
            <a:ahLst/>
            <a:cxnLst/>
            <a:rect l="l" t="t" r="r" b="b"/>
            <a:pathLst>
              <a:path w="6841804" h="5174892">
                <a:moveTo>
                  <a:pt x="0" y="0"/>
                </a:moveTo>
                <a:lnTo>
                  <a:pt x="6841803" y="0"/>
                </a:lnTo>
                <a:lnTo>
                  <a:pt x="6841803" y="5174892"/>
                </a:lnTo>
                <a:lnTo>
                  <a:pt x="0" y="51748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141703A7-EDEE-95DC-4283-CA49D7458D66}"/>
              </a:ext>
            </a:extLst>
          </p:cNvPr>
          <p:cNvSpPr txBox="1"/>
          <p:nvPr/>
        </p:nvSpPr>
        <p:spPr>
          <a:xfrm>
            <a:off x="996745" y="1102375"/>
            <a:ext cx="15313354" cy="1032719"/>
          </a:xfrm>
          <a:prstGeom prst="rect">
            <a:avLst/>
          </a:prstGeom>
        </p:spPr>
        <p:txBody>
          <a:bodyPr wrap="square" lIns="0" tIns="0" rIns="0" bIns="0" rtlCol="0" anchor="t">
            <a:spAutoFit/>
          </a:bodyPr>
          <a:lstStyle/>
          <a:p>
            <a:pPr>
              <a:lnSpc>
                <a:spcPts val="7656"/>
              </a:lnSpc>
            </a:pPr>
            <a:r>
              <a:rPr lang="en-IN" sz="8800" dirty="0"/>
              <a:t>6.Feature Correlation Analysis</a:t>
            </a:r>
            <a:endParaRPr lang="en-US" sz="8800" spc="-431" dirty="0">
              <a:solidFill>
                <a:srgbClr val="000000"/>
              </a:solidFill>
              <a:latin typeface="TT Interphases"/>
              <a:ea typeface="TT Interphases"/>
              <a:cs typeface="TT Interphases"/>
              <a:sym typeface="TT Interphases"/>
            </a:endParaRPr>
          </a:p>
        </p:txBody>
      </p:sp>
      <p:sp>
        <p:nvSpPr>
          <p:cNvPr id="11" name="TextBox 10">
            <a:extLst>
              <a:ext uri="{FF2B5EF4-FFF2-40B4-BE49-F238E27FC236}">
                <a16:creationId xmlns:a16="http://schemas.microsoft.com/office/drawing/2014/main" id="{4C35AA2D-A1EB-9B19-1A23-C303CB1922A8}"/>
              </a:ext>
            </a:extLst>
          </p:cNvPr>
          <p:cNvSpPr txBox="1"/>
          <p:nvPr/>
        </p:nvSpPr>
        <p:spPr>
          <a:xfrm>
            <a:off x="6400800" y="2628984"/>
            <a:ext cx="10744200" cy="6555641"/>
          </a:xfrm>
          <a:prstGeom prst="rect">
            <a:avLst/>
          </a:prstGeom>
          <a:noFill/>
        </p:spPr>
        <p:txBody>
          <a:bodyPr wrap="square">
            <a:spAutoFit/>
          </a:bodyPr>
          <a:lstStyle/>
          <a:p>
            <a:pPr>
              <a:buNone/>
            </a:pPr>
            <a:r>
              <a:rPr lang="en-US" sz="2000" b="1" dirty="0"/>
              <a:t>1️⃣ Low-Variance Feature Filter</a:t>
            </a:r>
          </a:p>
          <a:p>
            <a:pPr>
              <a:buFont typeface="Arial" panose="020B0604020202020204" pitchFamily="34" charset="0"/>
              <a:buChar char="•"/>
            </a:pPr>
            <a:r>
              <a:rPr lang="en-US" sz="2000" dirty="0"/>
              <a:t>Purpose: Remove features with very low variability (&lt;1%) which provide little predictive power.</a:t>
            </a:r>
          </a:p>
          <a:p>
            <a:pPr>
              <a:buFont typeface="Arial" panose="020B0604020202020204" pitchFamily="34" charset="0"/>
              <a:buChar char="•"/>
            </a:pPr>
            <a:r>
              <a:rPr lang="en-US" sz="2000" b="1" dirty="0"/>
              <a:t>Detected low-variance features:</a:t>
            </a:r>
            <a:r>
              <a:rPr lang="en-US" sz="2000" dirty="0"/>
              <a:t> </a:t>
            </a:r>
            <a:r>
              <a:rPr lang="en-US" sz="2000" dirty="0" err="1">
                <a:latin typeface="Courier New" panose="02070309020205020404" pitchFamily="49" charset="0"/>
              </a:rPr>
              <a:t>len</a:t>
            </a:r>
            <a:r>
              <a:rPr lang="en-US" sz="2000" dirty="0">
                <a:latin typeface="Courier New" panose="02070309020205020404" pitchFamily="49" charset="0"/>
              </a:rPr>
              <a:t>(</a:t>
            </a:r>
            <a:r>
              <a:rPr lang="en-US" sz="2000" dirty="0" err="1">
                <a:latin typeface="Courier New" panose="02070309020205020404" pitchFamily="49" charset="0"/>
              </a:rPr>
              <a:t>low_variance_cols</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b="1" dirty="0"/>
              <a:t>Exception kept:</a:t>
            </a:r>
            <a:r>
              <a:rPr lang="en-US" sz="2000" dirty="0"/>
              <a:t> </a:t>
            </a:r>
            <a:r>
              <a:rPr lang="en-US" sz="2000" dirty="0">
                <a:latin typeface="Courier New" panose="02070309020205020404" pitchFamily="49" charset="0"/>
              </a:rPr>
              <a:t>resolution_days</a:t>
            </a:r>
            <a:endParaRPr lang="en-US" sz="2000" dirty="0"/>
          </a:p>
          <a:p>
            <a:pPr>
              <a:buFont typeface="Arial" panose="020B0604020202020204" pitchFamily="34" charset="0"/>
              <a:buChar char="•"/>
            </a:pPr>
            <a:r>
              <a:rPr lang="en-US" sz="2000" dirty="0"/>
              <a:t>Action: Dropped all other low-variance features.</a:t>
            </a:r>
          </a:p>
          <a:p>
            <a:pPr>
              <a:buNone/>
            </a:pPr>
            <a:endParaRPr lang="en-US" sz="2000" dirty="0"/>
          </a:p>
          <a:p>
            <a:pPr>
              <a:buNone/>
            </a:pPr>
            <a:r>
              <a:rPr lang="en-US" sz="2000" b="1" dirty="0"/>
              <a:t>2️⃣ High Correlation Filter</a:t>
            </a:r>
          </a:p>
          <a:p>
            <a:pPr>
              <a:buFont typeface="Arial" panose="020B0604020202020204" pitchFamily="34" charset="0"/>
              <a:buChar char="•"/>
            </a:pPr>
            <a:r>
              <a:rPr lang="en-US" sz="2000" dirty="0"/>
              <a:t>Purpose: Remove highly correlated features (r &gt; 0.9) to avoid multicollinearity.</a:t>
            </a:r>
          </a:p>
          <a:p>
            <a:pPr>
              <a:buFont typeface="Arial" panose="020B0604020202020204" pitchFamily="34" charset="0"/>
              <a:buChar char="•"/>
            </a:pPr>
            <a:r>
              <a:rPr lang="en-US" sz="2000" dirty="0"/>
              <a:t>Correlation computed: Absolute Pearson correlation on numeric features.</a:t>
            </a:r>
          </a:p>
          <a:p>
            <a:pPr>
              <a:buFont typeface="Arial" panose="020B0604020202020204" pitchFamily="34" charset="0"/>
              <a:buChar char="•"/>
            </a:pPr>
            <a:r>
              <a:rPr lang="en-US" sz="2000" b="1" dirty="0"/>
              <a:t>Highly correlated columns detected:</a:t>
            </a:r>
            <a:r>
              <a:rPr lang="en-US" sz="2000" dirty="0"/>
              <a:t> </a:t>
            </a:r>
            <a:r>
              <a:rPr lang="en-US" sz="2000" dirty="0" err="1">
                <a:latin typeface="Courier New" panose="02070309020205020404" pitchFamily="49" charset="0"/>
              </a:rPr>
              <a:t>len</a:t>
            </a:r>
            <a:r>
              <a:rPr lang="en-US" sz="2000" dirty="0">
                <a:latin typeface="Courier New" panose="02070309020205020404" pitchFamily="49" charset="0"/>
              </a:rPr>
              <a:t>(</a:t>
            </a:r>
            <a:r>
              <a:rPr lang="en-US" sz="2000" dirty="0" err="1">
                <a:latin typeface="Courier New" panose="02070309020205020404" pitchFamily="49" charset="0"/>
              </a:rPr>
              <a:t>high_corr_cols</a:t>
            </a:r>
            <a:r>
              <a:rPr lang="en-US" sz="2000" dirty="0">
                <a:latin typeface="Courier New" panose="02070309020205020404" pitchFamily="49" charset="0"/>
              </a:rPr>
              <a:t>)</a:t>
            </a:r>
            <a:endParaRPr lang="en-US" sz="2000" dirty="0"/>
          </a:p>
          <a:p>
            <a:pPr>
              <a:buFont typeface="Arial" panose="020B0604020202020204" pitchFamily="34" charset="0"/>
              <a:buChar char="•"/>
            </a:pPr>
            <a:r>
              <a:rPr lang="en-US" sz="2000" b="1" dirty="0"/>
              <a:t>Exception kept:</a:t>
            </a:r>
            <a:r>
              <a:rPr lang="en-US" sz="2000" dirty="0"/>
              <a:t> </a:t>
            </a:r>
            <a:r>
              <a:rPr lang="en-US" sz="2000" dirty="0">
                <a:latin typeface="Courier New" panose="02070309020205020404" pitchFamily="49" charset="0"/>
              </a:rPr>
              <a:t>resolution_days</a:t>
            </a:r>
            <a:endParaRPr lang="en-US" sz="2000" dirty="0"/>
          </a:p>
          <a:p>
            <a:pPr>
              <a:buFont typeface="Arial" panose="020B0604020202020204" pitchFamily="34" charset="0"/>
              <a:buChar char="•"/>
            </a:pPr>
            <a:r>
              <a:rPr lang="en-US" sz="2000" dirty="0"/>
              <a:t>Action: Dropped other highly correlated features.</a:t>
            </a:r>
            <a:br>
              <a:rPr lang="en-US" sz="2000" dirty="0"/>
            </a:b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3️⃣ Potentially Redundant / Derived Features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Features checked: </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Description_Length</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Resolution_Length</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desc_vs_res_len_ratio</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'Total_vs_Response', 'Total_vs_Resolution', 'Response_Delay_Hours', 'Total_Time_Hours',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sentiment_age</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sentiment_length</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priority_critical</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age_ticket_length</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sentiment_priority</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Present in dataset:</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present_unnecessary</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len</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a:t>
            </a:r>
            <a:r>
              <a:rPr kumimoji="0" lang="en-US" sz="2000" b="0" i="0" u="none" strike="noStrike" kern="1200" cap="none" spc="0" normalizeH="0" baseline="0" noProof="0" dirty="0" err="1">
                <a:ln>
                  <a:noFill/>
                </a:ln>
                <a:solidFill>
                  <a:prstClr val="black"/>
                </a:solidFill>
                <a:effectLst/>
                <a:uLnTx/>
                <a:uFillTx/>
                <a:latin typeface="Courier New" panose="02070309020205020404" pitchFamily="49" charset="0"/>
                <a:ea typeface="+mn-ea"/>
                <a:cs typeface="+mn-cs"/>
              </a:rPr>
              <a:t>present_unnecessary</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a:t>
            </a:r>
            <a:r>
              <a:rPr kumimoji="0" lang="en-US" sz="2000" b="0" i="0" u="none" strike="noStrike" kern="1200" cap="none" spc="0" normalizeH="0" baseline="0" noProof="0" dirty="0">
                <a:ln>
                  <a:noFill/>
                </a:ln>
                <a:solidFill>
                  <a:prstClr val="black"/>
                </a:solidFill>
                <a:effectLst/>
                <a:uLnTx/>
                <a:uFillTx/>
                <a:latin typeface="Calibri"/>
                <a:ea typeface="+mn-ea"/>
                <a:cs typeface="+mn-cs"/>
              </a:rPr>
              <a:t> features)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Action: Not automatically dropped; flagged for review.</a:t>
            </a:r>
            <a:endParaRPr lang="en-US" sz="2000" dirty="0"/>
          </a:p>
        </p:txBody>
      </p:sp>
      <p:sp>
        <p:nvSpPr>
          <p:cNvPr id="6" name="TextBox 5">
            <a:extLst>
              <a:ext uri="{FF2B5EF4-FFF2-40B4-BE49-F238E27FC236}">
                <a16:creationId xmlns:a16="http://schemas.microsoft.com/office/drawing/2014/main" id="{55653138-1B21-B21E-17A9-F4F7F8160E21}"/>
              </a:ext>
            </a:extLst>
          </p:cNvPr>
          <p:cNvSpPr txBox="1"/>
          <p:nvPr/>
        </p:nvSpPr>
        <p:spPr>
          <a:xfrm>
            <a:off x="533400" y="2405332"/>
            <a:ext cx="5105400" cy="1477328"/>
          </a:xfrm>
          <a:prstGeom prst="rect">
            <a:avLst/>
          </a:prstGeom>
          <a:noFill/>
        </p:spPr>
        <p:txBody>
          <a:bodyPr wrap="square">
            <a:spAutoFit/>
          </a:bodyPr>
          <a:lstStyle/>
          <a:p>
            <a:pPr>
              <a:buFont typeface="Arial" panose="020B0604020202020204" pitchFamily="34" charset="0"/>
              <a:buChar char="•"/>
            </a:pPr>
            <a:r>
              <a:rPr lang="en-US" dirty="0"/>
              <a:t>Key improvements:</a:t>
            </a:r>
          </a:p>
          <a:p>
            <a:pPr marL="742950" lvl="1" indent="-285750">
              <a:buFont typeface="Arial" panose="020B0604020202020204" pitchFamily="34" charset="0"/>
              <a:buChar char="•"/>
            </a:pPr>
            <a:r>
              <a:rPr lang="en-US" dirty="0"/>
              <a:t>Reduced noise from low-variance features</a:t>
            </a:r>
          </a:p>
          <a:p>
            <a:pPr marL="742950" lvl="1" indent="-285750">
              <a:buFont typeface="Arial" panose="020B0604020202020204" pitchFamily="34" charset="0"/>
              <a:buChar char="•"/>
            </a:pPr>
            <a:r>
              <a:rPr lang="en-US" dirty="0"/>
              <a:t>Mitigated multicollinearity</a:t>
            </a:r>
          </a:p>
          <a:p>
            <a:pPr marL="742950" lvl="1" indent="-285750">
              <a:buFont typeface="Arial" panose="020B0604020202020204" pitchFamily="34" charset="0"/>
              <a:buChar char="•"/>
            </a:pPr>
            <a:r>
              <a:rPr lang="en-US" dirty="0"/>
              <a:t>Highlighted redundant or derived features for potential removal</a:t>
            </a:r>
          </a:p>
        </p:txBody>
      </p:sp>
    </p:spTree>
    <p:extLst>
      <p:ext uri="{BB962C8B-B14F-4D97-AF65-F5344CB8AC3E}">
        <p14:creationId xmlns:p14="http://schemas.microsoft.com/office/powerpoint/2010/main" val="646111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15F31-685D-7193-940B-23E274FE9A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EDA4C0-A78D-6BBC-3E4D-E12362B855E6}"/>
              </a:ext>
            </a:extLst>
          </p:cNvPr>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a:extLst>
              <a:ext uri="{FF2B5EF4-FFF2-40B4-BE49-F238E27FC236}">
                <a16:creationId xmlns:a16="http://schemas.microsoft.com/office/drawing/2014/main" id="{E1D40562-51F1-B183-1ECE-B02403EF9B49}"/>
              </a:ext>
            </a:extLst>
          </p:cNvPr>
          <p:cNvSpPr txBox="1"/>
          <p:nvPr/>
        </p:nvSpPr>
        <p:spPr>
          <a:xfrm>
            <a:off x="998220" y="1604919"/>
            <a:ext cx="8907780" cy="1032719"/>
          </a:xfrm>
          <a:prstGeom prst="rect">
            <a:avLst/>
          </a:prstGeom>
        </p:spPr>
        <p:txBody>
          <a:bodyPr wrap="square" lIns="0" tIns="0" rIns="0" bIns="0" rtlCol="0" anchor="t">
            <a:spAutoFit/>
          </a:bodyPr>
          <a:lstStyle/>
          <a:p>
            <a:pPr>
              <a:lnSpc>
                <a:spcPts val="7656"/>
              </a:lnSpc>
            </a:pPr>
            <a:r>
              <a:rPr lang="en-IN" sz="8800" dirty="0"/>
              <a:t>7.Unbalanced Data</a:t>
            </a:r>
            <a:endParaRPr lang="en-US" sz="8800" spc="-431" dirty="0">
              <a:solidFill>
                <a:srgbClr val="000000"/>
              </a:solidFill>
              <a:latin typeface="TT Interphases"/>
              <a:ea typeface="TT Interphases"/>
              <a:cs typeface="TT Interphases"/>
              <a:sym typeface="TT Interphases"/>
            </a:endParaRPr>
          </a:p>
        </p:txBody>
      </p:sp>
      <p:sp>
        <p:nvSpPr>
          <p:cNvPr id="13" name="Freeform 13">
            <a:extLst>
              <a:ext uri="{FF2B5EF4-FFF2-40B4-BE49-F238E27FC236}">
                <a16:creationId xmlns:a16="http://schemas.microsoft.com/office/drawing/2014/main" id="{220FF3FE-9C46-7BF5-1169-1C0C2AEC3CD4}"/>
              </a:ext>
            </a:extLst>
          </p:cNvPr>
          <p:cNvSpPr/>
          <p:nvPr/>
        </p:nvSpPr>
        <p:spPr>
          <a:xfrm>
            <a:off x="10439400" y="545093"/>
            <a:ext cx="7148446" cy="4185090"/>
          </a:xfrm>
          <a:custGeom>
            <a:avLst/>
            <a:gdLst/>
            <a:ahLst/>
            <a:cxnLst/>
            <a:rect l="l" t="t" r="r" b="b"/>
            <a:pathLst>
              <a:path w="7148446" h="4185090">
                <a:moveTo>
                  <a:pt x="0" y="0"/>
                </a:moveTo>
                <a:lnTo>
                  <a:pt x="7148446" y="0"/>
                </a:lnTo>
                <a:lnTo>
                  <a:pt x="7148446" y="4185090"/>
                </a:lnTo>
                <a:lnTo>
                  <a:pt x="0" y="41850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6">
            <a:extLst>
              <a:ext uri="{FF2B5EF4-FFF2-40B4-BE49-F238E27FC236}">
                <a16:creationId xmlns:a16="http://schemas.microsoft.com/office/drawing/2014/main" id="{D1ECA6E6-F331-1004-C0E8-78F49CB8EB66}"/>
              </a:ext>
            </a:extLst>
          </p:cNvPr>
          <p:cNvSpPr txBox="1"/>
          <p:nvPr/>
        </p:nvSpPr>
        <p:spPr>
          <a:xfrm>
            <a:off x="988388" y="3086100"/>
            <a:ext cx="9144000" cy="6863417"/>
          </a:xfrm>
          <a:prstGeom prst="rect">
            <a:avLst/>
          </a:prstGeom>
          <a:noFill/>
        </p:spPr>
        <p:txBody>
          <a:bodyPr wrap="square">
            <a:spAutoFit/>
          </a:bodyPr>
          <a:lstStyle/>
          <a:p>
            <a:pPr>
              <a:buNone/>
            </a:pPr>
            <a:r>
              <a:rPr lang="en-US" sz="2000" b="1" dirty="0"/>
              <a:t>🎯 Target Variable: </a:t>
            </a:r>
            <a:r>
              <a:rPr lang="en-US" sz="2000" b="1" dirty="0" err="1">
                <a:latin typeface="Courier New" panose="02070309020205020404" pitchFamily="49" charset="0"/>
              </a:rPr>
              <a:t>satisfaction_label</a:t>
            </a:r>
            <a:endParaRPr lang="en-US" sz="2000" b="1" dirty="0"/>
          </a:p>
          <a:p>
            <a:pPr>
              <a:buFont typeface="Arial" panose="020B0604020202020204" pitchFamily="34" charset="0"/>
              <a:buChar char="•"/>
            </a:pPr>
            <a:r>
              <a:rPr lang="en-US" sz="2000" b="1" dirty="0"/>
              <a:t>Definition:</a:t>
            </a:r>
            <a:r>
              <a:rPr lang="en-US" sz="2000" dirty="0"/>
              <a:t> Represents customer satisfaction.</a:t>
            </a:r>
          </a:p>
          <a:p>
            <a:pPr>
              <a:buFont typeface="Arial" panose="020B0604020202020204" pitchFamily="34" charset="0"/>
              <a:buChar char="•"/>
            </a:pPr>
            <a:r>
              <a:rPr lang="en-US" sz="2000" b="1" dirty="0"/>
              <a:t>Classes:</a:t>
            </a:r>
            <a:endParaRPr lang="en-US" sz="2000" dirty="0"/>
          </a:p>
          <a:p>
            <a:pPr marL="742950" lvl="1" indent="-285750">
              <a:buFont typeface="Arial" panose="020B0604020202020204" pitchFamily="34" charset="0"/>
              <a:buChar char="•"/>
            </a:pPr>
            <a:r>
              <a:rPr lang="en-US" sz="2000" dirty="0">
                <a:latin typeface="Courier New" panose="02070309020205020404" pitchFamily="49" charset="0"/>
              </a:rPr>
              <a:t>0</a:t>
            </a:r>
            <a:r>
              <a:rPr lang="en-US" sz="2000" dirty="0"/>
              <a:t> → </a:t>
            </a:r>
            <a:r>
              <a:rPr lang="en-US" sz="2000" b="1" dirty="0"/>
              <a:t>Unsatisfied / Low satisfaction</a:t>
            </a:r>
            <a:endParaRPr lang="en-US" sz="2000" dirty="0"/>
          </a:p>
          <a:p>
            <a:pPr marL="742950" lvl="1" indent="-285750">
              <a:buFont typeface="Arial" panose="020B0604020202020204" pitchFamily="34" charset="0"/>
              <a:buChar char="•"/>
            </a:pPr>
            <a:r>
              <a:rPr lang="en-US" sz="2000" dirty="0">
                <a:latin typeface="Courier New" panose="02070309020205020404" pitchFamily="49" charset="0"/>
              </a:rPr>
              <a:t>1</a:t>
            </a:r>
            <a:r>
              <a:rPr lang="en-US" sz="2000" dirty="0"/>
              <a:t> → </a:t>
            </a:r>
            <a:r>
              <a:rPr lang="en-US" sz="2000" b="1" dirty="0"/>
              <a:t>Satisfied / High satisfaction</a:t>
            </a:r>
            <a:endParaRPr lang="en-US" sz="2000" dirty="0"/>
          </a:p>
          <a:p>
            <a:pPr>
              <a:buFont typeface="Arial" panose="020B0604020202020204" pitchFamily="34" charset="0"/>
              <a:buChar char="•"/>
            </a:pPr>
            <a:r>
              <a:rPr lang="en-US" sz="2000" b="1" dirty="0"/>
              <a:t>Reason for Merging Original Ratings:</a:t>
            </a:r>
            <a:endParaRPr lang="en-US" sz="2000" dirty="0"/>
          </a:p>
          <a:p>
            <a:pPr marL="742950" lvl="1" indent="-285750">
              <a:buFont typeface="Arial" panose="020B0604020202020204" pitchFamily="34" charset="0"/>
              <a:buChar char="•"/>
            </a:pPr>
            <a:r>
              <a:rPr lang="en-US" sz="2000" dirty="0"/>
              <a:t>Original ratings likely ranged </a:t>
            </a:r>
            <a:r>
              <a:rPr lang="en-US" sz="2000" b="1" dirty="0"/>
              <a:t>1–5</a:t>
            </a:r>
            <a:r>
              <a:rPr lang="en-US" sz="2000" dirty="0"/>
              <a:t>, with 1–2 = low satisfaction, 3 = neutral, 4–5 = high satisfaction.</a:t>
            </a:r>
          </a:p>
          <a:p>
            <a:pPr marL="742950" lvl="1" indent="-285750">
              <a:buFont typeface="Arial" panose="020B0604020202020204" pitchFamily="34" charset="0"/>
              <a:buChar char="•"/>
            </a:pPr>
            <a:r>
              <a:rPr lang="en-US" sz="2000" dirty="0"/>
              <a:t>To simplify modeling and focus on binary classification, we </a:t>
            </a:r>
            <a:r>
              <a:rPr lang="en-US" sz="2000" b="1" dirty="0"/>
              <a:t>merged ratings:</a:t>
            </a:r>
            <a:endParaRPr lang="en-US" sz="2000" dirty="0"/>
          </a:p>
          <a:p>
            <a:pPr marL="1143000" lvl="2" indent="-228600">
              <a:buFont typeface="Arial" panose="020B0604020202020204" pitchFamily="34" charset="0"/>
              <a:buChar char="•"/>
            </a:pPr>
            <a:r>
              <a:rPr lang="en-US" sz="2000" b="1" dirty="0"/>
              <a:t>1, 2, 3 → 0 (Unsatisfied)</a:t>
            </a:r>
            <a:endParaRPr lang="en-US" sz="2000" dirty="0"/>
          </a:p>
          <a:p>
            <a:pPr marL="1143000" lvl="2" indent="-228600">
              <a:buFont typeface="Arial" panose="020B0604020202020204" pitchFamily="34" charset="0"/>
              <a:buChar char="•"/>
            </a:pPr>
            <a:r>
              <a:rPr lang="en-US" sz="2000" b="1" dirty="0"/>
              <a:t>4, 5 → 1 (Satisfied)</a:t>
            </a:r>
          </a:p>
          <a:p>
            <a:pPr lvl="2"/>
            <a:endParaRPr lang="en-US" sz="2000" dirty="0"/>
          </a:p>
          <a:p>
            <a:pPr>
              <a:buNone/>
            </a:pPr>
            <a:r>
              <a:rPr lang="en-US" sz="2000" b="1" dirty="0"/>
              <a:t>⚖️ Class Imbalance</a:t>
            </a:r>
          </a:p>
          <a:p>
            <a:pPr>
              <a:buFont typeface="Arial" panose="020B0604020202020204" pitchFamily="34" charset="0"/>
              <a:buChar char="•"/>
            </a:pPr>
            <a:r>
              <a:rPr lang="en-US" sz="2000" dirty="0"/>
              <a:t>Raw counts in the dataset:</a:t>
            </a:r>
          </a:p>
          <a:p>
            <a:pPr marL="742950" lvl="1" indent="-285750">
              <a:buFont typeface="Arial" panose="020B0604020202020204" pitchFamily="34" charset="0"/>
              <a:buChar char="•"/>
            </a:pPr>
            <a:r>
              <a:rPr lang="en-US" sz="2000" dirty="0">
                <a:latin typeface="Courier New" panose="02070309020205020404" pitchFamily="49" charset="0"/>
              </a:rPr>
              <a:t>0 (Unsatisfied)</a:t>
            </a:r>
            <a:r>
              <a:rPr lang="en-US" sz="2000" dirty="0"/>
              <a:t> = </a:t>
            </a:r>
            <a:r>
              <a:rPr lang="en-US" sz="2000" b="1" dirty="0"/>
              <a:t>1682</a:t>
            </a:r>
            <a:endParaRPr lang="en-US" sz="2000" dirty="0"/>
          </a:p>
          <a:p>
            <a:pPr marL="742950" lvl="1" indent="-285750">
              <a:buFont typeface="Arial" panose="020B0604020202020204" pitchFamily="34" charset="0"/>
              <a:buChar char="•"/>
            </a:pPr>
            <a:r>
              <a:rPr lang="en-US" sz="2000" dirty="0">
                <a:latin typeface="Courier New" panose="02070309020205020404" pitchFamily="49" charset="0"/>
              </a:rPr>
              <a:t>1 (Satisfied)</a:t>
            </a:r>
            <a:r>
              <a:rPr lang="en-US" sz="2000" dirty="0"/>
              <a:t> = </a:t>
            </a:r>
            <a:r>
              <a:rPr lang="en-US" sz="2000" b="1" dirty="0"/>
              <a:t>1087</a:t>
            </a:r>
            <a:endParaRPr lang="en-US" sz="2000" dirty="0"/>
          </a:p>
          <a:p>
            <a:pPr>
              <a:buFont typeface="Arial" panose="020B0604020202020204" pitchFamily="34" charset="0"/>
              <a:buChar char="•"/>
            </a:pPr>
            <a:r>
              <a:rPr lang="en-US" sz="2000" dirty="0"/>
              <a:t>Training data distribution:</a:t>
            </a:r>
          </a:p>
          <a:p>
            <a:pPr marL="742950" lvl="1" indent="-285750">
              <a:buFont typeface="Arial" panose="020B0604020202020204" pitchFamily="34" charset="0"/>
              <a:buChar char="•"/>
            </a:pPr>
            <a:r>
              <a:rPr lang="en-US" sz="2000" dirty="0">
                <a:latin typeface="Courier New" panose="02070309020205020404" pitchFamily="49" charset="0"/>
              </a:rPr>
              <a:t>0</a:t>
            </a:r>
            <a:r>
              <a:rPr lang="en-US" sz="2000" dirty="0"/>
              <a:t> = 1345</a:t>
            </a:r>
          </a:p>
          <a:p>
            <a:pPr marL="742950" lvl="1" indent="-285750">
              <a:buFont typeface="Arial" panose="020B0604020202020204" pitchFamily="34" charset="0"/>
              <a:buChar char="•"/>
            </a:pPr>
            <a:r>
              <a:rPr lang="en-US" sz="2000" dirty="0">
                <a:latin typeface="Courier New" panose="02070309020205020404" pitchFamily="49" charset="0"/>
              </a:rPr>
              <a:t>1</a:t>
            </a:r>
            <a:r>
              <a:rPr lang="en-US" sz="2000" dirty="0"/>
              <a:t> = 870</a:t>
            </a:r>
          </a:p>
          <a:p>
            <a:pPr>
              <a:buFont typeface="Arial" panose="020B0604020202020204" pitchFamily="34" charset="0"/>
              <a:buChar char="•"/>
            </a:pPr>
            <a:r>
              <a:rPr lang="en-US" sz="2000" dirty="0"/>
              <a:t>Observation: The dataset is </a:t>
            </a:r>
            <a:r>
              <a:rPr lang="en-US" sz="2000" b="1" dirty="0"/>
              <a:t>unbalanced</a:t>
            </a:r>
            <a:r>
              <a:rPr lang="en-US" sz="2000" dirty="0"/>
              <a:t> — more unsatisfied than satisfied customers.</a:t>
            </a:r>
          </a:p>
          <a:p>
            <a:pPr>
              <a:buNone/>
            </a:pPr>
            <a:br>
              <a:rPr lang="en-US" sz="2000" dirty="0"/>
            </a:br>
            <a:endParaRPr lang="en-US" sz="2000" dirty="0"/>
          </a:p>
        </p:txBody>
      </p:sp>
      <p:sp>
        <p:nvSpPr>
          <p:cNvPr id="21" name="TextBox 20">
            <a:extLst>
              <a:ext uri="{FF2B5EF4-FFF2-40B4-BE49-F238E27FC236}">
                <a16:creationId xmlns:a16="http://schemas.microsoft.com/office/drawing/2014/main" id="{D90FE3D4-9CE6-225E-A0C6-EDA2CA50892F}"/>
              </a:ext>
            </a:extLst>
          </p:cNvPr>
          <p:cNvSpPr txBox="1"/>
          <p:nvPr/>
        </p:nvSpPr>
        <p:spPr>
          <a:xfrm>
            <a:off x="11041823" y="5143500"/>
            <a:ext cx="5943600" cy="378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 Handling Imbalance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Problem:</a:t>
            </a:r>
            <a:r>
              <a:rPr kumimoji="0" lang="en-US" sz="2000" b="0" i="0" u="none" strike="noStrike" kern="1200" cap="none" spc="0" normalizeH="0" baseline="0" noProof="0" dirty="0">
                <a:ln>
                  <a:noFill/>
                </a:ln>
                <a:solidFill>
                  <a:prstClr val="black"/>
                </a:solidFill>
                <a:effectLst/>
                <a:uLnTx/>
                <a:uFillTx/>
                <a:latin typeface="Calibri"/>
                <a:ea typeface="+mn-ea"/>
                <a:cs typeface="+mn-cs"/>
              </a:rPr>
              <a:t> Machine learning models may </a:t>
            </a:r>
            <a:r>
              <a:rPr kumimoji="0" lang="en-US" sz="2000" b="1" i="0" u="none" strike="noStrike" kern="1200" cap="none" spc="0" normalizeH="0" baseline="0" noProof="0" dirty="0">
                <a:ln>
                  <a:noFill/>
                </a:ln>
                <a:solidFill>
                  <a:prstClr val="black"/>
                </a:solidFill>
                <a:effectLst/>
                <a:uLnTx/>
                <a:uFillTx/>
                <a:latin typeface="Calibri"/>
                <a:ea typeface="+mn-ea"/>
                <a:cs typeface="+mn-cs"/>
              </a:rPr>
              <a:t>bias towards the majority class</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0</a:t>
            </a:r>
            <a:r>
              <a:rPr kumimoji="0" lang="en-US" sz="2000" b="0" i="0" u="none" strike="noStrike" kern="1200" cap="none" spc="0" normalizeH="0" baseline="0" noProof="0" dirty="0">
                <a:ln>
                  <a:noFill/>
                </a:ln>
                <a:solidFill>
                  <a:prstClr val="black"/>
                </a:solidFill>
                <a:effectLst/>
                <a:uLnTx/>
                <a:uFillTx/>
                <a:latin typeface="Calibri"/>
                <a:ea typeface="+mn-ea"/>
                <a:cs typeface="+mn-cs"/>
              </a:rPr>
              <a:t> in this case), leading to poor prediction for the minority class.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Solution:</a:t>
            </a:r>
            <a:r>
              <a:rPr kumimoji="0" lang="en-US" sz="2000" b="0" i="0" u="none" strike="noStrike" kern="1200" cap="none" spc="0" normalizeH="0" baseline="0" noProof="0" dirty="0">
                <a:ln>
                  <a:noFill/>
                </a:ln>
                <a:solidFill>
                  <a:prstClr val="black"/>
                </a:solidFill>
                <a:effectLst/>
                <a:uLnTx/>
                <a:uFillTx/>
                <a:latin typeface="Calibri"/>
                <a:ea typeface="+mn-ea"/>
                <a:cs typeface="+mn-cs"/>
              </a:rPr>
              <a:t> </a:t>
            </a:r>
            <a:r>
              <a:rPr kumimoji="0" lang="en-US" sz="2000" b="1" i="0" u="none" strike="noStrike" kern="1200" cap="none" spc="0" normalizeH="0" baseline="0" noProof="0" dirty="0">
                <a:ln>
                  <a:noFill/>
                </a:ln>
                <a:solidFill>
                  <a:prstClr val="black"/>
                </a:solidFill>
                <a:effectLst/>
                <a:uLnTx/>
                <a:uFillTx/>
                <a:latin typeface="Calibri"/>
                <a:ea typeface="+mn-ea"/>
                <a:cs typeface="+mn-cs"/>
              </a:rPr>
              <a:t>SMOTE (Synthetic Minority Oversampling Technique)</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SMOTE </a:t>
            </a:r>
            <a:r>
              <a:rPr kumimoji="0" lang="en-US" sz="2000" b="1" i="0" u="none" strike="noStrike" kern="1200" cap="none" spc="0" normalizeH="0" baseline="0" noProof="0" dirty="0">
                <a:ln>
                  <a:noFill/>
                </a:ln>
                <a:solidFill>
                  <a:prstClr val="black"/>
                </a:solidFill>
                <a:effectLst/>
                <a:uLnTx/>
                <a:uFillTx/>
                <a:latin typeface="Calibri"/>
                <a:ea typeface="+mn-ea"/>
                <a:cs typeface="+mn-cs"/>
              </a:rPr>
              <a:t>creates synthetic samples</a:t>
            </a:r>
            <a:r>
              <a:rPr kumimoji="0" lang="en-US" sz="2000" b="0" i="0" u="none" strike="noStrike" kern="1200" cap="none" spc="0" normalizeH="0" baseline="0" noProof="0" dirty="0">
                <a:ln>
                  <a:noFill/>
                </a:ln>
                <a:solidFill>
                  <a:prstClr val="black"/>
                </a:solidFill>
                <a:effectLst/>
                <a:uLnTx/>
                <a:uFillTx/>
                <a:latin typeface="Calibri"/>
                <a:ea typeface="+mn-ea"/>
                <a:cs typeface="+mn-cs"/>
              </a:rPr>
              <a:t> for the minority class (</a:t>
            </a:r>
            <a:r>
              <a:rPr kumimoji="0" lang="en-US" sz="20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1</a:t>
            </a:r>
            <a:r>
              <a:rPr kumimoji="0" lang="en-US" sz="2000" b="0" i="0" u="none" strike="noStrike" kern="1200" cap="none" spc="0" normalizeH="0" baseline="0" noProof="0" dirty="0">
                <a:ln>
                  <a:noFill/>
                </a:ln>
                <a:solidFill>
                  <a:prstClr val="black"/>
                </a:solidFill>
                <a:effectLst/>
                <a:uLnTx/>
                <a:uFillTx/>
                <a:latin typeface="Calibri"/>
                <a:ea typeface="+mn-ea"/>
                <a:cs typeface="+mn-cs"/>
              </a:rPr>
              <a:t>) to balance the dataset.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After SMOTE, the classes will have roughly equal representation.</a:t>
            </a:r>
          </a:p>
          <a:p>
            <a:endParaRPr lang="en-IN" sz="2000" dirty="0"/>
          </a:p>
        </p:txBody>
      </p:sp>
    </p:spTree>
    <p:extLst>
      <p:ext uri="{BB962C8B-B14F-4D97-AF65-F5344CB8AC3E}">
        <p14:creationId xmlns:p14="http://schemas.microsoft.com/office/powerpoint/2010/main" val="2963507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33400" y="5143500"/>
            <a:ext cx="6553200" cy="4644630"/>
          </a:xfrm>
          <a:custGeom>
            <a:avLst/>
            <a:gdLst/>
            <a:ahLst/>
            <a:cxnLst/>
            <a:rect l="l" t="t" r="r" b="b"/>
            <a:pathLst>
              <a:path w="7195906" h="4644630">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914400" y="1562100"/>
            <a:ext cx="8801100" cy="1032719"/>
          </a:xfrm>
          <a:prstGeom prst="rect">
            <a:avLst/>
          </a:prstGeom>
        </p:spPr>
        <p:txBody>
          <a:bodyPr wrap="square" lIns="0" tIns="0" rIns="0" bIns="0" rtlCol="0" anchor="t">
            <a:spAutoFit/>
          </a:bodyPr>
          <a:lstStyle/>
          <a:p>
            <a:pPr>
              <a:lnSpc>
                <a:spcPts val="7656"/>
              </a:lnSpc>
            </a:pPr>
            <a:r>
              <a:rPr lang="en-IN" sz="8800" dirty="0"/>
              <a:t>8. Model Building</a:t>
            </a:r>
            <a:endParaRPr lang="en-US" sz="8800" spc="-431" dirty="0">
              <a:solidFill>
                <a:srgbClr val="000000"/>
              </a:solidFill>
              <a:latin typeface="TT Interphases"/>
              <a:ea typeface="TT Interphases"/>
              <a:cs typeface="TT Interphases"/>
              <a:sym typeface="TT Interphases"/>
            </a:endParaRPr>
          </a:p>
        </p:txBody>
      </p:sp>
      <p:sp>
        <p:nvSpPr>
          <p:cNvPr id="13" name="TextBox 12">
            <a:extLst>
              <a:ext uri="{FF2B5EF4-FFF2-40B4-BE49-F238E27FC236}">
                <a16:creationId xmlns:a16="http://schemas.microsoft.com/office/drawing/2014/main" id="{1B6C48DA-4C2F-7FD5-F69F-F144C9317A98}"/>
              </a:ext>
            </a:extLst>
          </p:cNvPr>
          <p:cNvSpPr txBox="1"/>
          <p:nvPr/>
        </p:nvSpPr>
        <p:spPr>
          <a:xfrm>
            <a:off x="8962103" y="2956560"/>
            <a:ext cx="8991600" cy="7879080"/>
          </a:xfrm>
          <a:prstGeom prst="rect">
            <a:avLst/>
          </a:prstGeom>
          <a:noFill/>
        </p:spPr>
        <p:txBody>
          <a:bodyPr wrap="square">
            <a:spAutoFit/>
          </a:bodyPr>
          <a:lstStyle/>
          <a:p>
            <a:pPr>
              <a:buNone/>
            </a:pPr>
            <a:r>
              <a:rPr lang="en-IN" sz="2200" b="1" dirty="0"/>
              <a:t>1️⃣ Train-Test Split</a:t>
            </a:r>
          </a:p>
          <a:p>
            <a:pPr>
              <a:buFont typeface="Arial" panose="020B0604020202020204" pitchFamily="34" charset="0"/>
              <a:buChar char="•"/>
            </a:pPr>
            <a:r>
              <a:rPr lang="en-IN" sz="2200" b="1" dirty="0"/>
              <a:t>Features (</a:t>
            </a:r>
            <a:r>
              <a:rPr lang="en-IN" sz="2200" b="1" dirty="0">
                <a:latin typeface="Courier New" panose="02070309020205020404" pitchFamily="49" charset="0"/>
              </a:rPr>
              <a:t>X</a:t>
            </a:r>
            <a:r>
              <a:rPr lang="en-IN" sz="2200" b="1" dirty="0"/>
              <a:t>)</a:t>
            </a:r>
            <a:r>
              <a:rPr lang="en-IN" sz="2200" dirty="0"/>
              <a:t>: All columns except </a:t>
            </a:r>
            <a:r>
              <a:rPr lang="en-IN" sz="2200" dirty="0">
                <a:latin typeface="Courier New" panose="02070309020205020404" pitchFamily="49" charset="0"/>
              </a:rPr>
              <a:t>satisfaction_label</a:t>
            </a:r>
            <a:endParaRPr lang="en-IN" sz="2200" dirty="0"/>
          </a:p>
          <a:p>
            <a:pPr>
              <a:buFont typeface="Arial" panose="020B0604020202020204" pitchFamily="34" charset="0"/>
              <a:buChar char="•"/>
            </a:pPr>
            <a:r>
              <a:rPr lang="en-IN" sz="2200" b="1" dirty="0"/>
              <a:t>Target (</a:t>
            </a:r>
            <a:r>
              <a:rPr lang="en-IN" sz="2200" b="1" dirty="0">
                <a:latin typeface="Courier New" panose="02070309020205020404" pitchFamily="49" charset="0"/>
              </a:rPr>
              <a:t>Y</a:t>
            </a:r>
            <a:r>
              <a:rPr lang="en-IN" sz="2200" b="1" dirty="0"/>
              <a:t>)</a:t>
            </a:r>
            <a:r>
              <a:rPr lang="en-IN" sz="2200" dirty="0"/>
              <a:t>: </a:t>
            </a:r>
            <a:r>
              <a:rPr lang="en-IN" sz="2200" dirty="0">
                <a:latin typeface="Courier New" panose="02070309020205020404" pitchFamily="49" charset="0"/>
              </a:rPr>
              <a:t>satisfaction_label</a:t>
            </a:r>
            <a:r>
              <a:rPr lang="en-IN" sz="2200" dirty="0"/>
              <a:t> (0 = Unsatisfied, 1 = Satisfied)</a:t>
            </a:r>
          </a:p>
          <a:p>
            <a:pPr>
              <a:buFont typeface="Arial" panose="020B0604020202020204" pitchFamily="34" charset="0"/>
              <a:buChar char="•"/>
            </a:pPr>
            <a:r>
              <a:rPr lang="en-IN" sz="2200" b="1" dirty="0"/>
              <a:t>Split</a:t>
            </a:r>
            <a:r>
              <a:rPr lang="en-IN" sz="2200" dirty="0"/>
              <a:t>: 80% train, 20% test, </a:t>
            </a:r>
            <a:r>
              <a:rPr lang="en-IN" sz="2200" b="1" dirty="0"/>
              <a:t>stratified</a:t>
            </a:r>
            <a:r>
              <a:rPr lang="en-IN" sz="2200" dirty="0"/>
              <a:t> to maintain class ratio.</a:t>
            </a:r>
          </a:p>
          <a:p>
            <a:pPr>
              <a:buFont typeface="Arial" panose="020B0604020202020204" pitchFamily="34" charset="0"/>
              <a:buChar char="•"/>
            </a:pPr>
            <a:r>
              <a:rPr lang="en-IN" sz="2200" b="1" dirty="0"/>
              <a:t>Training class distribution:</a:t>
            </a:r>
            <a:endParaRPr lang="en-IN" sz="2200" dirty="0"/>
          </a:p>
          <a:p>
            <a:pPr marL="742950" lvl="1" indent="-285750">
              <a:buFont typeface="Arial" panose="020B0604020202020204" pitchFamily="34" charset="0"/>
              <a:buChar char="•"/>
            </a:pPr>
            <a:r>
              <a:rPr lang="en-IN" sz="2200" dirty="0"/>
              <a:t>0 → 1345</a:t>
            </a:r>
          </a:p>
          <a:p>
            <a:pPr marL="742950" lvl="1" indent="-285750">
              <a:buFont typeface="Arial" panose="020B0604020202020204" pitchFamily="34" charset="0"/>
              <a:buChar char="•"/>
            </a:pPr>
            <a:r>
              <a:rPr lang="en-IN" sz="2200" dirty="0"/>
              <a:t>1 → 870</a:t>
            </a:r>
          </a:p>
          <a:p>
            <a:pPr marL="742950" lvl="1" indent="-285750">
              <a:buFont typeface="Arial" panose="020B0604020202020204" pitchFamily="34" charset="0"/>
              <a:buChar char="•"/>
            </a:pPr>
            <a:endParaRPr lang="en-IN" sz="2200" dirty="0"/>
          </a:p>
          <a:p>
            <a:pPr>
              <a:buNone/>
            </a:pPr>
            <a:r>
              <a:rPr lang="en-IN" sz="2200" b="1" dirty="0"/>
              <a:t>2️⃣ Model Approaches</a:t>
            </a:r>
          </a:p>
          <a:p>
            <a:pPr>
              <a:buNone/>
            </a:pPr>
            <a:r>
              <a:rPr lang="en-IN" sz="2200" dirty="0"/>
              <a:t>Two algorithms were used with </a:t>
            </a:r>
            <a:r>
              <a:rPr lang="en-IN" sz="2200" b="1" dirty="0"/>
              <a:t>two strategies to handle class imbalance</a:t>
            </a:r>
            <a:r>
              <a:rPr lang="en-IN" sz="2200" dirty="0"/>
              <a:t>:</a:t>
            </a:r>
          </a:p>
          <a:p>
            <a:pPr>
              <a:buNone/>
            </a:pPr>
            <a:r>
              <a:rPr lang="en-IN" sz="2200" b="1" dirty="0"/>
              <a:t>A. Logistic Regression (Balanced Class Weights)</a:t>
            </a:r>
          </a:p>
          <a:p>
            <a:pPr>
              <a:buFont typeface="Arial" panose="020B0604020202020204" pitchFamily="34" charset="0"/>
              <a:buChar char="•"/>
            </a:pPr>
            <a:r>
              <a:rPr lang="en-IN" sz="2200" dirty="0" err="1">
                <a:latin typeface="Courier New" panose="02070309020205020404" pitchFamily="49" charset="0"/>
              </a:rPr>
              <a:t>class_weight</a:t>
            </a:r>
            <a:r>
              <a:rPr lang="en-IN" sz="2200" dirty="0">
                <a:latin typeface="Courier New" panose="02070309020205020404" pitchFamily="49" charset="0"/>
              </a:rPr>
              <a:t>='balanced'</a:t>
            </a:r>
            <a:r>
              <a:rPr lang="en-IN" sz="2200" dirty="0"/>
              <a:t> → automatically penalizes misclassification of minority class.</a:t>
            </a:r>
          </a:p>
          <a:p>
            <a:pPr>
              <a:buFont typeface="Arial" panose="020B0604020202020204" pitchFamily="34" charset="0"/>
              <a:buChar char="•"/>
            </a:pPr>
            <a:r>
              <a:rPr lang="en-IN" sz="2200" dirty="0"/>
              <a:t>Features </a:t>
            </a:r>
            <a:r>
              <a:rPr lang="en-IN" sz="2200" b="1" dirty="0"/>
              <a:t>standardized</a:t>
            </a:r>
            <a:r>
              <a:rPr lang="en-IN" sz="2200" dirty="0"/>
              <a:t> using </a:t>
            </a:r>
            <a:r>
              <a:rPr lang="en-IN" sz="2200" dirty="0">
                <a:latin typeface="Courier New" panose="02070309020205020404" pitchFamily="49" charset="0"/>
              </a:rPr>
              <a:t>StandardScaler</a:t>
            </a:r>
            <a:r>
              <a:rPr lang="en-IN" sz="2200" dirty="0"/>
              <a:t>.</a:t>
            </a:r>
          </a:p>
          <a:p>
            <a:pPr>
              <a:buFont typeface="Arial" panose="020B0604020202020204" pitchFamily="34" charset="0"/>
              <a:buChar char="•"/>
            </a:pPr>
            <a:r>
              <a:rPr lang="en-IN" sz="2200" b="1" dirty="0"/>
              <a:t>B. XGBoost (Balanced Weights)</a:t>
            </a:r>
          </a:p>
          <a:p>
            <a:pPr>
              <a:buFont typeface="Arial" panose="020B0604020202020204" pitchFamily="34" charset="0"/>
              <a:buChar char="•"/>
            </a:pPr>
            <a:r>
              <a:rPr lang="en-IN" sz="2200" dirty="0"/>
              <a:t>Computed </a:t>
            </a:r>
            <a:r>
              <a:rPr lang="en-IN" sz="2200" dirty="0" err="1">
                <a:latin typeface="Courier New" panose="02070309020205020404" pitchFamily="49" charset="0"/>
              </a:rPr>
              <a:t>scale_pos_weight</a:t>
            </a:r>
            <a:r>
              <a:rPr lang="en-IN" sz="2200" dirty="0">
                <a:latin typeface="Courier New" panose="02070309020205020404" pitchFamily="49" charset="0"/>
              </a:rPr>
              <a:t> = (#negatives / #positives)</a:t>
            </a:r>
            <a:r>
              <a:rPr lang="en-IN" sz="2200" dirty="0"/>
              <a:t> → balances gradient boosting updates.</a:t>
            </a:r>
          </a:p>
          <a:p>
            <a:pPr>
              <a:buFont typeface="Arial" panose="020B0604020202020204" pitchFamily="34" charset="0"/>
              <a:buChar char="•"/>
            </a:pPr>
            <a:r>
              <a:rPr lang="en-IN" sz="2200" dirty="0"/>
              <a:t>Parameters:</a:t>
            </a:r>
          </a:p>
          <a:p>
            <a:pPr marL="742950" lvl="1" indent="-285750">
              <a:buFont typeface="Arial" panose="020B0604020202020204" pitchFamily="34" charset="0"/>
              <a:buChar char="•"/>
            </a:pPr>
            <a:r>
              <a:rPr lang="en-IN" sz="2200" dirty="0" err="1">
                <a:latin typeface="Courier New" panose="02070309020205020404" pitchFamily="49" charset="0"/>
              </a:rPr>
              <a:t>n_estimators</a:t>
            </a:r>
            <a:r>
              <a:rPr lang="en-IN" sz="2200" dirty="0">
                <a:latin typeface="Courier New" panose="02070309020205020404" pitchFamily="49" charset="0"/>
              </a:rPr>
              <a:t>=200</a:t>
            </a:r>
            <a:endParaRPr lang="en-IN" sz="2200" dirty="0"/>
          </a:p>
          <a:p>
            <a:pPr marL="742950" lvl="1" indent="-285750">
              <a:buFont typeface="Arial" panose="020B0604020202020204" pitchFamily="34" charset="0"/>
              <a:buChar char="•"/>
            </a:pPr>
            <a:r>
              <a:rPr lang="en-IN" sz="2200" dirty="0" err="1">
                <a:latin typeface="Courier New" panose="02070309020205020404" pitchFamily="49" charset="0"/>
              </a:rPr>
              <a:t>learning_rate</a:t>
            </a:r>
            <a:r>
              <a:rPr lang="en-IN" sz="2200" dirty="0">
                <a:latin typeface="Courier New" panose="02070309020205020404" pitchFamily="49" charset="0"/>
              </a:rPr>
              <a:t>=0.05</a:t>
            </a:r>
            <a:endParaRPr lang="en-IN" sz="2200" dirty="0"/>
          </a:p>
          <a:p>
            <a:pPr marL="742950" lvl="1" indent="-285750">
              <a:buFont typeface="Arial" panose="020B0604020202020204" pitchFamily="34" charset="0"/>
              <a:buChar char="•"/>
            </a:pPr>
            <a:r>
              <a:rPr lang="en-IN" sz="2200" dirty="0" err="1">
                <a:latin typeface="Courier New" panose="02070309020205020404" pitchFamily="49" charset="0"/>
              </a:rPr>
              <a:t>max_depth</a:t>
            </a:r>
            <a:r>
              <a:rPr lang="en-IN" sz="2200" dirty="0">
                <a:latin typeface="Courier New" panose="02070309020205020404" pitchFamily="49" charset="0"/>
              </a:rPr>
              <a:t>=5</a:t>
            </a:r>
            <a:endParaRPr lang="en-IN" sz="2200" dirty="0"/>
          </a:p>
          <a:p>
            <a:endParaRPr lang="en-IN" sz="2200" dirty="0"/>
          </a:p>
          <a:p>
            <a:pPr>
              <a:buNone/>
            </a:pPr>
            <a:endParaRPr lang="en-IN" sz="2200" dirty="0"/>
          </a:p>
        </p:txBody>
      </p:sp>
      <p:sp>
        <p:nvSpPr>
          <p:cNvPr id="17" name="TextBox 16">
            <a:extLst>
              <a:ext uri="{FF2B5EF4-FFF2-40B4-BE49-F238E27FC236}">
                <a16:creationId xmlns:a16="http://schemas.microsoft.com/office/drawing/2014/main" id="{FDC24A53-1EC4-A357-9608-C5F38C9E97C4}"/>
              </a:ext>
            </a:extLst>
          </p:cNvPr>
          <p:cNvSpPr txBox="1"/>
          <p:nvPr/>
        </p:nvSpPr>
        <p:spPr>
          <a:xfrm>
            <a:off x="742950" y="2956560"/>
            <a:ext cx="824865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black"/>
                </a:solidFill>
                <a:effectLst/>
                <a:uLnTx/>
                <a:uFillTx/>
                <a:latin typeface="Calibri"/>
                <a:ea typeface="+mn-ea"/>
                <a:cs typeface="+mn-cs"/>
              </a:rPr>
              <a:t>After preprocessing, all categorical features were converted into numeric form using </a:t>
            </a:r>
            <a:r>
              <a:rPr kumimoji="0" lang="en-US" sz="3000" b="1" i="0" u="none" strike="noStrike" kern="1200" cap="none" spc="0" normalizeH="0" baseline="0" noProof="0" dirty="0">
                <a:ln>
                  <a:noFill/>
                </a:ln>
                <a:solidFill>
                  <a:prstClr val="black"/>
                </a:solidFill>
                <a:effectLst/>
                <a:uLnTx/>
                <a:uFillTx/>
                <a:latin typeface="Calibri"/>
                <a:ea typeface="+mn-ea"/>
                <a:cs typeface="+mn-cs"/>
              </a:rPr>
              <a:t>Label Encoding</a:t>
            </a:r>
            <a:r>
              <a:rPr kumimoji="0" lang="en-US" sz="3000" b="0" i="0" u="none" strike="noStrike" kern="1200" cap="none" spc="0" normalizeH="0" baseline="0" noProof="0" dirty="0">
                <a:ln>
                  <a:noFill/>
                </a:ln>
                <a:solidFill>
                  <a:prstClr val="black"/>
                </a:solidFill>
                <a:effectLst/>
                <a:uLnTx/>
                <a:uFillTx/>
                <a:latin typeface="Calibri"/>
                <a:ea typeface="+mn-ea"/>
                <a:cs typeface="+mn-cs"/>
              </a:rPr>
              <a:t>, resulting in </a:t>
            </a:r>
            <a:r>
              <a:rPr lang="en-US" sz="3000" b="1" dirty="0">
                <a:solidFill>
                  <a:prstClr val="black"/>
                </a:solidFill>
                <a:latin typeface="Calibri"/>
              </a:rPr>
              <a:t>115</a:t>
            </a:r>
            <a:r>
              <a:rPr kumimoji="0" lang="en-US" sz="3000" b="1" i="0" u="none" strike="noStrike" kern="1200" cap="none" spc="0" normalizeH="0" baseline="0" noProof="0" dirty="0">
                <a:ln>
                  <a:noFill/>
                </a:ln>
                <a:solidFill>
                  <a:prstClr val="black"/>
                </a:solidFill>
                <a:effectLst/>
                <a:uLnTx/>
                <a:uFillTx/>
                <a:latin typeface="Calibri"/>
                <a:ea typeface="+mn-ea"/>
                <a:cs typeface="+mn-cs"/>
              </a:rPr>
              <a:t> input features</a:t>
            </a:r>
            <a:r>
              <a:rPr kumimoji="0" lang="en-US" sz="3000" b="0" i="0" u="none" strike="noStrike" kern="1200" cap="none" spc="0" normalizeH="0" baseline="0" noProof="0" dirty="0">
                <a:ln>
                  <a:noFill/>
                </a:ln>
                <a:solidFill>
                  <a:prstClr val="black"/>
                </a:solidFill>
                <a:effectLst/>
                <a:uLnTx/>
                <a:uFillTx/>
                <a:latin typeface="Calibri"/>
                <a:ea typeface="+mn-ea"/>
                <a:cs typeface="+mn-c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BF63-F542-6728-3D9C-2EB6EA31180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DC7B7B-18C8-D978-C257-A757A53C4452}"/>
              </a:ext>
            </a:extLst>
          </p:cNvPr>
          <p:cNvSpPr/>
          <p:nvPr/>
        </p:nvSpPr>
        <p:spPr>
          <a:xfrm>
            <a:off x="1028700" y="10287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2B32CD53-6CC3-A29B-1270-697B2F436DDD}"/>
              </a:ext>
            </a:extLst>
          </p:cNvPr>
          <p:cNvSpPr/>
          <p:nvPr/>
        </p:nvSpPr>
        <p:spPr>
          <a:xfrm>
            <a:off x="533400" y="5143500"/>
            <a:ext cx="6553200" cy="4644630"/>
          </a:xfrm>
          <a:custGeom>
            <a:avLst/>
            <a:gdLst/>
            <a:ahLst/>
            <a:cxnLst/>
            <a:rect l="l" t="t" r="r" b="b"/>
            <a:pathLst>
              <a:path w="7195906" h="4644630">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9ABAE94D-7A9B-2E93-4074-85857C6658D1}"/>
              </a:ext>
            </a:extLst>
          </p:cNvPr>
          <p:cNvSpPr txBox="1"/>
          <p:nvPr/>
        </p:nvSpPr>
        <p:spPr>
          <a:xfrm>
            <a:off x="914400" y="1562100"/>
            <a:ext cx="8801100" cy="1032719"/>
          </a:xfrm>
          <a:prstGeom prst="rect">
            <a:avLst/>
          </a:prstGeom>
        </p:spPr>
        <p:txBody>
          <a:bodyPr wrap="square" lIns="0" tIns="0" rIns="0" bIns="0" rtlCol="0" anchor="t">
            <a:spAutoFit/>
          </a:bodyPr>
          <a:lstStyle/>
          <a:p>
            <a:pPr>
              <a:lnSpc>
                <a:spcPts val="7656"/>
              </a:lnSpc>
            </a:pPr>
            <a:r>
              <a:rPr lang="en-IN" sz="8800" dirty="0"/>
              <a:t>8. Model Building</a:t>
            </a:r>
            <a:endParaRPr lang="en-US" sz="8800" spc="-431" dirty="0">
              <a:solidFill>
                <a:srgbClr val="000000"/>
              </a:solidFill>
              <a:latin typeface="TT Interphases"/>
              <a:ea typeface="TT Interphases"/>
              <a:cs typeface="TT Interphases"/>
              <a:sym typeface="TT Interphases"/>
            </a:endParaRPr>
          </a:p>
        </p:txBody>
      </p:sp>
      <p:sp>
        <p:nvSpPr>
          <p:cNvPr id="13" name="TextBox 12">
            <a:extLst>
              <a:ext uri="{FF2B5EF4-FFF2-40B4-BE49-F238E27FC236}">
                <a16:creationId xmlns:a16="http://schemas.microsoft.com/office/drawing/2014/main" id="{B3C6D932-9824-997A-4E23-BAD471B1CBA0}"/>
              </a:ext>
            </a:extLst>
          </p:cNvPr>
          <p:cNvSpPr txBox="1"/>
          <p:nvPr/>
        </p:nvSpPr>
        <p:spPr>
          <a:xfrm>
            <a:off x="8763000" y="2948694"/>
            <a:ext cx="8991600" cy="7201972"/>
          </a:xfrm>
          <a:prstGeom prst="rect">
            <a:avLst/>
          </a:prstGeom>
          <a:noFill/>
        </p:spPr>
        <p:txBody>
          <a:bodyPr wrap="square">
            <a:spAutoFit/>
          </a:bodyPr>
          <a:lstStyle/>
          <a:p>
            <a:pPr>
              <a:buNone/>
            </a:pPr>
            <a:r>
              <a:rPr lang="en-US" sz="2200" b="1" dirty="0"/>
              <a:t>C. Logistic Regression with SMOTE</a:t>
            </a:r>
          </a:p>
          <a:p>
            <a:pPr>
              <a:buFont typeface="Arial" panose="020B0604020202020204" pitchFamily="34" charset="0"/>
              <a:buChar char="•"/>
            </a:pPr>
            <a:r>
              <a:rPr lang="en-US" sz="2200" b="1" dirty="0"/>
              <a:t>SMOTE</a:t>
            </a:r>
            <a:r>
              <a:rPr lang="en-US" sz="2200" dirty="0"/>
              <a:t>: Synthesizes minority class samples in training set.</a:t>
            </a:r>
          </a:p>
          <a:p>
            <a:pPr>
              <a:buFont typeface="Arial" panose="020B0604020202020204" pitchFamily="34" charset="0"/>
              <a:buChar char="•"/>
            </a:pPr>
            <a:r>
              <a:rPr lang="en-US" sz="2200" dirty="0"/>
              <a:t>Pipeline includes:</a:t>
            </a:r>
          </a:p>
          <a:p>
            <a:pPr marL="742950" lvl="1" indent="-285750">
              <a:buFont typeface="Arial" panose="020B0604020202020204" pitchFamily="34" charset="0"/>
              <a:buChar char="•"/>
            </a:pPr>
            <a:r>
              <a:rPr lang="en-US" sz="2200" dirty="0"/>
              <a:t>Scaling (</a:t>
            </a:r>
            <a:r>
              <a:rPr lang="en-US" sz="2200" dirty="0">
                <a:latin typeface="Courier New" panose="02070309020205020404" pitchFamily="49" charset="0"/>
              </a:rPr>
              <a:t>StandardScaler</a:t>
            </a:r>
            <a:r>
              <a:rPr lang="en-US" sz="2200" dirty="0"/>
              <a:t>)</a:t>
            </a:r>
          </a:p>
          <a:p>
            <a:pPr marL="742950" lvl="1" indent="-285750">
              <a:buFont typeface="Arial" panose="020B0604020202020204" pitchFamily="34" charset="0"/>
              <a:buChar char="•"/>
            </a:pPr>
            <a:r>
              <a:rPr lang="en-US" sz="2200" dirty="0"/>
              <a:t>SMOTE</a:t>
            </a:r>
          </a:p>
          <a:p>
            <a:pPr marL="742950" lvl="1" indent="-285750">
              <a:buFont typeface="Arial" panose="020B0604020202020204" pitchFamily="34" charset="0"/>
              <a:buChar char="•"/>
            </a:pPr>
            <a:r>
              <a:rPr lang="en-US" sz="2200" dirty="0"/>
              <a:t>Logistic Regression model</a:t>
            </a:r>
          </a:p>
          <a:p>
            <a:pPr>
              <a:buFont typeface="Arial" panose="020B0604020202020204" pitchFamily="34" charset="0"/>
              <a:buChar char="•"/>
            </a:pPr>
            <a:r>
              <a:rPr lang="en-US" sz="2200" dirty="0"/>
              <a:t>Purpose: Compare effect of </a:t>
            </a:r>
            <a:r>
              <a:rPr lang="en-US" sz="2200" b="1" dirty="0"/>
              <a:t>oversampling vs class weights</a:t>
            </a:r>
            <a:r>
              <a:rPr lang="en-US" sz="2200" dirty="0"/>
              <a:t>.</a:t>
            </a:r>
          </a:p>
          <a:p>
            <a:pPr>
              <a:buNone/>
            </a:pPr>
            <a:r>
              <a:rPr lang="en-US" sz="2200" b="1" dirty="0"/>
              <a:t>D. XGBoost with SMOTE</a:t>
            </a:r>
          </a:p>
          <a:p>
            <a:pPr>
              <a:buFont typeface="Arial" panose="020B0604020202020204" pitchFamily="34" charset="0"/>
              <a:buChar char="•"/>
            </a:pPr>
            <a:r>
              <a:rPr lang="en-US" sz="2200" dirty="0"/>
              <a:t>SMOTE applied before training XGBoost.</a:t>
            </a:r>
          </a:p>
          <a:p>
            <a:pPr>
              <a:buFont typeface="Arial" panose="020B0604020202020204" pitchFamily="34" charset="0"/>
              <a:buChar char="•"/>
            </a:pPr>
            <a:r>
              <a:rPr lang="en-US" sz="2200" dirty="0"/>
              <a:t>Same parameters as before (</a:t>
            </a:r>
            <a:r>
              <a:rPr lang="en-US" sz="2200" dirty="0" err="1">
                <a:latin typeface="Courier New" panose="02070309020205020404" pitchFamily="49" charset="0"/>
              </a:rPr>
              <a:t>n_estimators</a:t>
            </a:r>
            <a:r>
              <a:rPr lang="en-US" sz="2200" dirty="0">
                <a:latin typeface="Courier New" panose="02070309020205020404" pitchFamily="49" charset="0"/>
              </a:rPr>
              <a:t>=200</a:t>
            </a:r>
            <a:r>
              <a:rPr lang="en-US" sz="2200" dirty="0"/>
              <a:t>, </a:t>
            </a:r>
            <a:r>
              <a:rPr lang="en-US" sz="2200" dirty="0" err="1">
                <a:latin typeface="Courier New" panose="02070309020205020404" pitchFamily="49" charset="0"/>
              </a:rPr>
              <a:t>learning_rate</a:t>
            </a:r>
            <a:r>
              <a:rPr lang="en-US" sz="2200" dirty="0">
                <a:latin typeface="Courier New" panose="02070309020205020404" pitchFamily="49" charset="0"/>
              </a:rPr>
              <a:t>=0.05</a:t>
            </a:r>
            <a:r>
              <a:rPr lang="en-US" sz="2200" dirty="0"/>
              <a:t>, </a:t>
            </a:r>
            <a:r>
              <a:rPr lang="en-US" sz="2200" dirty="0" err="1">
                <a:latin typeface="Courier New" panose="02070309020205020404" pitchFamily="49" charset="0"/>
              </a:rPr>
              <a:t>max_depth</a:t>
            </a:r>
            <a:r>
              <a:rPr lang="en-US" sz="2200" dirty="0">
                <a:latin typeface="Courier New" panose="02070309020205020404" pitchFamily="49" charset="0"/>
              </a:rPr>
              <a:t>=5</a:t>
            </a:r>
            <a:r>
              <a:rPr lang="en-US" sz="2200" dirty="0"/>
              <a:t>).</a:t>
            </a:r>
          </a:p>
          <a:p>
            <a:pPr>
              <a:buFont typeface="Arial" panose="020B0604020202020204" pitchFamily="34" charset="0"/>
              <a:buChar char="•"/>
            </a:pPr>
            <a:r>
              <a:rPr lang="en-US" sz="2200" dirty="0"/>
              <a:t>Evaluation: Confusion matrix + classification report.</a:t>
            </a:r>
          </a:p>
          <a:p>
            <a:pPr>
              <a:buNone/>
            </a:pPr>
            <a:br>
              <a:rPr lang="en-US" sz="2200" dirty="0"/>
            </a:br>
            <a:endParaRPr lang="en-US" sz="2200" dirty="0"/>
          </a:p>
          <a:p>
            <a:pPr>
              <a:buNone/>
            </a:pPr>
            <a:r>
              <a:rPr lang="en-US" sz="2200" b="1" dirty="0"/>
              <a:t>3️⃣ Why Use Both Approaches</a:t>
            </a:r>
          </a:p>
          <a:p>
            <a:pPr>
              <a:buFont typeface="Arial" panose="020B0604020202020204" pitchFamily="34" charset="0"/>
              <a:buChar char="•"/>
            </a:pPr>
            <a:r>
              <a:rPr lang="en-US" sz="2200" b="1" dirty="0"/>
              <a:t>Class weights:</a:t>
            </a:r>
            <a:r>
              <a:rPr lang="en-US" sz="2200" dirty="0"/>
              <a:t> Adjust model learning without modifying data.</a:t>
            </a:r>
          </a:p>
          <a:p>
            <a:pPr>
              <a:buFont typeface="Arial" panose="020B0604020202020204" pitchFamily="34" charset="0"/>
              <a:buChar char="•"/>
            </a:pPr>
            <a:r>
              <a:rPr lang="en-US" sz="2200" b="1" dirty="0"/>
              <a:t>SMOTE:</a:t>
            </a:r>
            <a:r>
              <a:rPr lang="en-US" sz="2200" dirty="0"/>
              <a:t> Increase minority class samples to reduce bias toward majority class.</a:t>
            </a:r>
          </a:p>
          <a:p>
            <a:pPr>
              <a:buFont typeface="Arial" panose="020B0604020202020204" pitchFamily="34" charset="0"/>
              <a:buChar char="•"/>
            </a:pPr>
            <a:r>
              <a:rPr lang="en-US" sz="2200" b="1" dirty="0"/>
              <a:t>Comparison:</a:t>
            </a:r>
            <a:r>
              <a:rPr lang="en-US" sz="2200" dirty="0"/>
              <a:t> Helps identify which strategy yields </a:t>
            </a:r>
            <a:r>
              <a:rPr lang="en-US" sz="2200" b="1" dirty="0"/>
              <a:t>better performance for the minority class</a:t>
            </a:r>
            <a:r>
              <a:rPr lang="en-US" sz="2200" dirty="0"/>
              <a:t> (Satisfaction = 1).</a:t>
            </a:r>
          </a:p>
          <a:p>
            <a:pPr>
              <a:buNone/>
            </a:pPr>
            <a:endParaRPr lang="en-IN" sz="2200" dirty="0"/>
          </a:p>
        </p:txBody>
      </p:sp>
      <p:sp>
        <p:nvSpPr>
          <p:cNvPr id="17" name="TextBox 16">
            <a:extLst>
              <a:ext uri="{FF2B5EF4-FFF2-40B4-BE49-F238E27FC236}">
                <a16:creationId xmlns:a16="http://schemas.microsoft.com/office/drawing/2014/main" id="{4A6BF651-3EE9-BD03-4704-E8B2194B7295}"/>
              </a:ext>
            </a:extLst>
          </p:cNvPr>
          <p:cNvSpPr txBox="1"/>
          <p:nvPr/>
        </p:nvSpPr>
        <p:spPr>
          <a:xfrm>
            <a:off x="742950" y="2956560"/>
            <a:ext cx="756285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black"/>
                </a:solidFill>
                <a:effectLst/>
                <a:uLnTx/>
                <a:uFillTx/>
                <a:latin typeface="Calibri"/>
                <a:ea typeface="+mn-ea"/>
                <a:cs typeface="+mn-cs"/>
              </a:rPr>
              <a:t>After preprocessing, all categorical features were converted into numeric form using </a:t>
            </a:r>
            <a:r>
              <a:rPr kumimoji="0" lang="en-US" sz="3000" b="1" i="0" u="none" strike="noStrike" kern="1200" cap="none" spc="0" normalizeH="0" baseline="0" noProof="0" dirty="0">
                <a:ln>
                  <a:noFill/>
                </a:ln>
                <a:solidFill>
                  <a:prstClr val="black"/>
                </a:solidFill>
                <a:effectLst/>
                <a:uLnTx/>
                <a:uFillTx/>
                <a:latin typeface="Calibri"/>
                <a:ea typeface="+mn-ea"/>
                <a:cs typeface="+mn-cs"/>
              </a:rPr>
              <a:t>Label Encoding</a:t>
            </a:r>
            <a:r>
              <a:rPr kumimoji="0" lang="en-US" sz="3000" b="0" i="0" u="none" strike="noStrike" kern="1200" cap="none" spc="0" normalizeH="0" baseline="0" noProof="0" dirty="0">
                <a:ln>
                  <a:noFill/>
                </a:ln>
                <a:solidFill>
                  <a:prstClr val="black"/>
                </a:solidFill>
                <a:effectLst/>
                <a:uLnTx/>
                <a:uFillTx/>
                <a:latin typeface="Calibri"/>
                <a:ea typeface="+mn-ea"/>
                <a:cs typeface="+mn-cs"/>
              </a:rPr>
              <a:t>, resulting in </a:t>
            </a:r>
            <a:r>
              <a:rPr lang="en-US" sz="3000" b="1" dirty="0">
                <a:solidFill>
                  <a:prstClr val="black"/>
                </a:solidFill>
                <a:latin typeface="Calibri"/>
              </a:rPr>
              <a:t>115</a:t>
            </a:r>
            <a:r>
              <a:rPr kumimoji="0" lang="en-US" sz="3000" b="1" i="0" u="none" strike="noStrike" kern="1200" cap="none" spc="0" normalizeH="0" baseline="0" noProof="0" dirty="0">
                <a:ln>
                  <a:noFill/>
                </a:ln>
                <a:solidFill>
                  <a:prstClr val="black"/>
                </a:solidFill>
                <a:effectLst/>
                <a:uLnTx/>
                <a:uFillTx/>
                <a:latin typeface="Calibri"/>
                <a:ea typeface="+mn-ea"/>
                <a:cs typeface="+mn-cs"/>
              </a:rPr>
              <a:t> input features</a:t>
            </a:r>
            <a:r>
              <a:rPr kumimoji="0" lang="en-US" sz="3000" b="0" i="0" u="none" strike="noStrike" kern="1200" cap="none" spc="0" normalizeH="0" baseline="0" noProof="0" dirty="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4072152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10800" y="1161535"/>
            <a:ext cx="5779471" cy="4114800"/>
          </a:xfrm>
          <a:custGeom>
            <a:avLst/>
            <a:gdLst/>
            <a:ahLst/>
            <a:cxnLst/>
            <a:rect l="l" t="t" r="r" b="b"/>
            <a:pathLst>
              <a:path w="5779471" h="4550020">
                <a:moveTo>
                  <a:pt x="0" y="0"/>
                </a:moveTo>
                <a:lnTo>
                  <a:pt x="5779471" y="0"/>
                </a:lnTo>
                <a:lnTo>
                  <a:pt x="5779471" y="4550020"/>
                </a:lnTo>
                <a:lnTo>
                  <a:pt x="0" y="45500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13952" y="1497174"/>
            <a:ext cx="9196848" cy="1032719"/>
          </a:xfrm>
          <a:prstGeom prst="rect">
            <a:avLst/>
          </a:prstGeom>
        </p:spPr>
        <p:txBody>
          <a:bodyPr wrap="square" lIns="0" tIns="0" rIns="0" bIns="0" rtlCol="0" anchor="t">
            <a:spAutoFit/>
          </a:bodyPr>
          <a:lstStyle/>
          <a:p>
            <a:pPr>
              <a:lnSpc>
                <a:spcPts val="7656"/>
              </a:lnSpc>
            </a:pPr>
            <a:r>
              <a:rPr lang="en-IN" sz="8800" dirty="0"/>
              <a:t>9.Model Evaluation</a:t>
            </a:r>
            <a:endParaRPr lang="en-US" sz="8800" spc="-431" dirty="0">
              <a:solidFill>
                <a:srgbClr val="000000"/>
              </a:solidFill>
              <a:latin typeface="TT Interphases"/>
              <a:ea typeface="TT Interphases"/>
              <a:cs typeface="TT Interphases"/>
              <a:sym typeface="TT Interphases"/>
            </a:endParaRPr>
          </a:p>
        </p:txBody>
      </p:sp>
      <p:sp>
        <p:nvSpPr>
          <p:cNvPr id="8" name="Freeform 8"/>
          <p:cNvSpPr/>
          <p:nvPr/>
        </p:nvSpPr>
        <p:spPr>
          <a:xfrm rot="-5400000">
            <a:off x="11187179" y="320451"/>
            <a:ext cx="585299" cy="2800867"/>
          </a:xfrm>
          <a:custGeom>
            <a:avLst/>
            <a:gdLst/>
            <a:ahLst/>
            <a:cxnLst/>
            <a:rect l="l" t="t" r="r" b="b"/>
            <a:pathLst>
              <a:path w="969594" h="3396666">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1A3E0C5E-4C30-6A99-EA2A-ED1087976A35}"/>
              </a:ext>
            </a:extLst>
          </p:cNvPr>
          <p:cNvSpPr txBox="1"/>
          <p:nvPr/>
        </p:nvSpPr>
        <p:spPr>
          <a:xfrm>
            <a:off x="1028700" y="3506331"/>
            <a:ext cx="7622458" cy="4493538"/>
          </a:xfrm>
          <a:prstGeom prst="rect">
            <a:avLst/>
          </a:prstGeom>
          <a:noFill/>
        </p:spPr>
        <p:txBody>
          <a:bodyPr wrap="square">
            <a:spAutoFit/>
          </a:bodyPr>
          <a:lstStyle/>
          <a:p>
            <a:pPr>
              <a:buNone/>
            </a:pPr>
            <a:r>
              <a:rPr lang="en-US" sz="2200" b="1" dirty="0"/>
              <a:t>1️⃣ Logistic Regression (Balanced Weights)</a:t>
            </a:r>
          </a:p>
          <a:p>
            <a:pPr>
              <a:buFont typeface="Arial" panose="020B0604020202020204" pitchFamily="34" charset="0"/>
              <a:buChar char="•"/>
            </a:pPr>
            <a:r>
              <a:rPr lang="en-US" sz="2200" b="1" dirty="0"/>
              <a:t>Confusion Matrix:</a:t>
            </a:r>
            <a:endParaRPr lang="en-US" sz="2200" dirty="0"/>
          </a:p>
          <a:p>
            <a:pPr rtl="0">
              <a:buFont typeface="Arial" panose="020B0604020202020204" pitchFamily="34" charset="0"/>
              <a:buChar char="•"/>
            </a:pPr>
            <a:r>
              <a:rPr lang="en-US" sz="2200" dirty="0">
                <a:latin typeface="Courier New" panose="02070309020205020404" pitchFamily="49" charset="0"/>
              </a:rPr>
              <a:t>[[189 148]</a:t>
            </a:r>
          </a:p>
          <a:p>
            <a:pPr rtl="0">
              <a:buFont typeface="Arial" panose="020B0604020202020204" pitchFamily="34" charset="0"/>
              <a:buChar char="•"/>
            </a:pPr>
            <a:r>
              <a:rPr lang="en-US" sz="2200" dirty="0">
                <a:latin typeface="Courier New" panose="02070309020205020404" pitchFamily="49" charset="0"/>
              </a:rPr>
              <a:t> [108 109]]</a:t>
            </a:r>
          </a:p>
          <a:p>
            <a:pPr>
              <a:buFont typeface="Arial" panose="020B0604020202020204" pitchFamily="34" charset="0"/>
              <a:buChar char="•"/>
            </a:pPr>
            <a:r>
              <a:rPr lang="en-US" sz="2200" b="1" dirty="0"/>
              <a:t>Accuracy:</a:t>
            </a:r>
            <a:r>
              <a:rPr lang="en-US" sz="2200" dirty="0"/>
              <a:t> 0.54</a:t>
            </a:r>
          </a:p>
          <a:p>
            <a:pPr>
              <a:buFont typeface="Arial" panose="020B0604020202020204" pitchFamily="34" charset="0"/>
              <a:buChar char="•"/>
            </a:pPr>
            <a:r>
              <a:rPr lang="en-US" sz="2200" b="1" dirty="0"/>
              <a:t>F1-Score:</a:t>
            </a:r>
            <a:endParaRPr lang="en-US" sz="2200" dirty="0"/>
          </a:p>
          <a:p>
            <a:pPr marL="742950" lvl="1" indent="-285750">
              <a:buFont typeface="Arial" panose="020B0604020202020204" pitchFamily="34" charset="0"/>
              <a:buChar char="•"/>
            </a:pPr>
            <a:r>
              <a:rPr lang="en-US" sz="2200" dirty="0"/>
              <a:t>Class 0 (Unsatisfied): 0.60</a:t>
            </a:r>
          </a:p>
          <a:p>
            <a:pPr marL="742950" lvl="1" indent="-285750">
              <a:buFont typeface="Arial" panose="020B0604020202020204" pitchFamily="34" charset="0"/>
              <a:buChar char="•"/>
            </a:pPr>
            <a:r>
              <a:rPr lang="en-US" sz="2200" dirty="0"/>
              <a:t>Class 1 (Satisfied): 0.46</a:t>
            </a:r>
          </a:p>
          <a:p>
            <a:pPr>
              <a:buFont typeface="Arial" panose="020B0604020202020204" pitchFamily="34" charset="0"/>
              <a:buChar char="•"/>
            </a:pPr>
            <a:r>
              <a:rPr lang="en-US" sz="2200" b="1" dirty="0"/>
              <a:t>Observation:</a:t>
            </a:r>
            <a:endParaRPr lang="en-US" sz="2200" dirty="0"/>
          </a:p>
          <a:p>
            <a:pPr marL="742950" lvl="1" indent="-285750">
              <a:buFont typeface="Arial" panose="020B0604020202020204" pitchFamily="34" charset="0"/>
              <a:buChar char="•"/>
            </a:pPr>
            <a:r>
              <a:rPr lang="en-US" sz="2200" dirty="0"/>
              <a:t>Model predicts </a:t>
            </a:r>
            <a:r>
              <a:rPr lang="en-US" sz="2200" b="1" dirty="0"/>
              <a:t>majority class (0)</a:t>
            </a:r>
            <a:r>
              <a:rPr lang="en-US" sz="2200" dirty="0"/>
              <a:t> slightly better than minority (1).</a:t>
            </a:r>
          </a:p>
          <a:p>
            <a:pPr marL="742950" lvl="1" indent="-285750">
              <a:buFont typeface="Arial" panose="020B0604020202020204" pitchFamily="34" charset="0"/>
              <a:buChar char="•"/>
            </a:pPr>
            <a:r>
              <a:rPr lang="en-US" sz="2200" dirty="0"/>
              <a:t>Recall for satisfied customers is moderate (0.50).</a:t>
            </a:r>
          </a:p>
          <a:p>
            <a:pPr>
              <a:buNone/>
            </a:pPr>
            <a:endParaRPr lang="en-US" sz="2200" dirty="0"/>
          </a:p>
        </p:txBody>
      </p:sp>
      <p:sp>
        <p:nvSpPr>
          <p:cNvPr id="6" name="TextBox 5">
            <a:extLst>
              <a:ext uri="{FF2B5EF4-FFF2-40B4-BE49-F238E27FC236}">
                <a16:creationId xmlns:a16="http://schemas.microsoft.com/office/drawing/2014/main" id="{24054970-6D1C-9274-82DB-638CED4CFFFF}"/>
              </a:ext>
            </a:extLst>
          </p:cNvPr>
          <p:cNvSpPr txBox="1"/>
          <p:nvPr/>
        </p:nvSpPr>
        <p:spPr>
          <a:xfrm>
            <a:off x="10210800" y="5753100"/>
            <a:ext cx="7048500" cy="4154984"/>
          </a:xfrm>
          <a:prstGeom prst="rect">
            <a:avLst/>
          </a:prstGeom>
          <a:noFill/>
        </p:spPr>
        <p:txBody>
          <a:bodyPr wrap="square">
            <a:spAutoFit/>
          </a:bodyPr>
          <a:lstStyle/>
          <a:p>
            <a:pPr>
              <a:buNone/>
            </a:pPr>
            <a:r>
              <a:rPr lang="en-US" sz="2200" b="1" dirty="0"/>
              <a:t>2️⃣ XGBoost (Balanced Weights)</a:t>
            </a:r>
          </a:p>
          <a:p>
            <a:pPr>
              <a:buFont typeface="Arial" panose="020B0604020202020204" pitchFamily="34" charset="0"/>
              <a:buChar char="•"/>
            </a:pPr>
            <a:r>
              <a:rPr lang="en-US" sz="2200" b="1" dirty="0"/>
              <a:t>Confusion Matrix:</a:t>
            </a:r>
            <a:endParaRPr lang="en-US" sz="2200" dirty="0"/>
          </a:p>
          <a:p>
            <a:pPr rtl="0">
              <a:buFont typeface="Arial" panose="020B0604020202020204" pitchFamily="34" charset="0"/>
              <a:buChar char="•"/>
            </a:pPr>
            <a:r>
              <a:rPr lang="en-US" sz="2200" dirty="0">
                <a:latin typeface="Courier New" panose="02070309020205020404" pitchFamily="49" charset="0"/>
              </a:rPr>
              <a:t>[[201 136]</a:t>
            </a:r>
          </a:p>
          <a:p>
            <a:pPr rtl="0">
              <a:buFont typeface="Arial" panose="020B0604020202020204" pitchFamily="34" charset="0"/>
              <a:buChar char="•"/>
            </a:pPr>
            <a:r>
              <a:rPr lang="en-US" sz="2200" dirty="0">
                <a:latin typeface="Courier New" panose="02070309020205020404" pitchFamily="49" charset="0"/>
              </a:rPr>
              <a:t> [129  88]]</a:t>
            </a:r>
          </a:p>
          <a:p>
            <a:pPr>
              <a:buFont typeface="Arial" panose="020B0604020202020204" pitchFamily="34" charset="0"/>
              <a:buChar char="•"/>
            </a:pPr>
            <a:r>
              <a:rPr lang="en-US" sz="2200" b="1" dirty="0"/>
              <a:t>Accuracy:</a:t>
            </a:r>
            <a:r>
              <a:rPr lang="en-US" sz="2200" dirty="0"/>
              <a:t> 0.52</a:t>
            </a:r>
          </a:p>
          <a:p>
            <a:pPr>
              <a:buFont typeface="Arial" panose="020B0604020202020204" pitchFamily="34" charset="0"/>
              <a:buChar char="•"/>
            </a:pPr>
            <a:r>
              <a:rPr lang="en-US" sz="2200" b="1" dirty="0"/>
              <a:t>F1-Score:</a:t>
            </a:r>
            <a:endParaRPr lang="en-US" sz="2200" dirty="0"/>
          </a:p>
          <a:p>
            <a:pPr marL="742950" lvl="1" indent="-285750">
              <a:buFont typeface="Arial" panose="020B0604020202020204" pitchFamily="34" charset="0"/>
              <a:buChar char="•"/>
            </a:pPr>
            <a:r>
              <a:rPr lang="en-US" sz="2200" dirty="0"/>
              <a:t>Class 0: 0.60</a:t>
            </a:r>
          </a:p>
          <a:p>
            <a:pPr marL="742950" lvl="1" indent="-285750">
              <a:buFont typeface="Arial" panose="020B0604020202020204" pitchFamily="34" charset="0"/>
              <a:buChar char="•"/>
            </a:pPr>
            <a:r>
              <a:rPr lang="en-US" sz="2200" dirty="0"/>
              <a:t>Class 1: 0.40</a:t>
            </a:r>
          </a:p>
          <a:p>
            <a:pPr>
              <a:buFont typeface="Arial" panose="020B0604020202020204" pitchFamily="34" charset="0"/>
              <a:buChar char="•"/>
            </a:pPr>
            <a:r>
              <a:rPr lang="en-US" sz="2200" b="1" dirty="0"/>
              <a:t>Observation:</a:t>
            </a:r>
            <a:endParaRPr lang="en-US" sz="2200" dirty="0"/>
          </a:p>
          <a:p>
            <a:pPr marL="742950" lvl="1" indent="-285750">
              <a:buFont typeface="Arial" panose="020B0604020202020204" pitchFamily="34" charset="0"/>
              <a:buChar char="•"/>
            </a:pPr>
            <a:r>
              <a:rPr lang="en-US" sz="2200" dirty="0"/>
              <a:t>Slightly worse for minority class than Logistic Regression.</a:t>
            </a:r>
          </a:p>
          <a:p>
            <a:pPr marL="742950" lvl="1" indent="-285750">
              <a:buFont typeface="Arial" panose="020B0604020202020204" pitchFamily="34" charset="0"/>
              <a:buChar char="•"/>
            </a:pPr>
            <a:r>
              <a:rPr lang="en-US" sz="2200" dirty="0"/>
              <a:t>Predicts satisfied customers poorly (recall 0.41).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CE29-737B-1846-C754-1051C850881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745A63-5702-0ACC-0C24-FDA28AC0C531}"/>
              </a:ext>
            </a:extLst>
          </p:cNvPr>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D7500761-5EB6-FF50-699E-25007CA31E0B}"/>
              </a:ext>
            </a:extLst>
          </p:cNvPr>
          <p:cNvSpPr/>
          <p:nvPr/>
        </p:nvSpPr>
        <p:spPr>
          <a:xfrm>
            <a:off x="10210800" y="1161535"/>
            <a:ext cx="5779471" cy="3981965"/>
          </a:xfrm>
          <a:custGeom>
            <a:avLst/>
            <a:gdLst/>
            <a:ahLst/>
            <a:cxnLst/>
            <a:rect l="l" t="t" r="r" b="b"/>
            <a:pathLst>
              <a:path w="5779471" h="4550020">
                <a:moveTo>
                  <a:pt x="0" y="0"/>
                </a:moveTo>
                <a:lnTo>
                  <a:pt x="5779471" y="0"/>
                </a:lnTo>
                <a:lnTo>
                  <a:pt x="5779471" y="4550020"/>
                </a:lnTo>
                <a:lnTo>
                  <a:pt x="0" y="45500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FFF60138-D080-4B6C-2E29-E2F395AE2226}"/>
              </a:ext>
            </a:extLst>
          </p:cNvPr>
          <p:cNvSpPr txBox="1"/>
          <p:nvPr/>
        </p:nvSpPr>
        <p:spPr>
          <a:xfrm>
            <a:off x="1013952" y="1497174"/>
            <a:ext cx="9065442" cy="1032719"/>
          </a:xfrm>
          <a:prstGeom prst="rect">
            <a:avLst/>
          </a:prstGeom>
        </p:spPr>
        <p:txBody>
          <a:bodyPr wrap="square" lIns="0" tIns="0" rIns="0" bIns="0" rtlCol="0" anchor="t">
            <a:spAutoFit/>
          </a:bodyPr>
          <a:lstStyle/>
          <a:p>
            <a:pPr>
              <a:lnSpc>
                <a:spcPts val="7656"/>
              </a:lnSpc>
            </a:pPr>
            <a:r>
              <a:rPr lang="en-IN" sz="8800" dirty="0"/>
              <a:t>9.Model Evaluation</a:t>
            </a:r>
            <a:endParaRPr lang="en-US" sz="8800" spc="-431" dirty="0">
              <a:solidFill>
                <a:srgbClr val="000000"/>
              </a:solidFill>
              <a:latin typeface="TT Interphases"/>
              <a:ea typeface="TT Interphases"/>
              <a:cs typeface="TT Interphases"/>
              <a:sym typeface="TT Interphases"/>
            </a:endParaRPr>
          </a:p>
        </p:txBody>
      </p:sp>
      <p:sp>
        <p:nvSpPr>
          <p:cNvPr id="8" name="Freeform 8">
            <a:extLst>
              <a:ext uri="{FF2B5EF4-FFF2-40B4-BE49-F238E27FC236}">
                <a16:creationId xmlns:a16="http://schemas.microsoft.com/office/drawing/2014/main" id="{87BA5907-CCD8-4B5A-1A7D-958D75496A30}"/>
              </a:ext>
            </a:extLst>
          </p:cNvPr>
          <p:cNvSpPr/>
          <p:nvPr/>
        </p:nvSpPr>
        <p:spPr>
          <a:xfrm rot="-5400000">
            <a:off x="11187179" y="320451"/>
            <a:ext cx="585299" cy="2800867"/>
          </a:xfrm>
          <a:custGeom>
            <a:avLst/>
            <a:gdLst/>
            <a:ahLst/>
            <a:cxnLst/>
            <a:rect l="l" t="t" r="r" b="b"/>
            <a:pathLst>
              <a:path w="969594" h="3396666">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DDD1F3C4-B1AF-EDBE-A22D-F887CF7370F8}"/>
              </a:ext>
            </a:extLst>
          </p:cNvPr>
          <p:cNvSpPr txBox="1"/>
          <p:nvPr/>
        </p:nvSpPr>
        <p:spPr>
          <a:xfrm>
            <a:off x="1209417" y="3771900"/>
            <a:ext cx="7622458" cy="44935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3️⃣ Logistic Regression (SMOTE)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Confusion Matrix:</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[[195 142]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[118  99]]</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Accuracy:</a:t>
            </a:r>
            <a:r>
              <a:rPr kumimoji="0" lang="en-US" sz="2200" b="0" i="0" u="none" strike="noStrike" kern="1200" cap="none" spc="0" normalizeH="0" baseline="0" noProof="0" dirty="0">
                <a:ln>
                  <a:noFill/>
                </a:ln>
                <a:solidFill>
                  <a:prstClr val="black"/>
                </a:solidFill>
                <a:effectLst/>
                <a:uLnTx/>
                <a:uFillTx/>
                <a:latin typeface="Calibri"/>
                <a:ea typeface="+mn-ea"/>
                <a:cs typeface="+mn-cs"/>
              </a:rPr>
              <a:t> 0.53</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F1-Score:</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Class 0: 0.60</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Class 1: 0.43</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Observation:</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SMOTE slightly improved predictions for minority class compared to balanced weights.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Recall for satisfied class increased to 0.46.</a:t>
            </a:r>
          </a:p>
          <a:p>
            <a:pPr>
              <a:buNone/>
            </a:pPr>
            <a:endParaRPr lang="en-US" sz="2200" dirty="0"/>
          </a:p>
        </p:txBody>
      </p:sp>
      <p:sp>
        <p:nvSpPr>
          <p:cNvPr id="6" name="TextBox 5">
            <a:extLst>
              <a:ext uri="{FF2B5EF4-FFF2-40B4-BE49-F238E27FC236}">
                <a16:creationId xmlns:a16="http://schemas.microsoft.com/office/drawing/2014/main" id="{CAE2B353-4FF0-88DC-C100-A5DCCA5FEAE6}"/>
              </a:ext>
            </a:extLst>
          </p:cNvPr>
          <p:cNvSpPr txBox="1"/>
          <p:nvPr/>
        </p:nvSpPr>
        <p:spPr>
          <a:xfrm>
            <a:off x="10079394" y="5543035"/>
            <a:ext cx="7622457"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4️⃣ XGBoost (SMOTE)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Confusion Matrix:</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[[249  88]</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ourier New" panose="02070309020205020404" pitchFamily="49" charset="0"/>
                <a:ea typeface="+mn-ea"/>
                <a:cs typeface="+mn-cs"/>
              </a:rPr>
              <a:t> [172  45]]</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Accuracy:</a:t>
            </a:r>
            <a:r>
              <a:rPr kumimoji="0" lang="en-US" sz="2200" b="0" i="0" u="none" strike="noStrike" kern="1200" cap="none" spc="0" normalizeH="0" baseline="0" noProof="0" dirty="0">
                <a:ln>
                  <a:noFill/>
                </a:ln>
                <a:solidFill>
                  <a:prstClr val="black"/>
                </a:solidFill>
                <a:effectLst/>
                <a:uLnTx/>
                <a:uFillTx/>
                <a:latin typeface="Calibri"/>
                <a:ea typeface="+mn-ea"/>
                <a:cs typeface="+mn-cs"/>
              </a:rPr>
              <a:t> 0.53</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F1-Score:</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Class 0: 0.66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Class 1: 0.26</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Observation:</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XGBoost with SMOTE predicts </a:t>
            </a:r>
            <a:r>
              <a:rPr kumimoji="0" lang="en-US" sz="2200" b="1" i="0" u="none" strike="noStrike" kern="1200" cap="none" spc="0" normalizeH="0" baseline="0" noProof="0" dirty="0">
                <a:ln>
                  <a:noFill/>
                </a:ln>
                <a:solidFill>
                  <a:prstClr val="black"/>
                </a:solidFill>
                <a:effectLst/>
                <a:uLnTx/>
                <a:uFillTx/>
                <a:latin typeface="Calibri"/>
                <a:ea typeface="+mn-ea"/>
                <a:cs typeface="+mn-cs"/>
              </a:rPr>
              <a:t>majority class very well</a:t>
            </a:r>
            <a:r>
              <a:rPr kumimoji="0" lang="en-US" sz="2200" b="0" i="0" u="none" strike="noStrike" kern="1200" cap="none" spc="0" normalizeH="0" baseline="0" noProof="0" dirty="0">
                <a:ln>
                  <a:noFill/>
                </a:ln>
                <a:solidFill>
                  <a:prstClr val="black"/>
                </a:solidFill>
                <a:effectLst/>
                <a:uLnTx/>
                <a:uFillTx/>
                <a:latin typeface="Calibri"/>
                <a:ea typeface="+mn-ea"/>
                <a:cs typeface="+mn-cs"/>
              </a:rPr>
              <a:t> (0.74 recall) but </a:t>
            </a:r>
            <a:r>
              <a:rPr kumimoji="0" lang="en-US" sz="2200" b="1" i="0" u="none" strike="noStrike" kern="1200" cap="none" spc="0" normalizeH="0" baseline="0" noProof="0" dirty="0">
                <a:ln>
                  <a:noFill/>
                </a:ln>
                <a:solidFill>
                  <a:prstClr val="black"/>
                </a:solidFill>
                <a:effectLst/>
                <a:uLnTx/>
                <a:uFillTx/>
                <a:latin typeface="Calibri"/>
                <a:ea typeface="+mn-ea"/>
                <a:cs typeface="+mn-cs"/>
              </a:rPr>
              <a:t>struggles with minority class</a:t>
            </a:r>
            <a:r>
              <a:rPr kumimoji="0" lang="en-US" sz="2200" b="0" i="0" u="none" strike="noStrike" kern="1200" cap="none" spc="0" normalizeH="0" baseline="0" noProof="0" dirty="0">
                <a:ln>
                  <a:noFill/>
                </a:ln>
                <a:solidFill>
                  <a:prstClr val="black"/>
                </a:solidFill>
                <a:effectLst/>
                <a:uLnTx/>
                <a:uFillTx/>
                <a:latin typeface="Calibri"/>
                <a:ea typeface="+mn-ea"/>
                <a:cs typeface="+mn-cs"/>
              </a:rPr>
              <a:t> (recall 0.21).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Oversampling did not help XGBoost much for satisfied customers.</a:t>
            </a:r>
          </a:p>
          <a:p>
            <a:pPr>
              <a:buNone/>
            </a:pPr>
            <a:endParaRPr lang="en-US" sz="2200" dirty="0"/>
          </a:p>
        </p:txBody>
      </p:sp>
    </p:spTree>
    <p:extLst>
      <p:ext uri="{BB962C8B-B14F-4D97-AF65-F5344CB8AC3E}">
        <p14:creationId xmlns:p14="http://schemas.microsoft.com/office/powerpoint/2010/main" val="1203349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8B5D42-8D65-8EC8-7FBD-FBA833678148}"/>
              </a:ext>
            </a:extLst>
          </p:cNvPr>
          <p:cNvSpPr txBox="1"/>
          <p:nvPr/>
        </p:nvSpPr>
        <p:spPr>
          <a:xfrm>
            <a:off x="838200" y="249852"/>
            <a:ext cx="7620000" cy="9233297"/>
          </a:xfrm>
          <a:prstGeom prst="rect">
            <a:avLst/>
          </a:prstGeom>
          <a:noFill/>
        </p:spPr>
        <p:txBody>
          <a:bodyPr wrap="square">
            <a:spAutoFit/>
          </a:bodyPr>
          <a:lstStyle/>
          <a:p>
            <a:endParaRPr lang="en-IN" dirty="0"/>
          </a:p>
          <a:p>
            <a:r>
              <a:rPr lang="en-IN" dirty="0"/>
              <a:t>================ Logistic Regression (Balanced Weights) ================</a:t>
            </a:r>
          </a:p>
          <a:p>
            <a:endParaRPr lang="en-IN" dirty="0"/>
          </a:p>
          <a:p>
            <a:r>
              <a:rPr lang="en-IN" dirty="0"/>
              <a:t>Confusion Matrix:</a:t>
            </a:r>
          </a:p>
          <a:p>
            <a:r>
              <a:rPr lang="en-IN" dirty="0"/>
              <a:t>[[189 148]</a:t>
            </a:r>
          </a:p>
          <a:p>
            <a:r>
              <a:rPr lang="en-IN" dirty="0"/>
              <a:t> [108 109]]</a:t>
            </a:r>
          </a:p>
          <a:p>
            <a:endParaRPr lang="en-IN" dirty="0"/>
          </a:p>
          <a:p>
            <a:r>
              <a:rPr lang="en-IN" dirty="0"/>
              <a:t>Classification Report:</a:t>
            </a:r>
          </a:p>
          <a:p>
            <a:r>
              <a:rPr lang="en-IN" dirty="0"/>
              <a:t>              precision    recall  f1-score   support</a:t>
            </a:r>
          </a:p>
          <a:p>
            <a:endParaRPr lang="en-IN" dirty="0"/>
          </a:p>
          <a:p>
            <a:r>
              <a:rPr lang="en-IN" dirty="0"/>
              <a:t>           0       0.64      0.56      0.60       337</a:t>
            </a:r>
          </a:p>
          <a:p>
            <a:r>
              <a:rPr lang="en-IN" dirty="0"/>
              <a:t>           1       0.42      0.50      0.46       217</a:t>
            </a:r>
          </a:p>
          <a:p>
            <a:endParaRPr lang="en-IN" dirty="0"/>
          </a:p>
          <a:p>
            <a:r>
              <a:rPr lang="en-IN" dirty="0"/>
              <a:t>    accuracy                           0.54       554</a:t>
            </a:r>
          </a:p>
          <a:p>
            <a:r>
              <a:rPr lang="en-IN" dirty="0"/>
              <a:t>   macro </a:t>
            </a:r>
            <a:r>
              <a:rPr lang="en-IN" dirty="0" err="1"/>
              <a:t>avg</a:t>
            </a:r>
            <a:r>
              <a:rPr lang="en-IN" dirty="0"/>
              <a:t>       0.53      0.53      0.53       554</a:t>
            </a:r>
          </a:p>
          <a:p>
            <a:r>
              <a:rPr lang="en-IN" dirty="0"/>
              <a:t>weighted </a:t>
            </a:r>
            <a:r>
              <a:rPr lang="en-IN" dirty="0" err="1"/>
              <a:t>avg</a:t>
            </a:r>
            <a:r>
              <a:rPr lang="en-IN" dirty="0"/>
              <a:t>       0.55      0.54      0.54       554</a:t>
            </a:r>
          </a:p>
          <a:p>
            <a:endParaRPr lang="en-IN" dirty="0"/>
          </a:p>
          <a:p>
            <a:endParaRPr lang="en-IN" dirty="0"/>
          </a:p>
          <a:p>
            <a:r>
              <a:rPr lang="en-IN" dirty="0"/>
              <a:t>================ XGBoost (Balanced Weights) ================</a:t>
            </a:r>
          </a:p>
          <a:p>
            <a:endParaRPr lang="en-IN" dirty="0"/>
          </a:p>
          <a:p>
            <a:r>
              <a:rPr lang="en-IN" dirty="0"/>
              <a:t>Confusion Matrix:</a:t>
            </a:r>
          </a:p>
          <a:p>
            <a:r>
              <a:rPr lang="en-IN" dirty="0"/>
              <a:t>[[201 136]</a:t>
            </a:r>
          </a:p>
          <a:p>
            <a:r>
              <a:rPr lang="en-IN" dirty="0"/>
              <a:t> [129  88]]</a:t>
            </a:r>
          </a:p>
          <a:p>
            <a:endParaRPr lang="en-IN" dirty="0"/>
          </a:p>
          <a:p>
            <a:r>
              <a:rPr lang="en-IN" dirty="0"/>
              <a:t>Classification Report:</a:t>
            </a:r>
          </a:p>
          <a:p>
            <a:r>
              <a:rPr lang="en-IN" dirty="0"/>
              <a:t>              precision    recall  f1-score   support</a:t>
            </a:r>
          </a:p>
          <a:p>
            <a:endParaRPr lang="en-IN" dirty="0"/>
          </a:p>
          <a:p>
            <a:r>
              <a:rPr lang="en-IN" dirty="0"/>
              <a:t>           0       0.61      0.60      0.60       337</a:t>
            </a:r>
          </a:p>
          <a:p>
            <a:r>
              <a:rPr lang="en-IN" dirty="0"/>
              <a:t>           1       0.39      0.41      0.40       217</a:t>
            </a:r>
          </a:p>
          <a:p>
            <a:endParaRPr lang="en-IN" dirty="0"/>
          </a:p>
          <a:p>
            <a:r>
              <a:rPr lang="en-IN" dirty="0"/>
              <a:t>    accuracy                           0.52       554</a:t>
            </a:r>
          </a:p>
          <a:p>
            <a:r>
              <a:rPr lang="en-IN" dirty="0"/>
              <a:t>   macro </a:t>
            </a:r>
            <a:r>
              <a:rPr lang="en-IN" dirty="0" err="1"/>
              <a:t>avg</a:t>
            </a:r>
            <a:r>
              <a:rPr lang="en-IN" dirty="0"/>
              <a:t>       0.50      0.50      0.50       554</a:t>
            </a:r>
          </a:p>
          <a:p>
            <a:r>
              <a:rPr lang="en-IN" dirty="0"/>
              <a:t>weighted </a:t>
            </a:r>
            <a:r>
              <a:rPr lang="en-IN" dirty="0" err="1"/>
              <a:t>avg</a:t>
            </a:r>
            <a:r>
              <a:rPr lang="en-IN" dirty="0"/>
              <a:t>       0.52      0.52      0.52       554</a:t>
            </a:r>
          </a:p>
        </p:txBody>
      </p:sp>
      <p:sp>
        <p:nvSpPr>
          <p:cNvPr id="9" name="TextBox 8">
            <a:extLst>
              <a:ext uri="{FF2B5EF4-FFF2-40B4-BE49-F238E27FC236}">
                <a16:creationId xmlns:a16="http://schemas.microsoft.com/office/drawing/2014/main" id="{D9C420D4-D24C-F964-9C88-D0CB38E34B05}"/>
              </a:ext>
            </a:extLst>
          </p:cNvPr>
          <p:cNvSpPr txBox="1"/>
          <p:nvPr/>
        </p:nvSpPr>
        <p:spPr>
          <a:xfrm>
            <a:off x="9448800" y="495300"/>
            <a:ext cx="9144000" cy="8956298"/>
          </a:xfrm>
          <a:prstGeom prst="rect">
            <a:avLst/>
          </a:prstGeom>
          <a:noFill/>
        </p:spPr>
        <p:txBody>
          <a:bodyPr wrap="square">
            <a:spAutoFit/>
          </a:bodyPr>
          <a:lstStyle/>
          <a:p>
            <a:r>
              <a:rPr lang="en-IN" dirty="0"/>
              <a:t>================ Logistic Regression (SMOTE) ================</a:t>
            </a:r>
          </a:p>
          <a:p>
            <a:endParaRPr lang="en-IN" dirty="0"/>
          </a:p>
          <a:p>
            <a:r>
              <a:rPr lang="en-IN" dirty="0"/>
              <a:t>Confusion Matrix:</a:t>
            </a:r>
          </a:p>
          <a:p>
            <a:r>
              <a:rPr lang="en-IN" dirty="0"/>
              <a:t>[[195 142]</a:t>
            </a:r>
          </a:p>
          <a:p>
            <a:r>
              <a:rPr lang="en-IN" dirty="0"/>
              <a:t> [118  99]]</a:t>
            </a:r>
          </a:p>
          <a:p>
            <a:endParaRPr lang="en-IN" dirty="0"/>
          </a:p>
          <a:p>
            <a:r>
              <a:rPr lang="en-IN" dirty="0"/>
              <a:t>Classification Report:</a:t>
            </a:r>
          </a:p>
          <a:p>
            <a:r>
              <a:rPr lang="en-IN" dirty="0"/>
              <a:t>              precision    recall  f1-score   support</a:t>
            </a:r>
          </a:p>
          <a:p>
            <a:endParaRPr lang="en-IN" dirty="0"/>
          </a:p>
          <a:p>
            <a:r>
              <a:rPr lang="en-IN" dirty="0"/>
              <a:t>           0       0.62      0.58      0.60       337</a:t>
            </a:r>
          </a:p>
          <a:p>
            <a:r>
              <a:rPr lang="en-IN" dirty="0"/>
              <a:t>           1       0.41      0.46      0.43       217</a:t>
            </a:r>
          </a:p>
          <a:p>
            <a:endParaRPr lang="en-IN" dirty="0"/>
          </a:p>
          <a:p>
            <a:r>
              <a:rPr lang="en-IN" dirty="0"/>
              <a:t>    accuracy                           0.53       554</a:t>
            </a:r>
          </a:p>
          <a:p>
            <a:r>
              <a:rPr lang="en-IN" dirty="0"/>
              <a:t>   macro </a:t>
            </a:r>
            <a:r>
              <a:rPr lang="en-IN" dirty="0" err="1"/>
              <a:t>avg</a:t>
            </a:r>
            <a:r>
              <a:rPr lang="en-IN" dirty="0"/>
              <a:t>       0.52      0.52      0.52       554</a:t>
            </a:r>
          </a:p>
          <a:p>
            <a:r>
              <a:rPr lang="en-IN" dirty="0"/>
              <a:t>weighted </a:t>
            </a:r>
            <a:r>
              <a:rPr lang="en-IN" dirty="0" err="1"/>
              <a:t>avg</a:t>
            </a:r>
            <a:r>
              <a:rPr lang="en-IN" dirty="0"/>
              <a:t>       0.54      0.53      0.53       554</a:t>
            </a:r>
          </a:p>
          <a:p>
            <a:endParaRPr lang="en-IN" dirty="0"/>
          </a:p>
          <a:p>
            <a:endParaRPr lang="en-IN" dirty="0"/>
          </a:p>
          <a:p>
            <a:r>
              <a:rPr lang="en-IN" dirty="0"/>
              <a:t>================ XGBoost (SMOTE) ================</a:t>
            </a:r>
          </a:p>
          <a:p>
            <a:endParaRPr lang="en-IN" dirty="0"/>
          </a:p>
          <a:p>
            <a:r>
              <a:rPr lang="en-IN" dirty="0"/>
              <a:t>Confusion Matrix:</a:t>
            </a:r>
          </a:p>
          <a:p>
            <a:r>
              <a:rPr lang="en-IN" dirty="0"/>
              <a:t>[[249  88]</a:t>
            </a:r>
          </a:p>
          <a:p>
            <a:r>
              <a:rPr lang="en-IN" dirty="0"/>
              <a:t> [172  45]]</a:t>
            </a:r>
          </a:p>
          <a:p>
            <a:endParaRPr lang="en-IN" dirty="0"/>
          </a:p>
          <a:p>
            <a:r>
              <a:rPr lang="en-IN" dirty="0"/>
              <a:t>Classification Report:</a:t>
            </a:r>
          </a:p>
          <a:p>
            <a:r>
              <a:rPr lang="en-IN" dirty="0"/>
              <a:t>              precision    recall  f1-score   support</a:t>
            </a:r>
          </a:p>
          <a:p>
            <a:endParaRPr lang="en-IN" dirty="0"/>
          </a:p>
          <a:p>
            <a:r>
              <a:rPr lang="en-IN" dirty="0"/>
              <a:t>           0       0.59      0.74      0.66       337</a:t>
            </a:r>
          </a:p>
          <a:p>
            <a:r>
              <a:rPr lang="en-IN" dirty="0"/>
              <a:t>           1       0.34      0.21      0.26       217</a:t>
            </a:r>
          </a:p>
          <a:p>
            <a:endParaRPr lang="en-IN" dirty="0"/>
          </a:p>
          <a:p>
            <a:r>
              <a:rPr lang="en-IN" dirty="0"/>
              <a:t>    accuracy                           0.53       554</a:t>
            </a:r>
          </a:p>
          <a:p>
            <a:r>
              <a:rPr lang="en-IN" dirty="0"/>
              <a:t>   macro </a:t>
            </a:r>
            <a:r>
              <a:rPr lang="en-IN" dirty="0" err="1"/>
              <a:t>avg</a:t>
            </a:r>
            <a:r>
              <a:rPr lang="en-IN" dirty="0"/>
              <a:t>       0.46      0.47      0.46       554</a:t>
            </a:r>
          </a:p>
          <a:p>
            <a:r>
              <a:rPr lang="en-IN" dirty="0"/>
              <a:t>weighted </a:t>
            </a:r>
            <a:r>
              <a:rPr lang="en-IN" dirty="0" err="1"/>
              <a:t>avg</a:t>
            </a:r>
            <a:r>
              <a:rPr lang="en-IN" dirty="0"/>
              <a:t>       0.49      0.53      0.50       554</a:t>
            </a:r>
          </a:p>
        </p:txBody>
      </p:sp>
    </p:spTree>
    <p:extLst>
      <p:ext uri="{BB962C8B-B14F-4D97-AF65-F5344CB8AC3E}">
        <p14:creationId xmlns:p14="http://schemas.microsoft.com/office/powerpoint/2010/main" val="4292729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83B8E-EE1E-3C84-818F-4FC998588B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AB199E-9678-E686-A53F-8C60CFBAFD1F}"/>
              </a:ext>
            </a:extLst>
          </p:cNvPr>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BDC72D14-B73A-C2C3-8B5A-48219B28DA96}"/>
              </a:ext>
            </a:extLst>
          </p:cNvPr>
          <p:cNvSpPr/>
          <p:nvPr/>
        </p:nvSpPr>
        <p:spPr>
          <a:xfrm>
            <a:off x="533400" y="4381500"/>
            <a:ext cx="5029200" cy="5406630"/>
          </a:xfrm>
          <a:custGeom>
            <a:avLst/>
            <a:gdLst/>
            <a:ahLst/>
            <a:cxnLst/>
            <a:rect l="l" t="t" r="r" b="b"/>
            <a:pathLst>
              <a:path w="7195906" h="4644630">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3FCDC5BC-60F7-E716-A096-E068F05EC459}"/>
              </a:ext>
            </a:extLst>
          </p:cNvPr>
          <p:cNvSpPr txBox="1"/>
          <p:nvPr/>
        </p:nvSpPr>
        <p:spPr>
          <a:xfrm>
            <a:off x="914400" y="1257300"/>
            <a:ext cx="17373600" cy="2034468"/>
          </a:xfrm>
          <a:prstGeom prst="rect">
            <a:avLst/>
          </a:prstGeom>
        </p:spPr>
        <p:txBody>
          <a:bodyPr wrap="square" lIns="0" tIns="0" rIns="0" bIns="0" rtlCol="0" anchor="t">
            <a:spAutoFit/>
          </a:bodyPr>
          <a:lstStyle/>
          <a:p>
            <a:pPr>
              <a:lnSpc>
                <a:spcPts val="7656"/>
              </a:lnSpc>
            </a:pPr>
            <a:r>
              <a:rPr lang="en-US" sz="8000" dirty="0"/>
              <a:t>10.Regression Modeling: Predicting </a:t>
            </a:r>
            <a:r>
              <a:rPr lang="en-US" sz="8000" dirty="0">
                <a:latin typeface="Courier New" panose="02070309020205020404" pitchFamily="49" charset="0"/>
              </a:rPr>
              <a:t>resolution_days</a:t>
            </a:r>
            <a:endParaRPr lang="en-US" sz="8000" spc="-431" dirty="0">
              <a:solidFill>
                <a:srgbClr val="000000"/>
              </a:solidFill>
              <a:latin typeface="TT Interphases"/>
              <a:ea typeface="TT Interphases"/>
              <a:cs typeface="TT Interphases"/>
              <a:sym typeface="TT Interphases"/>
            </a:endParaRPr>
          </a:p>
        </p:txBody>
      </p:sp>
      <p:sp>
        <p:nvSpPr>
          <p:cNvPr id="6" name="Rectangle 2">
            <a:extLst>
              <a:ext uri="{FF2B5EF4-FFF2-40B4-BE49-F238E27FC236}">
                <a16:creationId xmlns:a16="http://schemas.microsoft.com/office/drawing/2014/main" id="{421BE484-C936-C52E-78C9-DB0CEEB95398}"/>
              </a:ext>
            </a:extLst>
          </p:cNvPr>
          <p:cNvSpPr>
            <a:spLocks noChangeArrowheads="1"/>
          </p:cNvSpPr>
          <p:nvPr/>
        </p:nvSpPr>
        <p:spPr bwMode="auto">
          <a:xfrm>
            <a:off x="6400800" y="3461683"/>
            <a:ext cx="11734800"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2200" b="1" dirty="0"/>
              <a:t>1️⃣ Target Variable:</a:t>
            </a:r>
            <a:endParaRPr lang="en-US" sz="2200" dirty="0"/>
          </a:p>
          <a:p>
            <a:pPr>
              <a:buFont typeface="Arial" panose="020B0604020202020204" pitchFamily="34" charset="0"/>
              <a:buChar char="•"/>
            </a:pPr>
            <a:r>
              <a:rPr lang="en-US" sz="2200" b="1" dirty="0">
                <a:latin typeface="Courier New" panose="02070309020205020404" pitchFamily="49" charset="0"/>
              </a:rPr>
              <a:t>resolution_days</a:t>
            </a:r>
            <a:r>
              <a:rPr lang="en-US" sz="2200" dirty="0"/>
              <a:t>: Number of days taken to resolve a ticket.</a:t>
            </a:r>
          </a:p>
          <a:p>
            <a:pPr>
              <a:buFont typeface="Arial" panose="020B0604020202020204" pitchFamily="34" charset="0"/>
              <a:buChar char="•"/>
            </a:pPr>
            <a:r>
              <a:rPr lang="en-US" sz="2200" dirty="0"/>
              <a:t>Continuous variable → requires regression models.</a:t>
            </a:r>
          </a:p>
          <a:p>
            <a:pPr>
              <a:buFont typeface="Arial" panose="020B0604020202020204" pitchFamily="34" charset="0"/>
              <a:buChar char="•"/>
            </a:pPr>
            <a:r>
              <a:rPr lang="en-US" sz="2200" dirty="0"/>
              <a:t>Excluded features: </a:t>
            </a:r>
            <a:r>
              <a:rPr lang="en-US" sz="2200" dirty="0">
                <a:latin typeface="Courier New" panose="02070309020205020404" pitchFamily="49" charset="0"/>
              </a:rPr>
              <a:t>Resolution_Time_Hours</a:t>
            </a:r>
            <a:r>
              <a:rPr lang="en-US" sz="2200" dirty="0"/>
              <a:t> and </a:t>
            </a:r>
            <a:r>
              <a:rPr lang="en-US" sz="2200" dirty="0">
                <a:latin typeface="Courier New" panose="02070309020205020404" pitchFamily="49" charset="0"/>
              </a:rPr>
              <a:t>resolution_days</a:t>
            </a:r>
            <a:r>
              <a:rPr lang="en-US" sz="2200" dirty="0"/>
              <a:t> from predictors to avoid leakage.</a:t>
            </a:r>
          </a:p>
          <a:p>
            <a:endParaRPr lang="en-US" sz="2200" dirty="0"/>
          </a:p>
          <a:p>
            <a:pPr>
              <a:buNone/>
            </a:pPr>
            <a:r>
              <a:rPr lang="en-US" sz="2200" b="1" dirty="0"/>
              <a:t>2️⃣ Feature-Target Correlation Check:</a:t>
            </a:r>
            <a:endParaRPr lang="en-US" sz="2200" dirty="0"/>
          </a:p>
          <a:p>
            <a:pPr>
              <a:buFont typeface="Arial" panose="020B0604020202020204" pitchFamily="34" charset="0"/>
              <a:buChar char="•"/>
            </a:pPr>
            <a:r>
              <a:rPr lang="en-US" sz="2200" dirty="0"/>
              <a:t>Calculated correlation of all features with target (</a:t>
            </a:r>
            <a:r>
              <a:rPr lang="en-US" sz="2200" dirty="0">
                <a:latin typeface="Courier New" panose="02070309020205020404" pitchFamily="49" charset="0"/>
              </a:rPr>
              <a:t>resolution_days</a:t>
            </a:r>
            <a:r>
              <a:rPr lang="en-US" sz="2200" dirty="0"/>
              <a:t>).</a:t>
            </a:r>
          </a:p>
          <a:p>
            <a:pPr>
              <a:buFont typeface="Arial" panose="020B0604020202020204" pitchFamily="34" charset="0"/>
              <a:buChar char="•"/>
            </a:pPr>
            <a:r>
              <a:rPr lang="en-US" sz="2200" b="1" dirty="0"/>
              <a:t>Top correlated features:</a:t>
            </a:r>
            <a:r>
              <a:rPr lang="en-US" sz="2200" dirty="0"/>
              <a:t> Displayed for insight.</a:t>
            </a:r>
          </a:p>
          <a:p>
            <a:pPr>
              <a:buFont typeface="Arial" panose="020B0604020202020204" pitchFamily="34" charset="0"/>
              <a:buChar char="•"/>
            </a:pPr>
            <a:r>
              <a:rPr lang="en-US" sz="2200" b="1" dirty="0"/>
              <a:t>Potential leakage check:</a:t>
            </a:r>
            <a:r>
              <a:rPr lang="en-US" sz="2200" dirty="0"/>
              <a:t> Any feature with </a:t>
            </a:r>
            <a:r>
              <a:rPr lang="en-US" sz="2200" b="1" dirty="0"/>
              <a:t>|</a:t>
            </a:r>
            <a:r>
              <a:rPr lang="en-US" sz="2200" b="1" dirty="0" err="1"/>
              <a:t>corr</a:t>
            </a:r>
            <a:r>
              <a:rPr lang="en-US" sz="2200" b="1" dirty="0"/>
              <a:t>| &gt; 0.9</a:t>
            </a:r>
            <a:r>
              <a:rPr lang="en-US" sz="2200" dirty="0"/>
              <a:t> flagged to prevent data leakage.</a:t>
            </a:r>
          </a:p>
          <a:p>
            <a:endParaRPr lang="en-US" sz="2200" dirty="0"/>
          </a:p>
          <a:p>
            <a:pPr>
              <a:buNone/>
            </a:pPr>
            <a:r>
              <a:rPr lang="en-US" sz="2200" b="1" dirty="0"/>
              <a:t>3️⃣ Models Evaluated:</a:t>
            </a:r>
            <a:endParaRPr lang="en-US" sz="2200" dirty="0"/>
          </a:p>
          <a:p>
            <a:pPr>
              <a:buFont typeface="Arial" panose="020B0604020202020204" pitchFamily="34" charset="0"/>
              <a:buChar char="•"/>
            </a:pPr>
            <a:r>
              <a:rPr lang="en-US" sz="2200" dirty="0"/>
              <a:t>Linear Regression</a:t>
            </a:r>
          </a:p>
          <a:p>
            <a:pPr>
              <a:buFont typeface="Arial" panose="020B0604020202020204" pitchFamily="34" charset="0"/>
              <a:buChar char="•"/>
            </a:pPr>
            <a:r>
              <a:rPr lang="en-US" sz="2200" dirty="0"/>
              <a:t>Ridge Regression (L2 regularization)</a:t>
            </a:r>
          </a:p>
          <a:p>
            <a:pPr>
              <a:buFont typeface="Arial" panose="020B0604020202020204" pitchFamily="34" charset="0"/>
              <a:buChar char="•"/>
            </a:pPr>
            <a:r>
              <a:rPr lang="en-US" sz="2200" dirty="0"/>
              <a:t>Lasso Regression (L1 regularization)</a:t>
            </a:r>
          </a:p>
          <a:p>
            <a:pPr>
              <a:buFont typeface="Arial" panose="020B0604020202020204" pitchFamily="34" charset="0"/>
              <a:buChar char="•"/>
            </a:pPr>
            <a:r>
              <a:rPr lang="en-US" sz="2200" dirty="0"/>
              <a:t>Random Forest Regressor</a:t>
            </a:r>
          </a:p>
          <a:p>
            <a:pPr>
              <a:buFont typeface="Arial" panose="020B0604020202020204" pitchFamily="34" charset="0"/>
              <a:buChar char="•"/>
            </a:pPr>
            <a:r>
              <a:rPr lang="en-US" sz="2200" dirty="0"/>
              <a:t>XGBoost Regressor</a:t>
            </a:r>
          </a:p>
          <a:p>
            <a:pPr>
              <a:buFont typeface="Arial" panose="020B0604020202020204" pitchFamily="34" charset="0"/>
              <a:buChar char="•"/>
            </a:pPr>
            <a:r>
              <a:rPr lang="en-US" sz="2200" dirty="0" err="1"/>
              <a:t>LightGBM</a:t>
            </a:r>
            <a:r>
              <a:rPr lang="en-US" sz="2200" dirty="0"/>
              <a:t> Regressor</a:t>
            </a:r>
          </a:p>
          <a:p>
            <a:pPr>
              <a:buFont typeface="Arial" panose="020B0604020202020204" pitchFamily="34" charset="0"/>
              <a:buChar char="•"/>
            </a:pPr>
            <a:r>
              <a:rPr lang="en-US" sz="2200" dirty="0"/>
              <a:t>Support Vector Regressor (SVR) with RBF kernel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450764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A033B-3753-FD38-325C-647A497BF91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4C840A0-3E75-6D19-23D6-09D8C6F0E5E8}"/>
              </a:ext>
            </a:extLst>
          </p:cNvPr>
          <p:cNvSpPr/>
          <p:nvPr/>
        </p:nvSpPr>
        <p:spPr>
          <a:xfrm>
            <a:off x="1028700" y="800100"/>
            <a:ext cx="361435" cy="361435"/>
          </a:xfrm>
          <a:custGeom>
            <a:avLst/>
            <a:gdLst/>
            <a:ahLst/>
            <a:cxnLst/>
            <a:rect l="l" t="t" r="r" b="b"/>
            <a:pathLst>
              <a:path w="361435" h="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DC2E678C-5CF8-61F1-DBBB-E22AA125E9F8}"/>
              </a:ext>
            </a:extLst>
          </p:cNvPr>
          <p:cNvSpPr/>
          <p:nvPr/>
        </p:nvSpPr>
        <p:spPr>
          <a:xfrm>
            <a:off x="10210800" y="1161535"/>
            <a:ext cx="5779471" cy="3981965"/>
          </a:xfrm>
          <a:custGeom>
            <a:avLst/>
            <a:gdLst/>
            <a:ahLst/>
            <a:cxnLst/>
            <a:rect l="l" t="t" r="r" b="b"/>
            <a:pathLst>
              <a:path w="5779471" h="4550020">
                <a:moveTo>
                  <a:pt x="0" y="0"/>
                </a:moveTo>
                <a:lnTo>
                  <a:pt x="5779471" y="0"/>
                </a:lnTo>
                <a:lnTo>
                  <a:pt x="5779471" y="4550020"/>
                </a:lnTo>
                <a:lnTo>
                  <a:pt x="0" y="45500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a:extLst>
              <a:ext uri="{FF2B5EF4-FFF2-40B4-BE49-F238E27FC236}">
                <a16:creationId xmlns:a16="http://schemas.microsoft.com/office/drawing/2014/main" id="{ECE3CCD3-4850-9391-740E-06810FA19FE3}"/>
              </a:ext>
            </a:extLst>
          </p:cNvPr>
          <p:cNvSpPr txBox="1"/>
          <p:nvPr/>
        </p:nvSpPr>
        <p:spPr>
          <a:xfrm>
            <a:off x="1013952" y="1497174"/>
            <a:ext cx="9730248" cy="1032719"/>
          </a:xfrm>
          <a:prstGeom prst="rect">
            <a:avLst/>
          </a:prstGeom>
        </p:spPr>
        <p:txBody>
          <a:bodyPr wrap="square" lIns="0" tIns="0" rIns="0" bIns="0" rtlCol="0" anchor="t">
            <a:spAutoFit/>
          </a:bodyPr>
          <a:lstStyle/>
          <a:p>
            <a:pPr>
              <a:lnSpc>
                <a:spcPts val="7656"/>
              </a:lnSpc>
            </a:pPr>
            <a:r>
              <a:rPr lang="en-IN" sz="8800" dirty="0"/>
              <a:t>11.Model Evaluation</a:t>
            </a:r>
            <a:endParaRPr lang="en-US" sz="8800" spc="-431" dirty="0">
              <a:solidFill>
                <a:srgbClr val="000000"/>
              </a:solidFill>
              <a:latin typeface="TT Interphases"/>
              <a:ea typeface="TT Interphases"/>
              <a:cs typeface="TT Interphases"/>
              <a:sym typeface="TT Interphases"/>
            </a:endParaRPr>
          </a:p>
        </p:txBody>
      </p:sp>
      <p:sp>
        <p:nvSpPr>
          <p:cNvPr id="8" name="Freeform 8">
            <a:extLst>
              <a:ext uri="{FF2B5EF4-FFF2-40B4-BE49-F238E27FC236}">
                <a16:creationId xmlns:a16="http://schemas.microsoft.com/office/drawing/2014/main" id="{60ADC69F-0201-4F86-FE93-D485702CEA01}"/>
              </a:ext>
            </a:extLst>
          </p:cNvPr>
          <p:cNvSpPr/>
          <p:nvPr/>
        </p:nvSpPr>
        <p:spPr>
          <a:xfrm rot="-5400000">
            <a:off x="12022917" y="320451"/>
            <a:ext cx="585299" cy="2800867"/>
          </a:xfrm>
          <a:custGeom>
            <a:avLst/>
            <a:gdLst/>
            <a:ahLst/>
            <a:cxnLst/>
            <a:rect l="l" t="t" r="r" b="b"/>
            <a:pathLst>
              <a:path w="969594" h="3396666">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15" name="TextBox 14">
            <a:extLst>
              <a:ext uri="{FF2B5EF4-FFF2-40B4-BE49-F238E27FC236}">
                <a16:creationId xmlns:a16="http://schemas.microsoft.com/office/drawing/2014/main" id="{8DBF7DAD-A58F-E992-876B-2A7A2C993A16}"/>
              </a:ext>
            </a:extLst>
          </p:cNvPr>
          <p:cNvSpPr txBox="1"/>
          <p:nvPr/>
        </p:nvSpPr>
        <p:spPr>
          <a:xfrm>
            <a:off x="762000" y="3429975"/>
            <a:ext cx="7622458" cy="3816429"/>
          </a:xfrm>
          <a:prstGeom prst="rect">
            <a:avLst/>
          </a:prstGeom>
          <a:noFill/>
        </p:spPr>
        <p:txBody>
          <a:bodyPr wrap="square">
            <a:spAutoFit/>
          </a:bodyPr>
          <a:lstStyle/>
          <a:p>
            <a:pPr>
              <a:buNone/>
            </a:pPr>
            <a:r>
              <a:rPr lang="en-IN" sz="2200" b="1" dirty="0"/>
              <a:t>4️⃣ Training &amp; Evaluation Metrics:</a:t>
            </a:r>
            <a:endParaRPr lang="en-IN" sz="2200" dirty="0"/>
          </a:p>
          <a:p>
            <a:pPr>
              <a:buFont typeface="Arial" panose="020B0604020202020204" pitchFamily="34" charset="0"/>
              <a:buChar char="•"/>
            </a:pPr>
            <a:r>
              <a:rPr lang="en-IN" sz="2200" b="1" dirty="0"/>
              <a:t>Train-Test Split:</a:t>
            </a:r>
            <a:r>
              <a:rPr lang="en-IN" sz="2200" dirty="0"/>
              <a:t> 80% train, 20% test</a:t>
            </a:r>
          </a:p>
          <a:p>
            <a:pPr>
              <a:buFont typeface="Arial" panose="020B0604020202020204" pitchFamily="34" charset="0"/>
              <a:buChar char="•"/>
            </a:pPr>
            <a:r>
              <a:rPr lang="en-IN" sz="2200" b="1" dirty="0"/>
              <a:t>Metrics:</a:t>
            </a:r>
            <a:endParaRPr lang="en-IN" sz="2200" dirty="0"/>
          </a:p>
          <a:p>
            <a:pPr marL="742950" lvl="1" indent="-285750">
              <a:buFont typeface="Arial" panose="020B0604020202020204" pitchFamily="34" charset="0"/>
              <a:buChar char="•"/>
            </a:pPr>
            <a:r>
              <a:rPr lang="en-IN" sz="2200" dirty="0"/>
              <a:t>MAE (Mean Absolute Error)</a:t>
            </a:r>
          </a:p>
          <a:p>
            <a:pPr marL="742950" lvl="1" indent="-285750">
              <a:buFont typeface="Arial" panose="020B0604020202020204" pitchFamily="34" charset="0"/>
              <a:buChar char="•"/>
            </a:pPr>
            <a:r>
              <a:rPr lang="en-IN" sz="2200" dirty="0"/>
              <a:t>RMSE (Root Mean Squared Error)</a:t>
            </a:r>
          </a:p>
          <a:p>
            <a:pPr marL="742950" lvl="1" indent="-285750">
              <a:buFont typeface="Arial" panose="020B0604020202020204" pitchFamily="34" charset="0"/>
              <a:buChar char="•"/>
            </a:pPr>
            <a:r>
              <a:rPr lang="en-IN" sz="2200" dirty="0"/>
              <a:t>R² Score</a:t>
            </a:r>
          </a:p>
          <a:p>
            <a:pPr marL="742950" lvl="1" indent="-285750">
              <a:buFont typeface="Arial" panose="020B0604020202020204" pitchFamily="34" charset="0"/>
              <a:buChar char="•"/>
            </a:pPr>
            <a:r>
              <a:rPr lang="en-IN" sz="2200" dirty="0"/>
              <a:t>Adjusted R² (accounts for number of features)</a:t>
            </a:r>
          </a:p>
          <a:p>
            <a:pPr lvl="1"/>
            <a:endParaRPr lang="en-IN" sz="2200" dirty="0"/>
          </a:p>
          <a:p>
            <a:pPr>
              <a:buNone/>
            </a:pPr>
            <a:r>
              <a:rPr lang="en-IN" sz="2200" b="1" dirty="0"/>
              <a:t>5️⃣ Model Performance Summary:</a:t>
            </a:r>
          </a:p>
          <a:p>
            <a:pPr>
              <a:buNone/>
            </a:pPr>
            <a:endParaRPr lang="en-IN" sz="2200" dirty="0"/>
          </a:p>
          <a:p>
            <a:pPr>
              <a:buNone/>
            </a:pPr>
            <a:endParaRPr lang="en-US" sz="2200" dirty="0"/>
          </a:p>
        </p:txBody>
      </p:sp>
      <p:graphicFrame>
        <p:nvGraphicFramePr>
          <p:cNvPr id="5" name="Table 4">
            <a:extLst>
              <a:ext uri="{FF2B5EF4-FFF2-40B4-BE49-F238E27FC236}">
                <a16:creationId xmlns:a16="http://schemas.microsoft.com/office/drawing/2014/main" id="{1D9F5AD5-32E4-9964-9E54-83ED67D2EC1F}"/>
              </a:ext>
            </a:extLst>
          </p:cNvPr>
          <p:cNvGraphicFramePr>
            <a:graphicFrameLocks noGrp="1"/>
          </p:cNvGraphicFramePr>
          <p:nvPr>
            <p:extLst>
              <p:ext uri="{D42A27DB-BD31-4B8C-83A1-F6EECF244321}">
                <p14:modId xmlns:p14="http://schemas.microsoft.com/office/powerpoint/2010/main" val="110482990"/>
              </p:ext>
            </p:extLst>
          </p:nvPr>
        </p:nvGraphicFramePr>
        <p:xfrm>
          <a:off x="905846" y="6706548"/>
          <a:ext cx="8229600" cy="2926080"/>
        </p:xfrm>
        <a:graphic>
          <a:graphicData uri="http://schemas.openxmlformats.org/drawingml/2006/table">
            <a:tbl>
              <a:tblPr/>
              <a:tblGrid>
                <a:gridCol w="1645920">
                  <a:extLst>
                    <a:ext uri="{9D8B030D-6E8A-4147-A177-3AD203B41FA5}">
                      <a16:colId xmlns:a16="http://schemas.microsoft.com/office/drawing/2014/main" val="3512758533"/>
                    </a:ext>
                  </a:extLst>
                </a:gridCol>
                <a:gridCol w="1645920">
                  <a:extLst>
                    <a:ext uri="{9D8B030D-6E8A-4147-A177-3AD203B41FA5}">
                      <a16:colId xmlns:a16="http://schemas.microsoft.com/office/drawing/2014/main" val="2259502240"/>
                    </a:ext>
                  </a:extLst>
                </a:gridCol>
                <a:gridCol w="1645920">
                  <a:extLst>
                    <a:ext uri="{9D8B030D-6E8A-4147-A177-3AD203B41FA5}">
                      <a16:colId xmlns:a16="http://schemas.microsoft.com/office/drawing/2014/main" val="1098228330"/>
                    </a:ext>
                  </a:extLst>
                </a:gridCol>
                <a:gridCol w="1645920">
                  <a:extLst>
                    <a:ext uri="{9D8B030D-6E8A-4147-A177-3AD203B41FA5}">
                      <a16:colId xmlns:a16="http://schemas.microsoft.com/office/drawing/2014/main" val="2167094241"/>
                    </a:ext>
                  </a:extLst>
                </a:gridCol>
                <a:gridCol w="1645920">
                  <a:extLst>
                    <a:ext uri="{9D8B030D-6E8A-4147-A177-3AD203B41FA5}">
                      <a16:colId xmlns:a16="http://schemas.microsoft.com/office/drawing/2014/main" val="1538828898"/>
                    </a:ext>
                  </a:extLst>
                </a:gridCol>
              </a:tblGrid>
              <a:tr h="0">
                <a:tc>
                  <a:txBody>
                    <a:bodyPr/>
                    <a:lstStyle/>
                    <a:p>
                      <a:pPr>
                        <a:buNone/>
                      </a:pPr>
                      <a:r>
                        <a:rPr lang="en-IN"/>
                        <a:t>Model</a:t>
                      </a:r>
                    </a:p>
                  </a:txBody>
                  <a:tcPr anchor="ctr">
                    <a:lnL>
                      <a:noFill/>
                    </a:lnL>
                    <a:lnR>
                      <a:noFill/>
                    </a:lnR>
                    <a:lnT>
                      <a:noFill/>
                    </a:lnT>
                    <a:lnB>
                      <a:noFill/>
                    </a:lnB>
                    <a:noFill/>
                  </a:tcPr>
                </a:tc>
                <a:tc>
                  <a:txBody>
                    <a:bodyPr/>
                    <a:lstStyle/>
                    <a:p>
                      <a:pPr>
                        <a:buNone/>
                      </a:pPr>
                      <a:r>
                        <a:rPr lang="en-IN"/>
                        <a:t>MAE</a:t>
                      </a:r>
                    </a:p>
                  </a:txBody>
                  <a:tcPr anchor="ctr">
                    <a:lnL>
                      <a:noFill/>
                    </a:lnL>
                    <a:lnR>
                      <a:noFill/>
                    </a:lnR>
                    <a:lnT>
                      <a:noFill/>
                    </a:lnT>
                    <a:lnB>
                      <a:noFill/>
                    </a:lnB>
                    <a:noFill/>
                  </a:tcPr>
                </a:tc>
                <a:tc>
                  <a:txBody>
                    <a:bodyPr/>
                    <a:lstStyle/>
                    <a:p>
                      <a:pPr>
                        <a:buNone/>
                      </a:pPr>
                      <a:r>
                        <a:rPr lang="en-IN"/>
                        <a:t>RMSE</a:t>
                      </a:r>
                    </a:p>
                  </a:txBody>
                  <a:tcPr anchor="ctr">
                    <a:lnL>
                      <a:noFill/>
                    </a:lnL>
                    <a:lnR>
                      <a:noFill/>
                    </a:lnR>
                    <a:lnT>
                      <a:noFill/>
                    </a:lnT>
                    <a:lnB>
                      <a:noFill/>
                    </a:lnB>
                    <a:noFill/>
                  </a:tcPr>
                </a:tc>
                <a:tc>
                  <a:txBody>
                    <a:bodyPr/>
                    <a:lstStyle/>
                    <a:p>
                      <a:pPr>
                        <a:buNone/>
                      </a:pPr>
                      <a:r>
                        <a:rPr lang="en-IN"/>
                        <a:t>R²</a:t>
                      </a:r>
                    </a:p>
                  </a:txBody>
                  <a:tcPr anchor="ctr">
                    <a:lnL>
                      <a:noFill/>
                    </a:lnL>
                    <a:lnR>
                      <a:noFill/>
                    </a:lnR>
                    <a:lnT>
                      <a:noFill/>
                    </a:lnT>
                    <a:lnB>
                      <a:noFill/>
                    </a:lnB>
                    <a:noFill/>
                  </a:tcPr>
                </a:tc>
                <a:tc>
                  <a:txBody>
                    <a:bodyPr/>
                    <a:lstStyle/>
                    <a:p>
                      <a:pPr>
                        <a:buNone/>
                      </a:pPr>
                      <a:r>
                        <a:rPr lang="en-IN"/>
                        <a:t>Adjusted R²</a:t>
                      </a:r>
                    </a:p>
                  </a:txBody>
                  <a:tcPr anchor="ctr">
                    <a:lnL>
                      <a:noFill/>
                    </a:lnL>
                    <a:lnR>
                      <a:noFill/>
                    </a:lnR>
                    <a:lnT>
                      <a:noFill/>
                    </a:lnT>
                    <a:lnB>
                      <a:noFill/>
                    </a:lnB>
                    <a:noFill/>
                  </a:tcPr>
                </a:tc>
                <a:extLst>
                  <a:ext uri="{0D108BD9-81ED-4DB2-BD59-A6C34878D82A}">
                    <a16:rowId xmlns:a16="http://schemas.microsoft.com/office/drawing/2014/main" val="2802610144"/>
                  </a:ext>
                </a:extLst>
              </a:tr>
              <a:tr h="0">
                <a:tc>
                  <a:txBody>
                    <a:bodyPr/>
                    <a:lstStyle/>
                    <a:p>
                      <a:pPr>
                        <a:buNone/>
                      </a:pPr>
                      <a:r>
                        <a:rPr lang="en-IN"/>
                        <a:t>Lasso</a:t>
                      </a:r>
                    </a:p>
                  </a:txBody>
                  <a:tcPr anchor="ctr">
                    <a:lnL>
                      <a:noFill/>
                    </a:lnL>
                    <a:lnR>
                      <a:noFill/>
                    </a:lnR>
                    <a:lnT>
                      <a:noFill/>
                    </a:lnT>
                    <a:lnB>
                      <a:noFill/>
                    </a:lnB>
                    <a:noFill/>
                  </a:tcPr>
                </a:tc>
                <a:tc>
                  <a:txBody>
                    <a:bodyPr/>
                    <a:lstStyle/>
                    <a:p>
                      <a:pPr>
                        <a:buNone/>
                      </a:pPr>
                      <a:r>
                        <a:rPr lang="en-IN"/>
                        <a:t>0.329944</a:t>
                      </a:r>
                    </a:p>
                  </a:txBody>
                  <a:tcPr anchor="ctr">
                    <a:lnL>
                      <a:noFill/>
                    </a:lnL>
                    <a:lnR>
                      <a:noFill/>
                    </a:lnR>
                    <a:lnT>
                      <a:noFill/>
                    </a:lnT>
                    <a:lnB>
                      <a:noFill/>
                    </a:lnB>
                    <a:noFill/>
                  </a:tcPr>
                </a:tc>
                <a:tc>
                  <a:txBody>
                    <a:bodyPr/>
                    <a:lstStyle/>
                    <a:p>
                      <a:pPr>
                        <a:buNone/>
                      </a:pPr>
                      <a:r>
                        <a:rPr lang="en-IN"/>
                        <a:t>0.163459</a:t>
                      </a:r>
                    </a:p>
                  </a:txBody>
                  <a:tcPr anchor="ctr">
                    <a:lnL>
                      <a:noFill/>
                    </a:lnL>
                    <a:lnR>
                      <a:noFill/>
                    </a:lnR>
                    <a:lnT>
                      <a:noFill/>
                    </a:lnT>
                    <a:lnB>
                      <a:noFill/>
                    </a:lnB>
                    <a:noFill/>
                  </a:tcPr>
                </a:tc>
                <a:tc>
                  <a:txBody>
                    <a:bodyPr/>
                    <a:lstStyle/>
                    <a:p>
                      <a:pPr>
                        <a:buNone/>
                      </a:pPr>
                      <a:r>
                        <a:rPr lang="en-IN"/>
                        <a:t>0.999996</a:t>
                      </a:r>
                    </a:p>
                  </a:txBody>
                  <a:tcPr anchor="ctr">
                    <a:lnL>
                      <a:noFill/>
                    </a:lnL>
                    <a:lnR>
                      <a:noFill/>
                    </a:lnR>
                    <a:lnT>
                      <a:noFill/>
                    </a:lnT>
                    <a:lnB>
                      <a:noFill/>
                    </a:lnB>
                    <a:noFill/>
                  </a:tcPr>
                </a:tc>
                <a:tc>
                  <a:txBody>
                    <a:bodyPr/>
                    <a:lstStyle/>
                    <a:p>
                      <a:pPr>
                        <a:buNone/>
                      </a:pPr>
                      <a:r>
                        <a:rPr lang="en-IN"/>
                        <a:t>0.999995</a:t>
                      </a:r>
                    </a:p>
                  </a:txBody>
                  <a:tcPr anchor="ctr">
                    <a:lnL>
                      <a:noFill/>
                    </a:lnL>
                    <a:lnR>
                      <a:noFill/>
                    </a:lnR>
                    <a:lnT>
                      <a:noFill/>
                    </a:lnT>
                    <a:lnB>
                      <a:noFill/>
                    </a:lnB>
                    <a:noFill/>
                  </a:tcPr>
                </a:tc>
                <a:extLst>
                  <a:ext uri="{0D108BD9-81ED-4DB2-BD59-A6C34878D82A}">
                    <a16:rowId xmlns:a16="http://schemas.microsoft.com/office/drawing/2014/main" val="719063940"/>
                  </a:ext>
                </a:extLst>
              </a:tr>
              <a:tr h="0">
                <a:tc>
                  <a:txBody>
                    <a:bodyPr/>
                    <a:lstStyle/>
                    <a:p>
                      <a:pPr>
                        <a:buNone/>
                      </a:pPr>
                      <a:r>
                        <a:rPr lang="en-IN"/>
                        <a:t>Ridge</a:t>
                      </a:r>
                    </a:p>
                  </a:txBody>
                  <a:tcPr anchor="ctr">
                    <a:lnL>
                      <a:noFill/>
                    </a:lnL>
                    <a:lnR>
                      <a:noFill/>
                    </a:lnR>
                    <a:lnT>
                      <a:noFill/>
                    </a:lnT>
                    <a:lnB>
                      <a:noFill/>
                    </a:lnB>
                    <a:noFill/>
                  </a:tcPr>
                </a:tc>
                <a:tc>
                  <a:txBody>
                    <a:bodyPr/>
                    <a:lstStyle/>
                    <a:p>
                      <a:pPr>
                        <a:buNone/>
                      </a:pPr>
                      <a:r>
                        <a:rPr lang="en-IN"/>
                        <a:t>0.338983</a:t>
                      </a:r>
                    </a:p>
                  </a:txBody>
                  <a:tcPr anchor="ctr">
                    <a:lnL>
                      <a:noFill/>
                    </a:lnL>
                    <a:lnR>
                      <a:noFill/>
                    </a:lnR>
                    <a:lnT>
                      <a:noFill/>
                    </a:lnT>
                    <a:lnB>
                      <a:noFill/>
                    </a:lnB>
                    <a:noFill/>
                  </a:tcPr>
                </a:tc>
                <a:tc>
                  <a:txBody>
                    <a:bodyPr/>
                    <a:lstStyle/>
                    <a:p>
                      <a:pPr>
                        <a:buNone/>
                      </a:pPr>
                      <a:r>
                        <a:rPr lang="en-IN" dirty="0"/>
                        <a:t>0.174276</a:t>
                      </a:r>
                    </a:p>
                  </a:txBody>
                  <a:tcPr anchor="ctr">
                    <a:lnL>
                      <a:noFill/>
                    </a:lnL>
                    <a:lnR>
                      <a:noFill/>
                    </a:lnR>
                    <a:lnT>
                      <a:noFill/>
                    </a:lnT>
                    <a:lnB>
                      <a:noFill/>
                    </a:lnB>
                    <a:noFill/>
                  </a:tcPr>
                </a:tc>
                <a:tc>
                  <a:txBody>
                    <a:bodyPr/>
                    <a:lstStyle/>
                    <a:p>
                      <a:pPr>
                        <a:buNone/>
                      </a:pPr>
                      <a:r>
                        <a:rPr lang="en-IN"/>
                        <a:t>0.999996</a:t>
                      </a:r>
                    </a:p>
                  </a:txBody>
                  <a:tcPr anchor="ctr">
                    <a:lnL>
                      <a:noFill/>
                    </a:lnL>
                    <a:lnR>
                      <a:noFill/>
                    </a:lnR>
                    <a:lnT>
                      <a:noFill/>
                    </a:lnT>
                    <a:lnB>
                      <a:noFill/>
                    </a:lnB>
                    <a:noFill/>
                  </a:tcPr>
                </a:tc>
                <a:tc>
                  <a:txBody>
                    <a:bodyPr/>
                    <a:lstStyle/>
                    <a:p>
                      <a:pPr>
                        <a:buNone/>
                      </a:pPr>
                      <a:r>
                        <a:rPr lang="en-IN"/>
                        <a:t>0.999995</a:t>
                      </a:r>
                    </a:p>
                  </a:txBody>
                  <a:tcPr anchor="ctr">
                    <a:lnL>
                      <a:noFill/>
                    </a:lnL>
                    <a:lnR>
                      <a:noFill/>
                    </a:lnR>
                    <a:lnT>
                      <a:noFill/>
                    </a:lnT>
                    <a:lnB>
                      <a:noFill/>
                    </a:lnB>
                    <a:noFill/>
                  </a:tcPr>
                </a:tc>
                <a:extLst>
                  <a:ext uri="{0D108BD9-81ED-4DB2-BD59-A6C34878D82A}">
                    <a16:rowId xmlns:a16="http://schemas.microsoft.com/office/drawing/2014/main" val="1465536355"/>
                  </a:ext>
                </a:extLst>
              </a:tr>
              <a:tr h="0">
                <a:tc>
                  <a:txBody>
                    <a:bodyPr/>
                    <a:lstStyle/>
                    <a:p>
                      <a:pPr>
                        <a:buNone/>
                      </a:pPr>
                      <a:r>
                        <a:rPr lang="en-IN"/>
                        <a:t>Linear</a:t>
                      </a:r>
                    </a:p>
                  </a:txBody>
                  <a:tcPr anchor="ctr">
                    <a:lnL>
                      <a:noFill/>
                    </a:lnL>
                    <a:lnR>
                      <a:noFill/>
                    </a:lnR>
                    <a:lnT>
                      <a:noFill/>
                    </a:lnT>
                    <a:lnB>
                      <a:noFill/>
                    </a:lnB>
                    <a:noFill/>
                  </a:tcPr>
                </a:tc>
                <a:tc>
                  <a:txBody>
                    <a:bodyPr/>
                    <a:lstStyle/>
                    <a:p>
                      <a:pPr>
                        <a:buNone/>
                      </a:pPr>
                      <a:r>
                        <a:rPr lang="en-IN"/>
                        <a:t>0.339331</a:t>
                      </a:r>
                    </a:p>
                  </a:txBody>
                  <a:tcPr anchor="ctr">
                    <a:lnL>
                      <a:noFill/>
                    </a:lnL>
                    <a:lnR>
                      <a:noFill/>
                    </a:lnR>
                    <a:lnT>
                      <a:noFill/>
                    </a:lnT>
                    <a:lnB>
                      <a:noFill/>
                    </a:lnB>
                    <a:noFill/>
                  </a:tcPr>
                </a:tc>
                <a:tc>
                  <a:txBody>
                    <a:bodyPr/>
                    <a:lstStyle/>
                    <a:p>
                      <a:pPr>
                        <a:buNone/>
                      </a:pPr>
                      <a:r>
                        <a:rPr lang="en-IN"/>
                        <a:t>0.174673</a:t>
                      </a:r>
                    </a:p>
                  </a:txBody>
                  <a:tcPr anchor="ctr">
                    <a:lnL>
                      <a:noFill/>
                    </a:lnL>
                    <a:lnR>
                      <a:noFill/>
                    </a:lnR>
                    <a:lnT>
                      <a:noFill/>
                    </a:lnT>
                    <a:lnB>
                      <a:noFill/>
                    </a:lnB>
                    <a:noFill/>
                  </a:tcPr>
                </a:tc>
                <a:tc>
                  <a:txBody>
                    <a:bodyPr/>
                    <a:lstStyle/>
                    <a:p>
                      <a:pPr>
                        <a:buNone/>
                      </a:pPr>
                      <a:r>
                        <a:rPr lang="en-IN"/>
                        <a:t>0.999996</a:t>
                      </a:r>
                    </a:p>
                  </a:txBody>
                  <a:tcPr anchor="ctr">
                    <a:lnL>
                      <a:noFill/>
                    </a:lnL>
                    <a:lnR>
                      <a:noFill/>
                    </a:lnR>
                    <a:lnT>
                      <a:noFill/>
                    </a:lnT>
                    <a:lnB>
                      <a:noFill/>
                    </a:lnB>
                    <a:noFill/>
                  </a:tcPr>
                </a:tc>
                <a:tc>
                  <a:txBody>
                    <a:bodyPr/>
                    <a:lstStyle/>
                    <a:p>
                      <a:pPr>
                        <a:buNone/>
                      </a:pPr>
                      <a:r>
                        <a:rPr lang="en-IN"/>
                        <a:t>0.999995</a:t>
                      </a:r>
                    </a:p>
                  </a:txBody>
                  <a:tcPr anchor="ctr">
                    <a:lnL>
                      <a:noFill/>
                    </a:lnL>
                    <a:lnR>
                      <a:noFill/>
                    </a:lnR>
                    <a:lnT>
                      <a:noFill/>
                    </a:lnT>
                    <a:lnB>
                      <a:noFill/>
                    </a:lnB>
                    <a:noFill/>
                  </a:tcPr>
                </a:tc>
                <a:extLst>
                  <a:ext uri="{0D108BD9-81ED-4DB2-BD59-A6C34878D82A}">
                    <a16:rowId xmlns:a16="http://schemas.microsoft.com/office/drawing/2014/main" val="3542984427"/>
                  </a:ext>
                </a:extLst>
              </a:tr>
              <a:tr h="0">
                <a:tc>
                  <a:txBody>
                    <a:bodyPr/>
                    <a:lstStyle/>
                    <a:p>
                      <a:pPr>
                        <a:buNone/>
                      </a:pPr>
                      <a:r>
                        <a:rPr lang="en-IN"/>
                        <a:t>RandomForest</a:t>
                      </a:r>
                    </a:p>
                  </a:txBody>
                  <a:tcPr anchor="ctr">
                    <a:lnL>
                      <a:noFill/>
                    </a:lnL>
                    <a:lnR>
                      <a:noFill/>
                    </a:lnR>
                    <a:lnT>
                      <a:noFill/>
                    </a:lnT>
                    <a:lnB>
                      <a:noFill/>
                    </a:lnB>
                    <a:noFill/>
                  </a:tcPr>
                </a:tc>
                <a:tc>
                  <a:txBody>
                    <a:bodyPr/>
                    <a:lstStyle/>
                    <a:p>
                      <a:pPr>
                        <a:buNone/>
                      </a:pPr>
                      <a:r>
                        <a:rPr lang="en-IN"/>
                        <a:t>0.416554</a:t>
                      </a:r>
                    </a:p>
                  </a:txBody>
                  <a:tcPr anchor="ctr">
                    <a:lnL>
                      <a:noFill/>
                    </a:lnL>
                    <a:lnR>
                      <a:noFill/>
                    </a:lnR>
                    <a:lnT>
                      <a:noFill/>
                    </a:lnT>
                    <a:lnB>
                      <a:noFill/>
                    </a:lnB>
                    <a:noFill/>
                  </a:tcPr>
                </a:tc>
                <a:tc>
                  <a:txBody>
                    <a:bodyPr/>
                    <a:lstStyle/>
                    <a:p>
                      <a:pPr>
                        <a:buNone/>
                      </a:pPr>
                      <a:r>
                        <a:rPr lang="en-IN"/>
                        <a:t>0.284369</a:t>
                      </a:r>
                    </a:p>
                  </a:txBody>
                  <a:tcPr anchor="ctr">
                    <a:lnL>
                      <a:noFill/>
                    </a:lnL>
                    <a:lnR>
                      <a:noFill/>
                    </a:lnR>
                    <a:lnT>
                      <a:noFill/>
                    </a:lnT>
                    <a:lnB>
                      <a:noFill/>
                    </a:lnB>
                    <a:noFill/>
                  </a:tcPr>
                </a:tc>
                <a:tc>
                  <a:txBody>
                    <a:bodyPr/>
                    <a:lstStyle/>
                    <a:p>
                      <a:pPr>
                        <a:buNone/>
                      </a:pPr>
                      <a:r>
                        <a:rPr lang="en-IN"/>
                        <a:t>0.999994</a:t>
                      </a:r>
                    </a:p>
                  </a:txBody>
                  <a:tcPr anchor="ctr">
                    <a:lnL>
                      <a:noFill/>
                    </a:lnL>
                    <a:lnR>
                      <a:noFill/>
                    </a:lnR>
                    <a:lnT>
                      <a:noFill/>
                    </a:lnT>
                    <a:lnB>
                      <a:noFill/>
                    </a:lnB>
                    <a:noFill/>
                  </a:tcPr>
                </a:tc>
                <a:tc>
                  <a:txBody>
                    <a:bodyPr/>
                    <a:lstStyle/>
                    <a:p>
                      <a:pPr>
                        <a:buNone/>
                      </a:pPr>
                      <a:r>
                        <a:rPr lang="en-IN"/>
                        <a:t>0.999992</a:t>
                      </a:r>
                    </a:p>
                  </a:txBody>
                  <a:tcPr anchor="ctr">
                    <a:lnL>
                      <a:noFill/>
                    </a:lnL>
                    <a:lnR>
                      <a:noFill/>
                    </a:lnR>
                    <a:lnT>
                      <a:noFill/>
                    </a:lnT>
                    <a:lnB>
                      <a:noFill/>
                    </a:lnB>
                    <a:noFill/>
                  </a:tcPr>
                </a:tc>
                <a:extLst>
                  <a:ext uri="{0D108BD9-81ED-4DB2-BD59-A6C34878D82A}">
                    <a16:rowId xmlns:a16="http://schemas.microsoft.com/office/drawing/2014/main" val="3238358404"/>
                  </a:ext>
                </a:extLst>
              </a:tr>
              <a:tr h="0">
                <a:tc>
                  <a:txBody>
                    <a:bodyPr/>
                    <a:lstStyle/>
                    <a:p>
                      <a:pPr>
                        <a:buNone/>
                      </a:pPr>
                      <a:r>
                        <a:rPr lang="en-IN"/>
                        <a:t>LightGBM</a:t>
                      </a:r>
                    </a:p>
                  </a:txBody>
                  <a:tcPr anchor="ctr">
                    <a:lnL>
                      <a:noFill/>
                    </a:lnL>
                    <a:lnR>
                      <a:noFill/>
                    </a:lnR>
                    <a:lnT>
                      <a:noFill/>
                    </a:lnT>
                    <a:lnB>
                      <a:noFill/>
                    </a:lnB>
                    <a:noFill/>
                  </a:tcPr>
                </a:tc>
                <a:tc>
                  <a:txBody>
                    <a:bodyPr/>
                    <a:lstStyle/>
                    <a:p>
                      <a:pPr>
                        <a:buNone/>
                      </a:pPr>
                      <a:r>
                        <a:rPr lang="en-IN"/>
                        <a:t>0.881437</a:t>
                      </a:r>
                    </a:p>
                  </a:txBody>
                  <a:tcPr anchor="ctr">
                    <a:lnL>
                      <a:noFill/>
                    </a:lnL>
                    <a:lnR>
                      <a:noFill/>
                    </a:lnR>
                    <a:lnT>
                      <a:noFill/>
                    </a:lnT>
                    <a:lnB>
                      <a:noFill/>
                    </a:lnB>
                    <a:noFill/>
                  </a:tcPr>
                </a:tc>
                <a:tc>
                  <a:txBody>
                    <a:bodyPr/>
                    <a:lstStyle/>
                    <a:p>
                      <a:pPr>
                        <a:buNone/>
                      </a:pPr>
                      <a:r>
                        <a:rPr lang="en-IN"/>
                        <a:t>1.249157</a:t>
                      </a:r>
                    </a:p>
                  </a:txBody>
                  <a:tcPr anchor="ctr">
                    <a:lnL>
                      <a:noFill/>
                    </a:lnL>
                    <a:lnR>
                      <a:noFill/>
                    </a:lnR>
                    <a:lnT>
                      <a:noFill/>
                    </a:lnT>
                    <a:lnB>
                      <a:noFill/>
                    </a:lnB>
                    <a:noFill/>
                  </a:tcPr>
                </a:tc>
                <a:tc>
                  <a:txBody>
                    <a:bodyPr/>
                    <a:lstStyle/>
                    <a:p>
                      <a:pPr>
                        <a:buNone/>
                      </a:pPr>
                      <a:r>
                        <a:rPr lang="en-IN"/>
                        <a:t>0.999972</a:t>
                      </a:r>
                    </a:p>
                  </a:txBody>
                  <a:tcPr anchor="ctr">
                    <a:lnL>
                      <a:noFill/>
                    </a:lnL>
                    <a:lnR>
                      <a:noFill/>
                    </a:lnR>
                    <a:lnT>
                      <a:noFill/>
                    </a:lnT>
                    <a:lnB>
                      <a:noFill/>
                    </a:lnB>
                    <a:noFill/>
                  </a:tcPr>
                </a:tc>
                <a:tc>
                  <a:txBody>
                    <a:bodyPr/>
                    <a:lstStyle/>
                    <a:p>
                      <a:pPr>
                        <a:buNone/>
                      </a:pPr>
                      <a:r>
                        <a:rPr lang="en-IN"/>
                        <a:t>0.999965</a:t>
                      </a:r>
                    </a:p>
                  </a:txBody>
                  <a:tcPr anchor="ctr">
                    <a:lnL>
                      <a:noFill/>
                    </a:lnL>
                    <a:lnR>
                      <a:noFill/>
                    </a:lnR>
                    <a:lnT>
                      <a:noFill/>
                    </a:lnT>
                    <a:lnB>
                      <a:noFill/>
                    </a:lnB>
                    <a:noFill/>
                  </a:tcPr>
                </a:tc>
                <a:extLst>
                  <a:ext uri="{0D108BD9-81ED-4DB2-BD59-A6C34878D82A}">
                    <a16:rowId xmlns:a16="http://schemas.microsoft.com/office/drawing/2014/main" val="539898303"/>
                  </a:ext>
                </a:extLst>
              </a:tr>
              <a:tr h="0">
                <a:tc>
                  <a:txBody>
                    <a:bodyPr/>
                    <a:lstStyle/>
                    <a:p>
                      <a:pPr>
                        <a:buNone/>
                      </a:pPr>
                      <a:r>
                        <a:rPr lang="en-IN"/>
                        <a:t>XGBoost</a:t>
                      </a:r>
                    </a:p>
                  </a:txBody>
                  <a:tcPr anchor="ctr">
                    <a:lnL>
                      <a:noFill/>
                    </a:lnL>
                    <a:lnR>
                      <a:noFill/>
                    </a:lnR>
                    <a:lnT>
                      <a:noFill/>
                    </a:lnT>
                    <a:lnB>
                      <a:noFill/>
                    </a:lnB>
                    <a:noFill/>
                  </a:tcPr>
                </a:tc>
                <a:tc>
                  <a:txBody>
                    <a:bodyPr/>
                    <a:lstStyle/>
                    <a:p>
                      <a:pPr>
                        <a:buNone/>
                      </a:pPr>
                      <a:r>
                        <a:rPr lang="en-IN"/>
                        <a:t>1.392092</a:t>
                      </a:r>
                    </a:p>
                  </a:txBody>
                  <a:tcPr anchor="ctr">
                    <a:lnL>
                      <a:noFill/>
                    </a:lnL>
                    <a:lnR>
                      <a:noFill/>
                    </a:lnR>
                    <a:lnT>
                      <a:noFill/>
                    </a:lnT>
                    <a:lnB>
                      <a:noFill/>
                    </a:lnB>
                    <a:noFill/>
                  </a:tcPr>
                </a:tc>
                <a:tc>
                  <a:txBody>
                    <a:bodyPr/>
                    <a:lstStyle/>
                    <a:p>
                      <a:pPr>
                        <a:buNone/>
                      </a:pPr>
                      <a:r>
                        <a:rPr lang="en-IN"/>
                        <a:t>3.047270</a:t>
                      </a:r>
                    </a:p>
                  </a:txBody>
                  <a:tcPr anchor="ctr">
                    <a:lnL>
                      <a:noFill/>
                    </a:lnL>
                    <a:lnR>
                      <a:noFill/>
                    </a:lnR>
                    <a:lnT>
                      <a:noFill/>
                    </a:lnT>
                    <a:lnB>
                      <a:noFill/>
                    </a:lnB>
                    <a:noFill/>
                  </a:tcPr>
                </a:tc>
                <a:tc>
                  <a:txBody>
                    <a:bodyPr/>
                    <a:lstStyle/>
                    <a:p>
                      <a:pPr>
                        <a:buNone/>
                      </a:pPr>
                      <a:r>
                        <a:rPr lang="en-IN"/>
                        <a:t>0.999933</a:t>
                      </a:r>
                    </a:p>
                  </a:txBody>
                  <a:tcPr anchor="ctr">
                    <a:lnL>
                      <a:noFill/>
                    </a:lnL>
                    <a:lnR>
                      <a:noFill/>
                    </a:lnR>
                    <a:lnT>
                      <a:noFill/>
                    </a:lnT>
                    <a:lnB>
                      <a:noFill/>
                    </a:lnB>
                    <a:noFill/>
                  </a:tcPr>
                </a:tc>
                <a:tc>
                  <a:txBody>
                    <a:bodyPr/>
                    <a:lstStyle/>
                    <a:p>
                      <a:pPr>
                        <a:buNone/>
                      </a:pPr>
                      <a:r>
                        <a:rPr lang="en-IN"/>
                        <a:t>0.999915</a:t>
                      </a:r>
                    </a:p>
                  </a:txBody>
                  <a:tcPr anchor="ctr">
                    <a:lnL>
                      <a:noFill/>
                    </a:lnL>
                    <a:lnR>
                      <a:noFill/>
                    </a:lnR>
                    <a:lnT>
                      <a:noFill/>
                    </a:lnT>
                    <a:lnB>
                      <a:noFill/>
                    </a:lnB>
                    <a:noFill/>
                  </a:tcPr>
                </a:tc>
                <a:extLst>
                  <a:ext uri="{0D108BD9-81ED-4DB2-BD59-A6C34878D82A}">
                    <a16:rowId xmlns:a16="http://schemas.microsoft.com/office/drawing/2014/main" val="3915214045"/>
                  </a:ext>
                </a:extLst>
              </a:tr>
              <a:tr h="0">
                <a:tc>
                  <a:txBody>
                    <a:bodyPr/>
                    <a:lstStyle/>
                    <a:p>
                      <a:pPr>
                        <a:buNone/>
                      </a:pPr>
                      <a:r>
                        <a:rPr lang="en-IN"/>
                        <a:t>SVR</a:t>
                      </a:r>
                    </a:p>
                  </a:txBody>
                  <a:tcPr anchor="ctr">
                    <a:lnL>
                      <a:noFill/>
                    </a:lnL>
                    <a:lnR>
                      <a:noFill/>
                    </a:lnR>
                    <a:lnT>
                      <a:noFill/>
                    </a:lnT>
                    <a:lnB>
                      <a:noFill/>
                    </a:lnB>
                    <a:noFill/>
                  </a:tcPr>
                </a:tc>
                <a:tc>
                  <a:txBody>
                    <a:bodyPr/>
                    <a:lstStyle/>
                    <a:p>
                      <a:pPr>
                        <a:buNone/>
                      </a:pPr>
                      <a:r>
                        <a:rPr lang="en-IN"/>
                        <a:t>174.830252</a:t>
                      </a:r>
                    </a:p>
                  </a:txBody>
                  <a:tcPr anchor="ctr">
                    <a:lnL>
                      <a:noFill/>
                    </a:lnL>
                    <a:lnR>
                      <a:noFill/>
                    </a:lnR>
                    <a:lnT>
                      <a:noFill/>
                    </a:lnT>
                    <a:lnB>
                      <a:noFill/>
                    </a:lnB>
                    <a:noFill/>
                  </a:tcPr>
                </a:tc>
                <a:tc>
                  <a:txBody>
                    <a:bodyPr/>
                    <a:lstStyle/>
                    <a:p>
                      <a:pPr>
                        <a:buNone/>
                      </a:pPr>
                      <a:r>
                        <a:rPr lang="en-IN"/>
                        <a:t>40902.592950</a:t>
                      </a:r>
                    </a:p>
                  </a:txBody>
                  <a:tcPr anchor="ctr">
                    <a:lnL>
                      <a:noFill/>
                    </a:lnL>
                    <a:lnR>
                      <a:noFill/>
                    </a:lnR>
                    <a:lnT>
                      <a:noFill/>
                    </a:lnT>
                    <a:lnB>
                      <a:noFill/>
                    </a:lnB>
                    <a:noFill/>
                  </a:tcPr>
                </a:tc>
                <a:tc>
                  <a:txBody>
                    <a:bodyPr/>
                    <a:lstStyle/>
                    <a:p>
                      <a:pPr>
                        <a:buNone/>
                      </a:pPr>
                      <a:r>
                        <a:rPr lang="en-IN"/>
                        <a:t>0.096377</a:t>
                      </a:r>
                    </a:p>
                  </a:txBody>
                  <a:tcPr anchor="ctr">
                    <a:lnL>
                      <a:noFill/>
                    </a:lnL>
                    <a:lnR>
                      <a:noFill/>
                    </a:lnR>
                    <a:lnT>
                      <a:noFill/>
                    </a:lnT>
                    <a:lnB>
                      <a:noFill/>
                    </a:lnB>
                    <a:noFill/>
                  </a:tcPr>
                </a:tc>
                <a:tc>
                  <a:txBody>
                    <a:bodyPr/>
                    <a:lstStyle/>
                    <a:p>
                      <a:pPr>
                        <a:buNone/>
                      </a:pPr>
                      <a:r>
                        <a:rPr lang="en-IN" dirty="0"/>
                        <a:t>-0.140875</a:t>
                      </a:r>
                    </a:p>
                  </a:txBody>
                  <a:tcPr anchor="ctr">
                    <a:lnL>
                      <a:noFill/>
                    </a:lnL>
                    <a:lnR>
                      <a:noFill/>
                    </a:lnR>
                    <a:lnT>
                      <a:noFill/>
                    </a:lnT>
                    <a:lnB>
                      <a:noFill/>
                    </a:lnB>
                    <a:noFill/>
                  </a:tcPr>
                </a:tc>
                <a:extLst>
                  <a:ext uri="{0D108BD9-81ED-4DB2-BD59-A6C34878D82A}">
                    <a16:rowId xmlns:a16="http://schemas.microsoft.com/office/drawing/2014/main" val="3571251948"/>
                  </a:ext>
                </a:extLst>
              </a:tr>
            </a:tbl>
          </a:graphicData>
        </a:graphic>
      </p:graphicFrame>
      <p:sp>
        <p:nvSpPr>
          <p:cNvPr id="9" name="TextBox 8">
            <a:extLst>
              <a:ext uri="{FF2B5EF4-FFF2-40B4-BE49-F238E27FC236}">
                <a16:creationId xmlns:a16="http://schemas.microsoft.com/office/drawing/2014/main" id="{86A4CBFA-85E8-DD83-F93C-867DC39BFD47}"/>
              </a:ext>
            </a:extLst>
          </p:cNvPr>
          <p:cNvSpPr txBox="1"/>
          <p:nvPr/>
        </p:nvSpPr>
        <p:spPr>
          <a:xfrm>
            <a:off x="9601200" y="5905500"/>
            <a:ext cx="8473720" cy="3477875"/>
          </a:xfrm>
          <a:prstGeom prst="rect">
            <a:avLst/>
          </a:prstGeom>
          <a:noFill/>
        </p:spPr>
        <p:txBody>
          <a:bodyPr wrap="square">
            <a:spAutoFit/>
          </a:bodyPr>
          <a:lstStyle/>
          <a:p>
            <a:pPr>
              <a:buNone/>
            </a:pPr>
            <a:r>
              <a:rPr lang="en-IN" sz="2200" b="1" dirty="0"/>
              <a:t>6️⃣ Key Insights:</a:t>
            </a:r>
          </a:p>
          <a:p>
            <a:pPr>
              <a:buNone/>
            </a:pPr>
            <a:endParaRPr lang="en-IN" sz="2200" dirty="0"/>
          </a:p>
          <a:p>
            <a:pPr>
              <a:buFont typeface="Arial" panose="020B0604020202020204" pitchFamily="34" charset="0"/>
              <a:buChar char="•"/>
            </a:pPr>
            <a:r>
              <a:rPr lang="en-IN" sz="2200" b="1" dirty="0"/>
              <a:t>Best model:</a:t>
            </a:r>
            <a:r>
              <a:rPr lang="en-IN" sz="2200" dirty="0"/>
              <a:t> Lasso Regression (highest Adjusted R² = 0.999995)</a:t>
            </a:r>
          </a:p>
          <a:p>
            <a:pPr>
              <a:buFont typeface="Arial" panose="020B0604020202020204" pitchFamily="34" charset="0"/>
              <a:buChar char="•"/>
            </a:pPr>
            <a:r>
              <a:rPr lang="en-IN" sz="2200" dirty="0"/>
              <a:t>Linear models (Lasso, Ridge, Linear) performed extremely well → data has strong linear relationships.</a:t>
            </a:r>
          </a:p>
          <a:p>
            <a:pPr>
              <a:buFont typeface="Arial" panose="020B0604020202020204" pitchFamily="34" charset="0"/>
              <a:buChar char="•"/>
            </a:pPr>
            <a:r>
              <a:rPr lang="en-IN" sz="2200" dirty="0"/>
              <a:t>SVR performed poorly due to extreme scale mismatch.</a:t>
            </a:r>
          </a:p>
          <a:p>
            <a:pPr>
              <a:buFont typeface="Arial" panose="020B0604020202020204" pitchFamily="34" charset="0"/>
              <a:buChar char="•"/>
            </a:pPr>
            <a:r>
              <a:rPr lang="en-IN" sz="2200" dirty="0"/>
              <a:t>Ensemble models (Random Forest, XGBoost, </a:t>
            </a:r>
            <a:r>
              <a:rPr lang="en-IN" sz="2200" dirty="0" err="1"/>
              <a:t>LightGBM</a:t>
            </a:r>
            <a:r>
              <a:rPr lang="en-IN" sz="2200" dirty="0"/>
              <a:t>) also performed well but slightly worse than linear models in this dataset.</a:t>
            </a:r>
          </a:p>
          <a:p>
            <a:pPr>
              <a:buFont typeface="Arial" panose="020B0604020202020204" pitchFamily="34" charset="0"/>
              <a:buChar char="•"/>
            </a:pPr>
            <a:r>
              <a:rPr lang="en-IN" sz="2200" dirty="0"/>
              <a:t>Removing leakage features like </a:t>
            </a:r>
            <a:r>
              <a:rPr lang="en-IN" sz="2200" dirty="0">
                <a:latin typeface="Courier New" panose="02070309020205020404" pitchFamily="49" charset="0"/>
              </a:rPr>
              <a:t>first_response_days</a:t>
            </a:r>
            <a:r>
              <a:rPr lang="en-IN" sz="2200" dirty="0"/>
              <a:t> ensures </a:t>
            </a:r>
            <a:r>
              <a:rPr lang="en-IN" sz="2200" b="1" dirty="0"/>
              <a:t>robust, realistic predictions</a:t>
            </a:r>
            <a:r>
              <a:rPr lang="en-IN" sz="2200" dirty="0"/>
              <a:t>.</a:t>
            </a:r>
          </a:p>
        </p:txBody>
      </p:sp>
    </p:spTree>
    <p:extLst>
      <p:ext uri="{BB962C8B-B14F-4D97-AF65-F5344CB8AC3E}">
        <p14:creationId xmlns:p14="http://schemas.microsoft.com/office/powerpoint/2010/main" val="144562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EFBD43C-0A8D-B196-C16C-E92699505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132" y="419100"/>
            <a:ext cx="6934200" cy="4724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1F75BE47-1606-5E63-C966-AAC09AA14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632" y="5372100"/>
            <a:ext cx="7315200" cy="4800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572C41B-0FD7-A388-1F63-0FF7B4E46E4C}"/>
              </a:ext>
            </a:extLst>
          </p:cNvPr>
          <p:cNvSpPr txBox="1"/>
          <p:nvPr/>
        </p:nvSpPr>
        <p:spPr>
          <a:xfrm>
            <a:off x="8686800" y="3543300"/>
            <a:ext cx="9144000" cy="5509200"/>
          </a:xfrm>
          <a:prstGeom prst="rect">
            <a:avLst/>
          </a:prstGeom>
          <a:noFill/>
        </p:spPr>
        <p:txBody>
          <a:bodyPr wrap="square">
            <a:spAutoFit/>
          </a:bodyPr>
          <a:lstStyle/>
          <a:p>
            <a:pPr>
              <a:buNone/>
            </a:pPr>
            <a:r>
              <a:rPr lang="en-US" sz="2200" b="1" dirty="0"/>
              <a:t>Plot Interpretation:</a:t>
            </a:r>
            <a:endParaRPr lang="en-US" sz="2200" dirty="0"/>
          </a:p>
          <a:p>
            <a:pPr>
              <a:buFont typeface="Arial" panose="020B0604020202020204" pitchFamily="34" charset="0"/>
              <a:buChar char="•"/>
            </a:pPr>
            <a:r>
              <a:rPr lang="en-US" sz="2200" dirty="0"/>
              <a:t>The scatter plot compares </a:t>
            </a:r>
            <a:r>
              <a:rPr lang="en-US" sz="2200" b="1" dirty="0"/>
              <a:t>actual vs predicted </a:t>
            </a:r>
            <a:r>
              <a:rPr lang="en-US" sz="2200" b="1" dirty="0">
                <a:latin typeface="Courier New" panose="02070309020205020404" pitchFamily="49" charset="0"/>
              </a:rPr>
              <a:t>resolution_days</a:t>
            </a:r>
            <a:r>
              <a:rPr lang="en-US" sz="2200" dirty="0"/>
              <a:t>.</a:t>
            </a:r>
          </a:p>
          <a:p>
            <a:pPr>
              <a:buFont typeface="Arial" panose="020B0604020202020204" pitchFamily="34" charset="0"/>
              <a:buChar char="•"/>
            </a:pPr>
            <a:r>
              <a:rPr lang="en-US" sz="2200" dirty="0"/>
              <a:t>The red dashed line represents the ideal prediction (y = x).</a:t>
            </a:r>
          </a:p>
          <a:p>
            <a:pPr>
              <a:buFont typeface="Arial" panose="020B0604020202020204" pitchFamily="34" charset="0"/>
              <a:buChar char="•"/>
            </a:pPr>
            <a:r>
              <a:rPr lang="en-US" sz="2200" dirty="0"/>
              <a:t>Blue points lie almost exactly along this line, indicating </a:t>
            </a:r>
            <a:r>
              <a:rPr lang="en-US" sz="2200" b="1" dirty="0"/>
              <a:t>predictions closely match actual values</a:t>
            </a:r>
            <a:r>
              <a:rPr lang="en-US" sz="2200" dirty="0"/>
              <a:t>.</a:t>
            </a:r>
          </a:p>
          <a:p>
            <a:endParaRPr lang="en-US" sz="2200" dirty="0"/>
          </a:p>
          <a:p>
            <a:pPr>
              <a:buNone/>
            </a:pPr>
            <a:r>
              <a:rPr lang="en-US" sz="2200" b="1" dirty="0"/>
              <a:t>Observation &amp; Performance Insight:</a:t>
            </a:r>
            <a:endParaRPr lang="en-US" sz="2200" dirty="0"/>
          </a:p>
          <a:p>
            <a:pPr>
              <a:buFont typeface="Arial" panose="020B0604020202020204" pitchFamily="34" charset="0"/>
              <a:buChar char="•"/>
            </a:pPr>
            <a:r>
              <a:rPr lang="en-US" sz="2200" dirty="0"/>
              <a:t>Strong linear alignment shows a </a:t>
            </a:r>
            <a:r>
              <a:rPr lang="en-US" sz="2200" b="1" dirty="0"/>
              <a:t>high R²</a:t>
            </a:r>
            <a:r>
              <a:rPr lang="en-US" sz="2200" dirty="0"/>
              <a:t>, explaining most of the variance.</a:t>
            </a:r>
          </a:p>
          <a:p>
            <a:pPr>
              <a:buFont typeface="Arial" panose="020B0604020202020204" pitchFamily="34" charset="0"/>
              <a:buChar char="•"/>
            </a:pPr>
            <a:r>
              <a:rPr lang="en-US" sz="2200" dirty="0"/>
              <a:t>Minimal deviation from the reference line indicates </a:t>
            </a:r>
            <a:r>
              <a:rPr lang="en-US" sz="2200" b="1" dirty="0"/>
              <a:t>low MAE and MSE</a:t>
            </a:r>
            <a:r>
              <a:rPr lang="en-US" sz="2200" dirty="0"/>
              <a:t>.</a:t>
            </a:r>
          </a:p>
          <a:p>
            <a:pPr>
              <a:buFont typeface="Arial" panose="020B0604020202020204" pitchFamily="34" charset="0"/>
              <a:buChar char="•"/>
            </a:pPr>
            <a:r>
              <a:rPr lang="en-US" sz="2200" dirty="0"/>
              <a:t>Lasso’s regularization handled </a:t>
            </a:r>
            <a:r>
              <a:rPr lang="en-US" sz="2200" b="1" dirty="0"/>
              <a:t>multicollinearity</a:t>
            </a:r>
            <a:r>
              <a:rPr lang="en-US" sz="2200" dirty="0"/>
              <a:t> and reduced less important feature coefficients toward zero.</a:t>
            </a:r>
          </a:p>
          <a:p>
            <a:endParaRPr lang="en-US" sz="2200" dirty="0"/>
          </a:p>
          <a:p>
            <a:pPr>
              <a:buNone/>
            </a:pPr>
            <a:r>
              <a:rPr lang="en-US" sz="2200" b="1" dirty="0"/>
              <a:t>Conclusion:</a:t>
            </a:r>
            <a:endParaRPr lang="en-US" sz="2200" dirty="0"/>
          </a:p>
          <a:p>
            <a:pPr>
              <a:buFont typeface="Arial" panose="020B0604020202020204" pitchFamily="34" charset="0"/>
              <a:buChar char="•"/>
            </a:pPr>
            <a:r>
              <a:rPr lang="en-US" sz="2200" dirty="0"/>
              <a:t>The Lasso Regression model provides an </a:t>
            </a:r>
            <a:r>
              <a:rPr lang="en-US" sz="2200" b="1" dirty="0"/>
              <a:t>excellent fit</a:t>
            </a:r>
            <a:r>
              <a:rPr lang="en-US" sz="2200" dirty="0"/>
              <a:t>, balancing </a:t>
            </a:r>
            <a:r>
              <a:rPr lang="en-US" sz="2200" b="1" dirty="0"/>
              <a:t>accuracy and simplicity</a:t>
            </a:r>
            <a:r>
              <a:rPr lang="en-US" sz="2200" dirty="0"/>
              <a:t>.</a:t>
            </a:r>
          </a:p>
          <a:p>
            <a:pPr>
              <a:buFont typeface="Arial" panose="020B0604020202020204" pitchFamily="34" charset="0"/>
              <a:buChar char="•"/>
            </a:pPr>
            <a:r>
              <a:rPr lang="en-US" sz="2200" dirty="0"/>
              <a:t>It is a </a:t>
            </a:r>
            <a:r>
              <a:rPr lang="en-US" sz="2200" b="1" dirty="0"/>
              <a:t>robust and reliable choice</a:t>
            </a:r>
            <a:r>
              <a:rPr lang="en-US" sz="2200" dirty="0"/>
              <a:t> for predicting </a:t>
            </a:r>
            <a:r>
              <a:rPr lang="en-US" sz="2200" dirty="0">
                <a:latin typeface="Courier New" panose="02070309020205020404" pitchFamily="49" charset="0"/>
              </a:rPr>
              <a:t>resolution_days</a:t>
            </a:r>
            <a:r>
              <a:rPr lang="en-US" sz="2200" dirty="0"/>
              <a:t>.</a:t>
            </a:r>
          </a:p>
        </p:txBody>
      </p:sp>
      <p:sp>
        <p:nvSpPr>
          <p:cNvPr id="7" name="Freeform 3">
            <a:extLst>
              <a:ext uri="{FF2B5EF4-FFF2-40B4-BE49-F238E27FC236}">
                <a16:creationId xmlns:a16="http://schemas.microsoft.com/office/drawing/2014/main" id="{118EA435-2227-E84D-41D9-E8D705D23CC4}"/>
              </a:ext>
            </a:extLst>
          </p:cNvPr>
          <p:cNvSpPr/>
          <p:nvPr/>
        </p:nvSpPr>
        <p:spPr>
          <a:xfrm>
            <a:off x="14249400" y="190500"/>
            <a:ext cx="3048000" cy="3657600"/>
          </a:xfrm>
          <a:custGeom>
            <a:avLst/>
            <a:gdLst/>
            <a:ahLst/>
            <a:cxnLst/>
            <a:rect l="l" t="t" r="r" b="b"/>
            <a:pathLst>
              <a:path w="8259635" h="8229600">
                <a:moveTo>
                  <a:pt x="0" y="0"/>
                </a:moveTo>
                <a:lnTo>
                  <a:pt x="8259635" y="0"/>
                </a:lnTo>
                <a:lnTo>
                  <a:pt x="8259635"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Tree>
    <p:extLst>
      <p:ext uri="{BB962C8B-B14F-4D97-AF65-F5344CB8AC3E}">
        <p14:creationId xmlns:p14="http://schemas.microsoft.com/office/powerpoint/2010/main" val="3007531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7E5E9D-92AC-FC9C-3F39-724849A1DD15}"/>
              </a:ext>
            </a:extLst>
          </p:cNvPr>
          <p:cNvPicPr>
            <a:picLocks noChangeAspect="1"/>
          </p:cNvPicPr>
          <p:nvPr/>
        </p:nvPicPr>
        <p:blipFill>
          <a:blip r:embed="rId2"/>
          <a:stretch>
            <a:fillRect/>
          </a:stretch>
        </p:blipFill>
        <p:spPr>
          <a:xfrm>
            <a:off x="609600" y="266700"/>
            <a:ext cx="17068800" cy="9601200"/>
          </a:xfrm>
          <a:prstGeom prst="rect">
            <a:avLst/>
          </a:prstGeom>
        </p:spPr>
      </p:pic>
    </p:spTree>
    <p:extLst>
      <p:ext uri="{BB962C8B-B14F-4D97-AF65-F5344CB8AC3E}">
        <p14:creationId xmlns:p14="http://schemas.microsoft.com/office/powerpoint/2010/main" val="1640578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7D7A35-FA7F-DB36-CB10-04FD401BA562}"/>
              </a:ext>
            </a:extLst>
          </p:cNvPr>
          <p:cNvPicPr>
            <a:picLocks noChangeAspect="1"/>
          </p:cNvPicPr>
          <p:nvPr/>
        </p:nvPicPr>
        <p:blipFill>
          <a:blip r:embed="rId2"/>
          <a:stretch>
            <a:fillRect/>
          </a:stretch>
        </p:blipFill>
        <p:spPr>
          <a:xfrm>
            <a:off x="533400" y="342900"/>
            <a:ext cx="17449800" cy="9525000"/>
          </a:xfrm>
          <a:prstGeom prst="rect">
            <a:avLst/>
          </a:prstGeom>
        </p:spPr>
      </p:pic>
    </p:spTree>
    <p:extLst>
      <p:ext uri="{BB962C8B-B14F-4D97-AF65-F5344CB8AC3E}">
        <p14:creationId xmlns:p14="http://schemas.microsoft.com/office/powerpoint/2010/main" val="1352466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FDFF24-06FD-284B-3EA2-02248590D2CE}"/>
              </a:ext>
            </a:extLst>
          </p:cNvPr>
          <p:cNvPicPr>
            <a:picLocks noChangeAspect="1"/>
          </p:cNvPicPr>
          <p:nvPr/>
        </p:nvPicPr>
        <p:blipFill>
          <a:blip r:embed="rId2"/>
          <a:stretch>
            <a:fillRect/>
          </a:stretch>
        </p:blipFill>
        <p:spPr>
          <a:xfrm>
            <a:off x="228600" y="266700"/>
            <a:ext cx="17907000" cy="9829800"/>
          </a:xfrm>
          <a:prstGeom prst="rect">
            <a:avLst/>
          </a:prstGeom>
        </p:spPr>
      </p:pic>
    </p:spTree>
    <p:extLst>
      <p:ext uri="{BB962C8B-B14F-4D97-AF65-F5344CB8AC3E}">
        <p14:creationId xmlns:p14="http://schemas.microsoft.com/office/powerpoint/2010/main" val="3103938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AA16EB-04A5-B44C-C8F8-AD071AA72BEE}"/>
              </a:ext>
            </a:extLst>
          </p:cNvPr>
          <p:cNvSpPr txBox="1"/>
          <p:nvPr/>
        </p:nvSpPr>
        <p:spPr>
          <a:xfrm>
            <a:off x="3276600" y="3848100"/>
            <a:ext cx="10820400" cy="1569660"/>
          </a:xfrm>
          <a:prstGeom prst="rect">
            <a:avLst/>
          </a:prstGeom>
          <a:noFill/>
        </p:spPr>
        <p:txBody>
          <a:bodyPr wrap="square">
            <a:spAutoFit/>
          </a:bodyPr>
          <a:lstStyle/>
          <a:p>
            <a:pPr algn="ctr">
              <a:buNone/>
            </a:pPr>
            <a:r>
              <a:rPr lang="en-IN" sz="9600" b="1" dirty="0"/>
              <a:t>THANK YOU</a:t>
            </a:r>
          </a:p>
        </p:txBody>
      </p:sp>
    </p:spTree>
    <p:extLst>
      <p:ext uri="{BB962C8B-B14F-4D97-AF65-F5344CB8AC3E}">
        <p14:creationId xmlns:p14="http://schemas.microsoft.com/office/powerpoint/2010/main" val="1502456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675</TotalTime>
  <Words>3609</Words>
  <Application>Microsoft Office PowerPoint</Application>
  <PresentationFormat>Custom</PresentationFormat>
  <Paragraphs>492</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TT Interphases</vt:lpstr>
      <vt:lpstr>Courier New</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umesh chandra</dc:creator>
  <cp:lastModifiedBy>umesh chandra</cp:lastModifiedBy>
  <cp:revision>6</cp:revision>
  <dcterms:created xsi:type="dcterms:W3CDTF">2006-08-16T00:00:00Z</dcterms:created>
  <dcterms:modified xsi:type="dcterms:W3CDTF">2025-10-07T07:35:03Z</dcterms:modified>
  <dc:identifier>DAG08HTWp-8</dc:identifier>
</cp:coreProperties>
</file>